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Seconds until each agent finished</a:t>
            </a:r>
          </a:p>
        </c:rich>
      </c:tx>
      <c:layout/>
      <c:overlay val="0"/>
    </c:title>
    <c:autoTitleDeleted val="0"/>
    <c:plotArea>
      <c:layout/>
      <c:barChart>
        <c:barDir val="bar"/>
        <c:grouping val="clustered"/>
        <c:varyColors val="0"/>
        <c:ser>
          <c:idx val="0"/>
          <c:order val="0"/>
          <c:tx>
            <c:strRef>
              <c:f>Sheet1!$B$1</c:f>
              <c:strCache>
                <c:ptCount val="1"/>
                <c:pt idx="0">
                  <c:v>Seconds</c:v>
                </c:pt>
              </c:strCache>
            </c:strRef>
          </c:tx>
          <c:spPr>
            <a:solidFill>
              <a:srgbClr val="8C8C8C"/>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8C8C8C"/>
              </a:solidFill>
              <a:effectLst/>
            </c:spPr>
          </c:dPt>
          <c:dPt>
            <c:idx val="1"/>
            <c:invertIfNegative val="0"/>
            <c:bubble3D val="0"/>
            <c:spPr>
              <a:solidFill>
                <a:srgbClr val="8C8C8C"/>
              </a:solidFill>
              <a:effectLst/>
            </c:spPr>
          </c:dPt>
          <c:dPt>
            <c:idx val="2"/>
            <c:invertIfNegative val="0"/>
            <c:bubble3D val="0"/>
            <c:spPr>
              <a:solidFill>
                <a:srgbClr val="8C8C8C"/>
              </a:solidFill>
              <a:effectLst/>
            </c:spPr>
          </c:dPt>
          <c:dPt>
            <c:idx val="3"/>
            <c:invertIfNegative val="0"/>
            <c:bubble3D val="0"/>
            <c:spPr>
              <a:solidFill>
                <a:srgbClr val="000000"/>
              </a:solidFill>
              <a:effectLst/>
            </c:spPr>
          </c:dPt>
          <c:cat>
            <c:multiLvlStrRef>
              <c:f>Sheet1!$A$2:$A$5</c:f>
              <c:multiLvlStrCache>
                <c:ptCount val="4"/>
                <c:lvl>
                  <c:pt idx="0">
                    <c:v>Research agent</c:v>
                  </c:pt>
                  <c:pt idx="1">
                    <c:v>Background agent</c:v>
                  </c:pt>
                  <c:pt idx="2">
                    <c:v>Coding agent</c:v>
                  </c:pt>
                  <c:pt idx="3">
                    <c:v>Assistant agent</c:v>
                  </c:pt>
                </c:lvl>
              </c:multiLvlStrCache>
            </c:multiLvlStrRef>
          </c:cat>
          <c:val>
            <c:numRef>
              <c:f>Sheet1!$B$2:$B$5</c:f>
              <c:numCache>
                <c:formatCode>General</c:formatCode>
                <c:ptCount val="4"/>
                <c:pt idx="0">
                  <c:v>51.5</c:v>
                </c:pt>
                <c:pt idx="1">
                  <c:v>103.9</c:v>
                </c:pt>
                <c:pt idx="2">
                  <c:v>205.2</c:v>
                </c:pt>
                <c:pt idx="3">
                  <c:v>215.5</c:v>
                </c:pt>
              </c:numCache>
            </c:numRef>
          </c:val>
        </c:ser>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62626"/>
                </a:solidFill>
                <a:latin typeface="Arial"/>
              </a:defRPr>
            </a:pPr>
            <a:endParaRPr lang="en-US"/>
          </a:p>
        </c:txPr>
        <c:crossAx val="2094734552"/>
        <c:crosses val="autoZero"/>
        <c:auto val="1"/>
        <c:lblAlgn val="ctr"/>
        <c:noMultiLvlLbl val="1"/>
      </c:catAx>
      <c:valAx>
        <c:axId val="2094734552"/>
        <c:scaling>
          <c:orientation val="minMax"/>
          <c:max val="2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Median time for all 4 agents to finish (seconds)</a:t>
            </a:r>
          </a:p>
        </c:rich>
      </c:tx>
      <c:layout/>
      <c:overlay val="0"/>
    </c:title>
    <c:autoTitleDeleted val="0"/>
    <c:plotArea>
      <c:layout/>
      <c:barChart>
        <c:barDir val="bar"/>
        <c:grouping val="clustered"/>
        <c:varyColors val="0"/>
        <c:ser>
          <c:idx val="0"/>
          <c:order val="0"/>
          <c:tx>
            <c:strRef>
              <c:f>Sheet1!$B$1</c:f>
              <c:strCache>
                <c:ptCount val="1"/>
                <c:pt idx="0">
                  <c:v>Median seconds</c:v>
                </c:pt>
              </c:strCache>
            </c:strRef>
          </c:tx>
          <c:spPr>
            <a:solidFill>
              <a:srgbClr val="8C8C8C"/>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8C8C8C"/>
              </a:solidFill>
              <a:effectLst/>
            </c:spPr>
          </c:dPt>
          <c:dPt>
            <c:idx val="1"/>
            <c:invertIfNegative val="0"/>
            <c:bubble3D val="0"/>
            <c:spPr>
              <a:solidFill>
                <a:srgbClr val="8C8C8C"/>
              </a:solidFill>
              <a:effectLst/>
            </c:spPr>
          </c:dPt>
          <c:dPt>
            <c:idx val="2"/>
            <c:invertIfNegative val="0"/>
            <c:bubble3D val="0"/>
            <c:spPr>
              <a:solidFill>
                <a:srgbClr val="8C8C8C"/>
              </a:solidFill>
              <a:effectLst/>
            </c:spPr>
          </c:dPt>
          <c:dPt>
            <c:idx val="3"/>
            <c:invertIfNegative val="0"/>
            <c:bubble3D val="0"/>
            <c:spPr>
              <a:solidFill>
                <a:srgbClr val="000000"/>
              </a:solidFill>
              <a:effectLst/>
            </c:spPr>
          </c:dPt>
          <c:cat>
            <c:multiLvlStrRef>
              <c:f>Sheet1!$A$2:$A$5</c:f>
              <c:multiLvlStrCache>
                <c:ptCount val="4"/>
                <c:lvl>
                  <c:pt idx="0">
                    <c:v>No coordination</c:v>
                  </c:pt>
                  <c:pt idx="1">
                    <c:v>Priority only</c:v>
                  </c:pt>
                  <c:pt idx="2">
                    <c:v>Sticky model only</c:v>
                  </c:pt>
                  <c:pt idx="3">
                    <c:v>Sticky + priority</c:v>
                  </c:pt>
                </c:lvl>
              </c:multiLvlStrCache>
            </c:multiLvlStrRef>
          </c:cat>
          <c:val>
            <c:numRef>
              <c:f>Sheet1!$B$2:$B$5</c:f>
              <c:numCache>
                <c:formatCode>General</c:formatCode>
                <c:ptCount val="4"/>
                <c:pt idx="0">
                  <c:v>210.6</c:v>
                </c:pt>
                <c:pt idx="1">
                  <c:v>195.2</c:v>
                </c:pt>
                <c:pt idx="2">
                  <c:v>137.7</c:v>
                </c:pt>
                <c:pt idx="3">
                  <c:v>117.6</c:v>
                </c:pt>
              </c:numCache>
            </c:numRef>
          </c:val>
        </c:ser>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62626"/>
                </a:solidFill>
                <a:latin typeface="Arial"/>
              </a:defRPr>
            </a:pPr>
            <a:endParaRPr lang="en-US"/>
          </a:p>
        </c:txPr>
        <c:crossAx val="2094734552"/>
        <c:crosses val="autoZero"/>
        <c:auto val="1"/>
        <c:lblAlgn val="ctr"/>
        <c:noMultiLvlLbl val="1"/>
      </c:catAx>
      <c:valAx>
        <c:axId val="2094734552"/>
        <c:scaling>
          <c:orientation val="minMax"/>
          <c:max val="2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Ramer is a small tool that sits between your local AI agent and Ollama and makes your GPU work harder. This deck tells the story of how it was built using the five steps of design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Ramer is a proxy. You point your coding or research agent at Ramer instead of Ollama. Nothing else changes for the user. Underneath, Ramer decides how a model is split between GPU and CPU and schedules several agents on one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thinking is a human-centered way to solve problems. You start with people, not technology. Each step has a clear question, and the whole thing is a loop: test results send you back to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Empathize is about understanding users. We did not start from a clever technical idea; we started from what real people were complaining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comments from forums and Reddit. Models run out of memory, agent setups feel slow even when Ollama alone seems fine, and most people outside the enthusiast bubble do not even know what VRAM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persona already runs local AI on a mid-range NVIDIA card and is bothered that the card is not used well. Mac users were ruled out early because Apple's shared memory has no separate VRAM to optimize.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compresses research into a sharp problem statement, usually written as a How Might We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statement has the user's constraint built in: they should not have to change how they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 one: Ollama's default split between GPU and CPU is deliberately cautious, so a 14B model ran at only 12.4 tokens per second. Pain two: with four agents at once, Ollama swaps models in and out; the last agent waited 215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Ideate is about quantity first, then selection. We explored several big ideas and dropped most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ideas were dropped for honest reasons: too expensive, did not hold up in measurement, out of reach technically, or already solved. The two survivors directly attack the two pains from Define.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idea had to pass all three filters. Only the layer placement and scheduler ideas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Prototype means making the idea tangible. Ramer was built as a real working tool so it could be tested with real third-party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ways to use Ramer. The proxy is the product; the CLI and GUI are conveniences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Context-aware: the KV cache competes with model weights for VRAM, so a placement is only valid at the context length it was measured at. Headroom-aware: among ties, choose the smallest footprint. Self-healing: a pre-flight check falls back to Ollama's default if speed regresses. Scheduled: one scheduler keeps the busy model loaded and orders agents by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means checking the prototype against real use. Every claim was measured on one real machine, with outcomes checked independently rather than by the model's own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of the tests. Same machine, same model, same task, and a checkable result. We also reported the negative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with Ollama's default on the same machine. The coding task ran through the third-party agent pi, and the result was verified with git diff and pytest, and was correct in both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agents launched at once, five trials per setup. The ablation showed that sticky residency does the heavy lifting; priority helps the urgent agents. 210.6 down to 117.6 seconds is about 44 percent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thesis: Ramer's benefit is proportional to how much of the work is local decoding. It does not make a weak model smart, and it cannot help when the agent is waiting on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thinking never really ends. The technical validation is closed; the next input the project needs is real customer interviews, which restarts the cycle at Empathize.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Ramer helps when local decoding is the bottleneck, and we say clearly when it does not.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3" name="Text 0"/>
          <p:cNvSpPr txBox="1"/>
          <p:nvPr/>
        </p:nvSpPr>
        <p:spPr>
          <a:xfrm>
            <a:off x="548640" y="1005840"/>
            <a:ext cx="8046720" cy="1280160"/>
          </a:xfrm>
          <a:prstGeom prst="rect">
            <a:avLst/>
          </a:prstGeom>
          <a:noFill/>
          <a:ln/>
        </p:spPr>
        <p:txBody>
          <a:bodyPr wrap="square" lIns="0" tIns="0" rIns="0" bIns="0" rtlCol="0" anchor="b"/>
          <a:lstStyle/>
          <a:p>
            <a:pPr indent="0" marL="0">
              <a:buNone/>
            </a:pPr>
            <a:r>
              <a:rPr lang="en-US" sz="7200" b="1" dirty="0">
                <a:solidFill>
                  <a:srgbClr val="FFFFFF"/>
                </a:solidFill>
                <a:latin typeface="Arial" pitchFamily="34" charset="0"/>
                <a:ea typeface="Arial" pitchFamily="34" charset="-122"/>
                <a:cs typeface="Arial" pitchFamily="34" charset="-120"/>
              </a:rPr>
              <a:t>RAMER</a:t>
            </a:r>
            <a:endParaRPr lang="en-US" sz="7200" dirty="0"/>
          </a:p>
        </p:txBody>
      </p:sp>
      <p:sp>
        <p:nvSpPr>
          <p:cNvPr id="4" name="Text 1"/>
          <p:cNvSpPr txBox="1"/>
          <p:nvPr/>
        </p:nvSpPr>
        <p:spPr>
          <a:xfrm>
            <a:off x="548640" y="2377440"/>
            <a:ext cx="8046720" cy="548640"/>
          </a:xfrm>
          <a:prstGeom prst="rect">
            <a:avLst/>
          </a:prstGeom>
          <a:noFill/>
          <a:ln/>
        </p:spPr>
        <p:txBody>
          <a:bodyPr wrap="square" lIns="0" tIns="0" rIns="0" bIns="0" rtlCol="0" anchor="ctr"/>
          <a:lstStyle/>
          <a:p>
            <a:pPr indent="0" marL="0">
              <a:buNone/>
            </a:pPr>
            <a:r>
              <a:rPr lang="en-US" sz="2400" dirty="0">
                <a:solidFill>
                  <a:srgbClr val="FFFFFF"/>
                </a:solidFill>
                <a:latin typeface="Arial" pitchFamily="34" charset="0"/>
                <a:ea typeface="Arial" pitchFamily="34" charset="-122"/>
                <a:cs typeface="Arial" pitchFamily="34" charset="-120"/>
              </a:rPr>
              <a:t>Getting more out of the GPU you already own</a:t>
            </a:r>
            <a:endParaRPr lang="en-US" sz="2400" dirty="0"/>
          </a:p>
        </p:txBody>
      </p:sp>
      <p:sp>
        <p:nvSpPr>
          <p:cNvPr id="5" name="Text 2"/>
          <p:cNvSpPr txBox="1"/>
          <p:nvPr/>
        </p:nvSpPr>
        <p:spPr>
          <a:xfrm>
            <a:off x="548640" y="3017520"/>
            <a:ext cx="8046720" cy="365760"/>
          </a:xfrm>
          <a:prstGeom prst="rect">
            <a:avLst/>
          </a:prstGeom>
          <a:noFill/>
          <a:ln/>
        </p:spPr>
        <p:txBody>
          <a:bodyPr wrap="square" lIns="0" tIns="0" rIns="0" bIns="0" rtlCol="0" anchor="ctr"/>
          <a:lstStyle/>
          <a:p>
            <a:pPr indent="0" marL="0">
              <a:buNone/>
            </a:pPr>
            <a:r>
              <a:rPr lang="en-US" sz="1600" i="1" dirty="0">
                <a:solidFill>
                  <a:srgbClr val="BFBFBF"/>
                </a:solidFill>
                <a:latin typeface="Arial" pitchFamily="34" charset="0"/>
                <a:ea typeface="Arial" pitchFamily="34" charset="-122"/>
                <a:cs typeface="Arial" pitchFamily="34" charset="-120"/>
              </a:rPr>
              <a:t>A project explained through Design Thinking</a:t>
            </a:r>
            <a:endParaRPr lang="en-US" sz="1600" dirty="0"/>
          </a:p>
        </p:txBody>
      </p:sp>
      <p:sp>
        <p:nvSpPr>
          <p:cNvPr id="6" name="Shape 3"/>
          <p:cNvSpPr/>
          <p:nvPr/>
        </p:nvSpPr>
        <p:spPr>
          <a:xfrm>
            <a:off x="548640" y="3840480"/>
            <a:ext cx="594360" cy="59436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703174" y="3995014"/>
            <a:ext cx="285293" cy="285293"/>
          </a:xfrm>
          <a:prstGeom prst="rect">
            <a:avLst/>
          </a:prstGeom>
        </p:spPr>
      </p:pic>
      <p:sp>
        <p:nvSpPr>
          <p:cNvPr id="8" name="Shape 4"/>
          <p:cNvSpPr/>
          <p:nvPr/>
        </p:nvSpPr>
        <p:spPr>
          <a:xfrm>
            <a:off x="1417320" y="3840480"/>
            <a:ext cx="594360" cy="59436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1571854" y="3995014"/>
            <a:ext cx="285293" cy="285293"/>
          </a:xfrm>
          <a:prstGeom prst="rect">
            <a:avLst/>
          </a:prstGeom>
        </p:spPr>
      </p:pic>
      <p:sp>
        <p:nvSpPr>
          <p:cNvPr id="10" name="Shape 5"/>
          <p:cNvSpPr/>
          <p:nvPr/>
        </p:nvSpPr>
        <p:spPr>
          <a:xfrm>
            <a:off x="2286000" y="3840480"/>
            <a:ext cx="594360" cy="594360"/>
          </a:xfrm>
          <a:prstGeom prst="ellipse">
            <a:avLst/>
          </a:prstGeom>
          <a:solidFill>
            <a:srgbClr val="FFFFFF"/>
          </a:solidFill>
          <a:ln w="12700">
            <a:solidFill>
              <a:srgbClr val="FFFFFF"/>
            </a:solidFill>
            <a:prstDash val="solid"/>
          </a:ln>
        </p:spPr>
      </p:sp>
      <p:pic>
        <p:nvPicPr>
          <p:cNvPr id="11" name="Image 2" descr="preencoded.png">    </p:cNvPr>
          <p:cNvPicPr>
            <a:picLocks noChangeAspect="1"/>
          </p:cNvPicPr>
          <p:nvPr/>
        </p:nvPicPr>
        <p:blipFill>
          <a:blip r:embed="rId3"/>
          <a:stretch>
            <a:fillRect/>
          </a:stretch>
        </p:blipFill>
        <p:spPr>
          <a:xfrm>
            <a:off x="2440534" y="3995014"/>
            <a:ext cx="285293" cy="285293"/>
          </a:xfrm>
          <a:prstGeom prst="rect">
            <a:avLst/>
          </a:prstGeom>
        </p:spPr>
      </p:pic>
      <p:sp>
        <p:nvSpPr>
          <p:cNvPr id="12" name="Shape 6"/>
          <p:cNvSpPr/>
          <p:nvPr/>
        </p:nvSpPr>
        <p:spPr>
          <a:xfrm>
            <a:off x="3154680" y="3840480"/>
            <a:ext cx="594360" cy="594360"/>
          </a:xfrm>
          <a:prstGeom prst="ellipse">
            <a:avLst/>
          </a:prstGeom>
          <a:solidFill>
            <a:srgbClr val="FFFFFF"/>
          </a:solidFill>
          <a:ln w="12700">
            <a:solidFill>
              <a:srgbClr val="FFFFFF"/>
            </a:solidFill>
            <a:prstDash val="solid"/>
          </a:ln>
        </p:spPr>
      </p:sp>
      <p:pic>
        <p:nvPicPr>
          <p:cNvPr id="13" name="Image 3" descr="preencoded.png">    </p:cNvPr>
          <p:cNvPicPr>
            <a:picLocks noChangeAspect="1"/>
          </p:cNvPicPr>
          <p:nvPr/>
        </p:nvPicPr>
        <p:blipFill>
          <a:blip r:embed="rId4"/>
          <a:stretch>
            <a:fillRect/>
          </a:stretch>
        </p:blipFill>
        <p:spPr>
          <a:xfrm>
            <a:off x="3309214" y="3995014"/>
            <a:ext cx="285293" cy="285293"/>
          </a:xfrm>
          <a:prstGeom prst="rect">
            <a:avLst/>
          </a:prstGeom>
        </p:spPr>
      </p:pic>
      <p:sp>
        <p:nvSpPr>
          <p:cNvPr id="14" name="Shape 7"/>
          <p:cNvSpPr/>
          <p:nvPr/>
        </p:nvSpPr>
        <p:spPr>
          <a:xfrm>
            <a:off x="4023360" y="3840480"/>
            <a:ext cx="594360" cy="594360"/>
          </a:xfrm>
          <a:prstGeom prst="ellipse">
            <a:avLst/>
          </a:prstGeom>
          <a:solidFill>
            <a:srgbClr val="FFFFFF"/>
          </a:solidFill>
          <a:ln w="12700">
            <a:solidFill>
              <a:srgbClr val="FFFFFF"/>
            </a:solidFill>
            <a:prstDash val="solid"/>
          </a:ln>
        </p:spPr>
      </p:sp>
      <p:pic>
        <p:nvPicPr>
          <p:cNvPr id="15" name="Image 4" descr="preencoded.png">    </p:cNvPr>
          <p:cNvPicPr>
            <a:picLocks noChangeAspect="1"/>
          </p:cNvPicPr>
          <p:nvPr/>
        </p:nvPicPr>
        <p:blipFill>
          <a:blip r:embed="rId5"/>
          <a:stretch>
            <a:fillRect/>
          </a:stretch>
        </p:blipFill>
        <p:spPr>
          <a:xfrm>
            <a:off x="4177894" y="3995014"/>
            <a:ext cx="285293" cy="28529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The project in one minute</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OVERVIEW</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2</a:t>
            </a:r>
            <a:endParaRPr lang="en-US" sz="1000" dirty="0"/>
          </a:p>
        </p:txBody>
      </p:sp>
      <p:sp>
        <p:nvSpPr>
          <p:cNvPr id="7" name="Shape 4"/>
          <p:cNvSpPr/>
          <p:nvPr/>
        </p:nvSpPr>
        <p:spPr>
          <a:xfrm>
            <a:off x="822960" y="1188720"/>
            <a:ext cx="914400" cy="914400"/>
          </a:xfrm>
          <a:prstGeom prst="ellipse">
            <a:avLst/>
          </a:prstGeom>
          <a:solidFill>
            <a:srgbClr val="FFFFFF"/>
          </a:solidFill>
          <a:ln w="19050">
            <a:solidFill>
              <a:srgbClr val="000000"/>
            </a:solidFill>
            <a:prstDash val="solid"/>
          </a:ln>
        </p:spPr>
      </p:sp>
      <p:pic>
        <p:nvPicPr>
          <p:cNvPr id="8" name="Image 0" descr="preencoded.png">    </p:cNvPr>
          <p:cNvPicPr>
            <a:picLocks noChangeAspect="1"/>
          </p:cNvPicPr>
          <p:nvPr/>
        </p:nvPicPr>
        <p:blipFill>
          <a:blip r:embed="rId1"/>
          <a:stretch>
            <a:fillRect/>
          </a:stretch>
        </p:blipFill>
        <p:spPr>
          <a:xfrm>
            <a:off x="1060704" y="1426464"/>
            <a:ext cx="438912" cy="438912"/>
          </a:xfrm>
          <a:prstGeom prst="rect">
            <a:avLst/>
          </a:prstGeom>
        </p:spPr>
      </p:pic>
      <p:sp>
        <p:nvSpPr>
          <p:cNvPr id="9" name="Text 5"/>
          <p:cNvSpPr txBox="1"/>
          <p:nvPr/>
        </p:nvSpPr>
        <p:spPr>
          <a:xfrm>
            <a:off x="411480" y="2194560"/>
            <a:ext cx="1737360" cy="320040"/>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Your agent</a:t>
            </a:r>
            <a:endParaRPr lang="en-US" sz="1600" dirty="0"/>
          </a:p>
        </p:txBody>
      </p:sp>
      <p:sp>
        <p:nvSpPr>
          <p:cNvPr id="10" name="Text 6"/>
          <p:cNvSpPr txBox="1"/>
          <p:nvPr/>
        </p:nvSpPr>
        <p:spPr>
          <a:xfrm>
            <a:off x="411480" y="2514600"/>
            <a:ext cx="1737360" cy="274320"/>
          </a:xfrm>
          <a:prstGeom prst="rect">
            <a:avLst/>
          </a:prstGeom>
          <a:noFill/>
          <a:ln/>
        </p:spPr>
        <p:txBody>
          <a:bodyPr wrap="square" lIns="0" tIns="0" rIns="0" bIns="0" rtlCol="0" anchor="ctr"/>
          <a:lstStyle/>
          <a:p>
            <a:pPr algn="ctr" indent="0" marL="0">
              <a:buNone/>
            </a:pPr>
            <a:r>
              <a:rPr lang="en-US" sz="1100" dirty="0">
                <a:solidFill>
                  <a:srgbClr val="595959"/>
                </a:solidFill>
                <a:latin typeface="Arial" pitchFamily="34" charset="0"/>
                <a:ea typeface="Arial" pitchFamily="34" charset="-122"/>
                <a:cs typeface="Arial" pitchFamily="34" charset="-120"/>
              </a:rPr>
              <a:t>Claude Code, aider, pi</a:t>
            </a:r>
            <a:endParaRPr lang="en-US" sz="1100" dirty="0"/>
          </a:p>
        </p:txBody>
      </p:sp>
      <p:pic>
        <p:nvPicPr>
          <p:cNvPr id="11" name="Image 1" descr="preencoded.png">    </p:cNvPr>
          <p:cNvPicPr>
            <a:picLocks noChangeAspect="1"/>
          </p:cNvPicPr>
          <p:nvPr/>
        </p:nvPicPr>
        <p:blipFill>
          <a:blip r:embed="rId2"/>
          <a:stretch>
            <a:fillRect/>
          </a:stretch>
        </p:blipFill>
        <p:spPr>
          <a:xfrm>
            <a:off x="2103120" y="1499616"/>
            <a:ext cx="274320" cy="274320"/>
          </a:xfrm>
          <a:prstGeom prst="rect">
            <a:avLst/>
          </a:prstGeom>
        </p:spPr>
      </p:pic>
      <p:sp>
        <p:nvSpPr>
          <p:cNvPr id="12" name="Shape 7"/>
          <p:cNvSpPr/>
          <p:nvPr/>
        </p:nvSpPr>
        <p:spPr>
          <a:xfrm>
            <a:off x="2971800" y="1188720"/>
            <a:ext cx="914400" cy="914400"/>
          </a:xfrm>
          <a:prstGeom prst="ellipse">
            <a:avLst/>
          </a:prstGeom>
          <a:solidFill>
            <a:srgbClr val="000000"/>
          </a:solidFill>
          <a:ln w="19050">
            <a:solidFill>
              <a:srgbClr val="000000"/>
            </a:solidFill>
            <a:prstDash val="solid"/>
          </a:ln>
        </p:spPr>
      </p:sp>
      <p:pic>
        <p:nvPicPr>
          <p:cNvPr id="13" name="Image 2" descr="preencoded.png">    </p:cNvPr>
          <p:cNvPicPr>
            <a:picLocks noChangeAspect="1"/>
          </p:cNvPicPr>
          <p:nvPr/>
        </p:nvPicPr>
        <p:blipFill>
          <a:blip r:embed="rId3"/>
          <a:stretch>
            <a:fillRect/>
          </a:stretch>
        </p:blipFill>
        <p:spPr>
          <a:xfrm>
            <a:off x="3209544" y="1426464"/>
            <a:ext cx="438912" cy="438912"/>
          </a:xfrm>
          <a:prstGeom prst="rect">
            <a:avLst/>
          </a:prstGeom>
        </p:spPr>
      </p:pic>
      <p:sp>
        <p:nvSpPr>
          <p:cNvPr id="14" name="Text 8"/>
          <p:cNvSpPr txBox="1"/>
          <p:nvPr/>
        </p:nvSpPr>
        <p:spPr>
          <a:xfrm>
            <a:off x="2560320" y="2194560"/>
            <a:ext cx="1737360" cy="320040"/>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Ramer</a:t>
            </a:r>
            <a:endParaRPr lang="en-US" sz="1600" dirty="0"/>
          </a:p>
        </p:txBody>
      </p:sp>
      <p:sp>
        <p:nvSpPr>
          <p:cNvPr id="15" name="Text 9"/>
          <p:cNvSpPr txBox="1"/>
          <p:nvPr/>
        </p:nvSpPr>
        <p:spPr>
          <a:xfrm>
            <a:off x="2560320" y="2514600"/>
            <a:ext cx="1737360" cy="274320"/>
          </a:xfrm>
          <a:prstGeom prst="rect">
            <a:avLst/>
          </a:prstGeom>
          <a:noFill/>
          <a:ln/>
        </p:spPr>
        <p:txBody>
          <a:bodyPr wrap="square" lIns="0" tIns="0" rIns="0" bIns="0" rtlCol="0" anchor="ctr"/>
          <a:lstStyle/>
          <a:p>
            <a:pPr algn="ctr" indent="0" marL="0">
              <a:buNone/>
            </a:pPr>
            <a:r>
              <a:rPr lang="en-US" sz="1100" dirty="0">
                <a:solidFill>
                  <a:srgbClr val="595959"/>
                </a:solidFill>
                <a:latin typeface="Arial" pitchFamily="34" charset="0"/>
                <a:ea typeface="Arial" pitchFamily="34" charset="-122"/>
                <a:cs typeface="Arial" pitchFamily="34" charset="-120"/>
              </a:rPr>
              <a:t>the new middle layer</a:t>
            </a:r>
            <a:endParaRPr lang="en-US" sz="1100" dirty="0"/>
          </a:p>
        </p:txBody>
      </p:sp>
      <p:pic>
        <p:nvPicPr>
          <p:cNvPr id="16" name="Image 3" descr="preencoded.png">    </p:cNvPr>
          <p:cNvPicPr>
            <a:picLocks noChangeAspect="1"/>
          </p:cNvPicPr>
          <p:nvPr/>
        </p:nvPicPr>
        <p:blipFill>
          <a:blip r:embed="rId4"/>
          <a:stretch>
            <a:fillRect/>
          </a:stretch>
        </p:blipFill>
        <p:spPr>
          <a:xfrm>
            <a:off x="4251960" y="1499616"/>
            <a:ext cx="274320" cy="274320"/>
          </a:xfrm>
          <a:prstGeom prst="rect">
            <a:avLst/>
          </a:prstGeom>
        </p:spPr>
      </p:pic>
      <p:sp>
        <p:nvSpPr>
          <p:cNvPr id="17" name="Shape 10"/>
          <p:cNvSpPr/>
          <p:nvPr/>
        </p:nvSpPr>
        <p:spPr>
          <a:xfrm>
            <a:off x="5120640" y="1188720"/>
            <a:ext cx="914400" cy="914400"/>
          </a:xfrm>
          <a:prstGeom prst="ellipse">
            <a:avLst/>
          </a:prstGeom>
          <a:solidFill>
            <a:srgbClr val="FFFFFF"/>
          </a:solidFill>
          <a:ln w="19050">
            <a:solidFill>
              <a:srgbClr val="000000"/>
            </a:solidFill>
            <a:prstDash val="solid"/>
          </a:ln>
        </p:spPr>
      </p:sp>
      <p:pic>
        <p:nvPicPr>
          <p:cNvPr id="18" name="Image 4" descr="preencoded.png">    </p:cNvPr>
          <p:cNvPicPr>
            <a:picLocks noChangeAspect="1"/>
          </p:cNvPicPr>
          <p:nvPr/>
        </p:nvPicPr>
        <p:blipFill>
          <a:blip r:embed="rId5"/>
          <a:stretch>
            <a:fillRect/>
          </a:stretch>
        </p:blipFill>
        <p:spPr>
          <a:xfrm>
            <a:off x="5358384" y="1426464"/>
            <a:ext cx="438912" cy="438912"/>
          </a:xfrm>
          <a:prstGeom prst="rect">
            <a:avLst/>
          </a:prstGeom>
        </p:spPr>
      </p:pic>
      <p:sp>
        <p:nvSpPr>
          <p:cNvPr id="19" name="Text 11"/>
          <p:cNvSpPr txBox="1"/>
          <p:nvPr/>
        </p:nvSpPr>
        <p:spPr>
          <a:xfrm>
            <a:off x="4709160" y="2194560"/>
            <a:ext cx="1737360" cy="320040"/>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Ollama</a:t>
            </a:r>
            <a:endParaRPr lang="en-US" sz="1600" dirty="0"/>
          </a:p>
        </p:txBody>
      </p:sp>
      <p:sp>
        <p:nvSpPr>
          <p:cNvPr id="20" name="Text 12"/>
          <p:cNvSpPr txBox="1"/>
          <p:nvPr/>
        </p:nvSpPr>
        <p:spPr>
          <a:xfrm>
            <a:off x="4709160" y="2514600"/>
            <a:ext cx="1737360" cy="274320"/>
          </a:xfrm>
          <a:prstGeom prst="rect">
            <a:avLst/>
          </a:prstGeom>
          <a:noFill/>
          <a:ln/>
        </p:spPr>
        <p:txBody>
          <a:bodyPr wrap="square" lIns="0" tIns="0" rIns="0" bIns="0" rtlCol="0" anchor="ctr"/>
          <a:lstStyle/>
          <a:p>
            <a:pPr algn="ctr" indent="0" marL="0">
              <a:buNone/>
            </a:pPr>
            <a:r>
              <a:rPr lang="en-US" sz="1100" dirty="0">
                <a:solidFill>
                  <a:srgbClr val="595959"/>
                </a:solidFill>
                <a:latin typeface="Arial" pitchFamily="34" charset="0"/>
                <a:ea typeface="Arial" pitchFamily="34" charset="-122"/>
                <a:cs typeface="Arial" pitchFamily="34" charset="-120"/>
              </a:rPr>
              <a:t>runs the model</a:t>
            </a:r>
            <a:endParaRPr lang="en-US" sz="1100" dirty="0"/>
          </a:p>
        </p:txBody>
      </p:sp>
      <p:pic>
        <p:nvPicPr>
          <p:cNvPr id="21" name="Image 5" descr="preencoded.png">    </p:cNvPr>
          <p:cNvPicPr>
            <a:picLocks noChangeAspect="1"/>
          </p:cNvPicPr>
          <p:nvPr/>
        </p:nvPicPr>
        <p:blipFill>
          <a:blip r:embed="rId6"/>
          <a:stretch>
            <a:fillRect/>
          </a:stretch>
        </p:blipFill>
        <p:spPr>
          <a:xfrm>
            <a:off x="6400800" y="1499616"/>
            <a:ext cx="274320" cy="274320"/>
          </a:xfrm>
          <a:prstGeom prst="rect">
            <a:avLst/>
          </a:prstGeom>
        </p:spPr>
      </p:pic>
      <p:sp>
        <p:nvSpPr>
          <p:cNvPr id="22" name="Shape 13"/>
          <p:cNvSpPr/>
          <p:nvPr/>
        </p:nvSpPr>
        <p:spPr>
          <a:xfrm>
            <a:off x="7269480" y="1188720"/>
            <a:ext cx="914400" cy="914400"/>
          </a:xfrm>
          <a:prstGeom prst="ellipse">
            <a:avLst/>
          </a:prstGeom>
          <a:solidFill>
            <a:srgbClr val="FFFFFF"/>
          </a:solidFill>
          <a:ln w="19050">
            <a:solidFill>
              <a:srgbClr val="000000"/>
            </a:solidFill>
            <a:prstDash val="solid"/>
          </a:ln>
        </p:spPr>
      </p:sp>
      <p:pic>
        <p:nvPicPr>
          <p:cNvPr id="23" name="Image 6" descr="preencoded.png">    </p:cNvPr>
          <p:cNvPicPr>
            <a:picLocks noChangeAspect="1"/>
          </p:cNvPicPr>
          <p:nvPr/>
        </p:nvPicPr>
        <p:blipFill>
          <a:blip r:embed="rId7"/>
          <a:stretch>
            <a:fillRect/>
          </a:stretch>
        </p:blipFill>
        <p:spPr>
          <a:xfrm>
            <a:off x="7507224" y="1426464"/>
            <a:ext cx="438912" cy="438912"/>
          </a:xfrm>
          <a:prstGeom prst="rect">
            <a:avLst/>
          </a:prstGeom>
        </p:spPr>
      </p:pic>
      <p:sp>
        <p:nvSpPr>
          <p:cNvPr id="24" name="Text 14"/>
          <p:cNvSpPr txBox="1"/>
          <p:nvPr/>
        </p:nvSpPr>
        <p:spPr>
          <a:xfrm>
            <a:off x="6858000" y="2194560"/>
            <a:ext cx="1737360" cy="320040"/>
          </a:xfrm>
          <a:prstGeom prst="rect">
            <a:avLst/>
          </a:prstGeom>
          <a:noFill/>
          <a:ln/>
        </p:spPr>
        <p:txBody>
          <a:bodyPr wrap="square" lIns="0" tIns="0" rIns="0" bIns="0" rtlCol="0" anchor="ctr"/>
          <a:lstStyle/>
          <a:p>
            <a:pPr algn="ctr" indent="0" marL="0">
              <a:buNone/>
            </a:pPr>
            <a:r>
              <a:rPr lang="en-US" sz="1600" b="1" dirty="0">
                <a:solidFill>
                  <a:srgbClr val="000000"/>
                </a:solidFill>
                <a:latin typeface="Arial" pitchFamily="34" charset="0"/>
                <a:ea typeface="Arial" pitchFamily="34" charset="-122"/>
                <a:cs typeface="Arial" pitchFamily="34" charset="-120"/>
              </a:rPr>
              <a:t>Your GPU</a:t>
            </a:r>
            <a:endParaRPr lang="en-US" sz="1600" dirty="0"/>
          </a:p>
        </p:txBody>
      </p:sp>
      <p:sp>
        <p:nvSpPr>
          <p:cNvPr id="25" name="Text 15"/>
          <p:cNvSpPr txBox="1"/>
          <p:nvPr/>
        </p:nvSpPr>
        <p:spPr>
          <a:xfrm>
            <a:off x="6858000" y="2514600"/>
            <a:ext cx="1737360" cy="274320"/>
          </a:xfrm>
          <a:prstGeom prst="rect">
            <a:avLst/>
          </a:prstGeom>
          <a:noFill/>
          <a:ln/>
        </p:spPr>
        <p:txBody>
          <a:bodyPr wrap="square" lIns="0" tIns="0" rIns="0" bIns="0" rtlCol="0" anchor="ctr"/>
          <a:lstStyle/>
          <a:p>
            <a:pPr algn="ctr" indent="0" marL="0">
              <a:buNone/>
            </a:pPr>
            <a:r>
              <a:rPr lang="en-US" sz="1100" dirty="0">
                <a:solidFill>
                  <a:srgbClr val="595959"/>
                </a:solidFill>
                <a:latin typeface="Arial" pitchFamily="34" charset="0"/>
                <a:ea typeface="Arial" pitchFamily="34" charset="-122"/>
                <a:cs typeface="Arial" pitchFamily="34" charset="-120"/>
              </a:rPr>
              <a:t>used far better</a:t>
            </a:r>
            <a:endParaRPr lang="en-US" sz="1100" dirty="0"/>
          </a:p>
        </p:txBody>
      </p:sp>
      <p:sp>
        <p:nvSpPr>
          <p:cNvPr id="26" name="Shape 16"/>
          <p:cNvSpPr/>
          <p:nvPr/>
        </p:nvSpPr>
        <p:spPr>
          <a:xfrm>
            <a:off x="457200" y="3063240"/>
            <a:ext cx="2606040" cy="1508760"/>
          </a:xfrm>
          <a:prstGeom prst="rect">
            <a:avLst/>
          </a:prstGeom>
          <a:solidFill>
            <a:srgbClr val="F2F2F2"/>
          </a:solidFill>
          <a:ln w="12700">
            <a:solidFill>
              <a:srgbClr val="F2F2F2"/>
            </a:solidFill>
            <a:prstDash val="solid"/>
          </a:ln>
        </p:spPr>
      </p:sp>
      <p:sp>
        <p:nvSpPr>
          <p:cNvPr id="27" name="Text 17"/>
          <p:cNvSpPr txBox="1"/>
          <p:nvPr/>
        </p:nvSpPr>
        <p:spPr>
          <a:xfrm>
            <a:off x="640080" y="3200400"/>
            <a:ext cx="2240280" cy="2743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Finds the best split</a:t>
            </a:r>
            <a:endParaRPr lang="en-US" sz="1400" dirty="0"/>
          </a:p>
        </p:txBody>
      </p:sp>
      <p:sp>
        <p:nvSpPr>
          <p:cNvPr id="28" name="Text 18"/>
          <p:cNvSpPr txBox="1"/>
          <p:nvPr/>
        </p:nvSpPr>
        <p:spPr>
          <a:xfrm>
            <a:off x="640080" y="3520440"/>
            <a:ext cx="2240280" cy="100584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Decides how much of a model sits on the GPU and how much on the CPU, instead of Ollama's cautious default.</a:t>
            </a:r>
            <a:endParaRPr lang="en-US" sz="1200" dirty="0"/>
          </a:p>
        </p:txBody>
      </p:sp>
      <p:sp>
        <p:nvSpPr>
          <p:cNvPr id="29" name="Shape 19"/>
          <p:cNvSpPr/>
          <p:nvPr/>
        </p:nvSpPr>
        <p:spPr>
          <a:xfrm>
            <a:off x="3246120" y="3063240"/>
            <a:ext cx="2606040" cy="1508760"/>
          </a:xfrm>
          <a:prstGeom prst="rect">
            <a:avLst/>
          </a:prstGeom>
          <a:solidFill>
            <a:srgbClr val="F2F2F2"/>
          </a:solidFill>
          <a:ln w="12700">
            <a:solidFill>
              <a:srgbClr val="F2F2F2"/>
            </a:solidFill>
            <a:prstDash val="solid"/>
          </a:ln>
        </p:spPr>
      </p:sp>
      <p:sp>
        <p:nvSpPr>
          <p:cNvPr id="30" name="Text 20"/>
          <p:cNvSpPr txBox="1"/>
          <p:nvPr/>
        </p:nvSpPr>
        <p:spPr>
          <a:xfrm>
            <a:off x="3429000" y="3200400"/>
            <a:ext cx="2240280" cy="2743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Shares the GPU fairly</a:t>
            </a:r>
            <a:endParaRPr lang="en-US" sz="1400" dirty="0"/>
          </a:p>
        </p:txBody>
      </p:sp>
      <p:sp>
        <p:nvSpPr>
          <p:cNvPr id="31" name="Text 21"/>
          <p:cNvSpPr txBox="1"/>
          <p:nvPr/>
        </p:nvSpPr>
        <p:spPr>
          <a:xfrm>
            <a:off x="3429000" y="3520440"/>
            <a:ext cx="2240280" cy="100584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When several agents want the GPU at once, Ramer lines them up so models are not constantly swapped out.</a:t>
            </a:r>
            <a:endParaRPr lang="en-US" sz="1200" dirty="0"/>
          </a:p>
        </p:txBody>
      </p:sp>
      <p:sp>
        <p:nvSpPr>
          <p:cNvPr id="32" name="Shape 22"/>
          <p:cNvSpPr/>
          <p:nvPr/>
        </p:nvSpPr>
        <p:spPr>
          <a:xfrm>
            <a:off x="6035040" y="3063240"/>
            <a:ext cx="2606040" cy="1508760"/>
          </a:xfrm>
          <a:prstGeom prst="rect">
            <a:avLst/>
          </a:prstGeom>
          <a:solidFill>
            <a:srgbClr val="F2F2F2"/>
          </a:solidFill>
          <a:ln w="12700">
            <a:solidFill>
              <a:srgbClr val="F2F2F2"/>
            </a:solidFill>
            <a:prstDash val="solid"/>
          </a:ln>
        </p:spPr>
      </p:sp>
      <p:sp>
        <p:nvSpPr>
          <p:cNvPr id="33" name="Text 23"/>
          <p:cNvSpPr txBox="1"/>
          <p:nvPr/>
        </p:nvSpPr>
        <p:spPr>
          <a:xfrm>
            <a:off x="6217920" y="3200400"/>
            <a:ext cx="2240280" cy="274320"/>
          </a:xfrm>
          <a:prstGeom prst="rect">
            <a:avLst/>
          </a:prstGeom>
          <a:noFill/>
          <a:ln/>
        </p:spPr>
        <p:txBody>
          <a:bodyPr wrap="square" lIns="0" tIns="0" rIns="0" bIns="0" rtlCol="0" anchor="ctr"/>
          <a:lstStyle/>
          <a:p>
            <a:pPr indent="0" marL="0">
              <a:buNone/>
            </a:pPr>
            <a:r>
              <a:rPr lang="en-US" sz="1400" b="1" dirty="0">
                <a:solidFill>
                  <a:srgbClr val="000000"/>
                </a:solidFill>
                <a:latin typeface="Arial" pitchFamily="34" charset="0"/>
                <a:ea typeface="Arial" pitchFamily="34" charset="-122"/>
                <a:cs typeface="Arial" pitchFamily="34" charset="-120"/>
              </a:rPr>
              <a:t>Needs no changes</a:t>
            </a:r>
            <a:endParaRPr lang="en-US" sz="1400" dirty="0"/>
          </a:p>
        </p:txBody>
      </p:sp>
      <p:sp>
        <p:nvSpPr>
          <p:cNvPr id="34" name="Text 24"/>
          <p:cNvSpPr txBox="1"/>
          <p:nvPr/>
        </p:nvSpPr>
        <p:spPr>
          <a:xfrm>
            <a:off x="6217920" y="3520440"/>
            <a:ext cx="2240280" cy="100584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Just change the agent's server address from port 11434 to 11435.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Design thinking in five steps</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THE METHOD</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3</a:t>
            </a:r>
            <a:endParaRPr lang="en-US" sz="1000" dirty="0"/>
          </a:p>
        </p:txBody>
      </p:sp>
      <p:sp>
        <p:nvSpPr>
          <p:cNvPr id="7" name="Shape 4"/>
          <p:cNvSpPr/>
          <p:nvPr/>
        </p:nvSpPr>
        <p:spPr>
          <a:xfrm>
            <a:off x="1005840" y="1600200"/>
            <a:ext cx="7132320" cy="0"/>
          </a:xfrm>
          <a:prstGeom prst="line">
            <a:avLst/>
          </a:prstGeom>
          <a:noFill/>
          <a:ln w="19050">
            <a:solidFill>
              <a:srgbClr val="BFBFBF"/>
            </a:solidFill>
            <a:prstDash val="dash"/>
          </a:ln>
        </p:spPr>
      </p:sp>
      <p:sp>
        <p:nvSpPr>
          <p:cNvPr id="8" name="Shape 5"/>
          <p:cNvSpPr/>
          <p:nvPr/>
        </p:nvSpPr>
        <p:spPr>
          <a:xfrm>
            <a:off x="594360" y="1188720"/>
            <a:ext cx="822960" cy="822960"/>
          </a:xfrm>
          <a:prstGeom prst="ellipse">
            <a:avLst/>
          </a:prstGeom>
          <a:solidFill>
            <a:srgbClr val="000000"/>
          </a:solidFill>
          <a:ln w="12700">
            <a:solidFill>
              <a:srgbClr val="000000"/>
            </a:solidFill>
            <a:prstDash val="solid"/>
          </a:ln>
        </p:spPr>
      </p:sp>
      <p:pic>
        <p:nvPicPr>
          <p:cNvPr id="9" name="Image 0" descr="preencoded.png">    </p:cNvPr>
          <p:cNvPicPr>
            <a:picLocks noChangeAspect="1"/>
          </p:cNvPicPr>
          <p:nvPr/>
        </p:nvPicPr>
        <p:blipFill>
          <a:blip r:embed="rId1"/>
          <a:stretch>
            <a:fillRect/>
          </a:stretch>
        </p:blipFill>
        <p:spPr>
          <a:xfrm>
            <a:off x="808330" y="1402690"/>
            <a:ext cx="395021" cy="395021"/>
          </a:xfrm>
          <a:prstGeom prst="rect">
            <a:avLst/>
          </a:prstGeom>
        </p:spPr>
      </p:pic>
      <p:sp>
        <p:nvSpPr>
          <p:cNvPr id="10" name="Text 6"/>
          <p:cNvSpPr txBox="1"/>
          <p:nvPr/>
        </p:nvSpPr>
        <p:spPr>
          <a:xfrm>
            <a:off x="182880" y="2148840"/>
            <a:ext cx="1645920" cy="228600"/>
          </a:xfrm>
          <a:prstGeom prst="rect">
            <a:avLst/>
          </a:prstGeom>
          <a:noFill/>
          <a:ln/>
        </p:spPr>
        <p:txBody>
          <a:bodyPr wrap="square" lIns="0" tIns="0" rIns="0" bIns="0" rtlCol="0" anchor="ctr"/>
          <a:lstStyle/>
          <a:p>
            <a:pPr algn="ctr" indent="0" marL="0">
              <a:buNone/>
            </a:pPr>
            <a:r>
              <a:rPr lang="en-US" sz="1100" b="1" dirty="0">
                <a:solidFill>
                  <a:srgbClr val="8C8C8C"/>
                </a:solidFill>
                <a:latin typeface="Arial" pitchFamily="34" charset="0"/>
                <a:ea typeface="Arial" pitchFamily="34" charset="-122"/>
                <a:cs typeface="Arial" pitchFamily="34" charset="-120"/>
              </a:rPr>
              <a:t>01</a:t>
            </a:r>
            <a:endParaRPr lang="en-US" sz="1100" dirty="0"/>
          </a:p>
        </p:txBody>
      </p:sp>
      <p:sp>
        <p:nvSpPr>
          <p:cNvPr id="11" name="Text 7"/>
          <p:cNvSpPr txBox="1"/>
          <p:nvPr/>
        </p:nvSpPr>
        <p:spPr>
          <a:xfrm>
            <a:off x="182880" y="2377440"/>
            <a:ext cx="1645920" cy="36576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Empathize</a:t>
            </a:r>
            <a:endParaRPr lang="en-US" sz="1800" dirty="0"/>
          </a:p>
        </p:txBody>
      </p:sp>
      <p:sp>
        <p:nvSpPr>
          <p:cNvPr id="12" name="Text 8"/>
          <p:cNvSpPr txBox="1"/>
          <p:nvPr/>
        </p:nvSpPr>
        <p:spPr>
          <a:xfrm>
            <a:off x="228600" y="2788920"/>
            <a:ext cx="1554480" cy="82296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Who is struggling, and how does it feel?</a:t>
            </a:r>
            <a:endParaRPr lang="en-US" sz="1200" dirty="0"/>
          </a:p>
        </p:txBody>
      </p:sp>
      <p:sp>
        <p:nvSpPr>
          <p:cNvPr id="13" name="Shape 9"/>
          <p:cNvSpPr/>
          <p:nvPr/>
        </p:nvSpPr>
        <p:spPr>
          <a:xfrm>
            <a:off x="2377440" y="1188720"/>
            <a:ext cx="822960" cy="822960"/>
          </a:xfrm>
          <a:prstGeom prst="ellipse">
            <a:avLst/>
          </a:prstGeom>
          <a:solidFill>
            <a:srgbClr val="000000"/>
          </a:solidFill>
          <a:ln w="12700">
            <a:solidFill>
              <a:srgbClr val="000000"/>
            </a:solidFill>
            <a:prstDash val="solid"/>
          </a:ln>
        </p:spPr>
      </p:sp>
      <p:pic>
        <p:nvPicPr>
          <p:cNvPr id="14" name="Image 1" descr="preencoded.png">    </p:cNvPr>
          <p:cNvPicPr>
            <a:picLocks noChangeAspect="1"/>
          </p:cNvPicPr>
          <p:nvPr/>
        </p:nvPicPr>
        <p:blipFill>
          <a:blip r:embed="rId2"/>
          <a:stretch>
            <a:fillRect/>
          </a:stretch>
        </p:blipFill>
        <p:spPr>
          <a:xfrm>
            <a:off x="2591410" y="1402690"/>
            <a:ext cx="395021" cy="395021"/>
          </a:xfrm>
          <a:prstGeom prst="rect">
            <a:avLst/>
          </a:prstGeom>
        </p:spPr>
      </p:pic>
      <p:sp>
        <p:nvSpPr>
          <p:cNvPr id="15" name="Text 10"/>
          <p:cNvSpPr txBox="1"/>
          <p:nvPr/>
        </p:nvSpPr>
        <p:spPr>
          <a:xfrm>
            <a:off x="1965960" y="2148840"/>
            <a:ext cx="1645920" cy="228600"/>
          </a:xfrm>
          <a:prstGeom prst="rect">
            <a:avLst/>
          </a:prstGeom>
          <a:noFill/>
          <a:ln/>
        </p:spPr>
        <p:txBody>
          <a:bodyPr wrap="square" lIns="0" tIns="0" rIns="0" bIns="0" rtlCol="0" anchor="ctr"/>
          <a:lstStyle/>
          <a:p>
            <a:pPr algn="ctr" indent="0" marL="0">
              <a:buNone/>
            </a:pPr>
            <a:r>
              <a:rPr lang="en-US" sz="1100" b="1" dirty="0">
                <a:solidFill>
                  <a:srgbClr val="8C8C8C"/>
                </a:solidFill>
                <a:latin typeface="Arial" pitchFamily="34" charset="0"/>
                <a:ea typeface="Arial" pitchFamily="34" charset="-122"/>
                <a:cs typeface="Arial" pitchFamily="34" charset="-120"/>
              </a:rPr>
              <a:t>02</a:t>
            </a:r>
            <a:endParaRPr lang="en-US" sz="1100" dirty="0"/>
          </a:p>
        </p:txBody>
      </p:sp>
      <p:sp>
        <p:nvSpPr>
          <p:cNvPr id="16" name="Text 11"/>
          <p:cNvSpPr txBox="1"/>
          <p:nvPr/>
        </p:nvSpPr>
        <p:spPr>
          <a:xfrm>
            <a:off x="1965960" y="2377440"/>
            <a:ext cx="1645920" cy="36576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Define</a:t>
            </a:r>
            <a:endParaRPr lang="en-US" sz="1800" dirty="0"/>
          </a:p>
        </p:txBody>
      </p:sp>
      <p:sp>
        <p:nvSpPr>
          <p:cNvPr id="17" name="Text 12"/>
          <p:cNvSpPr txBox="1"/>
          <p:nvPr/>
        </p:nvSpPr>
        <p:spPr>
          <a:xfrm>
            <a:off x="2011680" y="2788920"/>
            <a:ext cx="1554480" cy="82296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What exactly is the problem?</a:t>
            </a:r>
            <a:endParaRPr lang="en-US" sz="1200" dirty="0"/>
          </a:p>
        </p:txBody>
      </p:sp>
      <p:sp>
        <p:nvSpPr>
          <p:cNvPr id="18" name="Shape 13"/>
          <p:cNvSpPr/>
          <p:nvPr/>
        </p:nvSpPr>
        <p:spPr>
          <a:xfrm>
            <a:off x="4160520" y="1188720"/>
            <a:ext cx="822960" cy="822960"/>
          </a:xfrm>
          <a:prstGeom prst="ellipse">
            <a:avLst/>
          </a:prstGeom>
          <a:solidFill>
            <a:srgbClr val="000000"/>
          </a:solidFill>
          <a:ln w="12700">
            <a:solidFill>
              <a:srgbClr val="000000"/>
            </a:solidFill>
            <a:prstDash val="solid"/>
          </a:ln>
        </p:spPr>
      </p:sp>
      <p:pic>
        <p:nvPicPr>
          <p:cNvPr id="19" name="Image 2" descr="preencoded.png">    </p:cNvPr>
          <p:cNvPicPr>
            <a:picLocks noChangeAspect="1"/>
          </p:cNvPicPr>
          <p:nvPr/>
        </p:nvPicPr>
        <p:blipFill>
          <a:blip r:embed="rId3"/>
          <a:stretch>
            <a:fillRect/>
          </a:stretch>
        </p:blipFill>
        <p:spPr>
          <a:xfrm>
            <a:off x="4374490" y="1402690"/>
            <a:ext cx="395021" cy="395021"/>
          </a:xfrm>
          <a:prstGeom prst="rect">
            <a:avLst/>
          </a:prstGeom>
        </p:spPr>
      </p:pic>
      <p:sp>
        <p:nvSpPr>
          <p:cNvPr id="20" name="Text 14"/>
          <p:cNvSpPr txBox="1"/>
          <p:nvPr/>
        </p:nvSpPr>
        <p:spPr>
          <a:xfrm>
            <a:off x="3749040" y="2148840"/>
            <a:ext cx="1645920" cy="228600"/>
          </a:xfrm>
          <a:prstGeom prst="rect">
            <a:avLst/>
          </a:prstGeom>
          <a:noFill/>
          <a:ln/>
        </p:spPr>
        <p:txBody>
          <a:bodyPr wrap="square" lIns="0" tIns="0" rIns="0" bIns="0" rtlCol="0" anchor="ctr"/>
          <a:lstStyle/>
          <a:p>
            <a:pPr algn="ctr" indent="0" marL="0">
              <a:buNone/>
            </a:pPr>
            <a:r>
              <a:rPr lang="en-US" sz="1100" b="1" dirty="0">
                <a:solidFill>
                  <a:srgbClr val="8C8C8C"/>
                </a:solidFill>
                <a:latin typeface="Arial" pitchFamily="34" charset="0"/>
                <a:ea typeface="Arial" pitchFamily="34" charset="-122"/>
                <a:cs typeface="Arial" pitchFamily="34" charset="-120"/>
              </a:rPr>
              <a:t>03</a:t>
            </a:r>
            <a:endParaRPr lang="en-US" sz="1100" dirty="0"/>
          </a:p>
        </p:txBody>
      </p:sp>
      <p:sp>
        <p:nvSpPr>
          <p:cNvPr id="21" name="Text 15"/>
          <p:cNvSpPr txBox="1"/>
          <p:nvPr/>
        </p:nvSpPr>
        <p:spPr>
          <a:xfrm>
            <a:off x="3749040" y="2377440"/>
            <a:ext cx="1645920" cy="36576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Ideate</a:t>
            </a:r>
            <a:endParaRPr lang="en-US" sz="1800" dirty="0"/>
          </a:p>
        </p:txBody>
      </p:sp>
      <p:sp>
        <p:nvSpPr>
          <p:cNvPr id="22" name="Text 16"/>
          <p:cNvSpPr txBox="1"/>
          <p:nvPr/>
        </p:nvSpPr>
        <p:spPr>
          <a:xfrm>
            <a:off x="3794760" y="2788920"/>
            <a:ext cx="1554480" cy="82296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What could we do about it?</a:t>
            </a:r>
            <a:endParaRPr lang="en-US" sz="1200" dirty="0"/>
          </a:p>
        </p:txBody>
      </p:sp>
      <p:sp>
        <p:nvSpPr>
          <p:cNvPr id="23" name="Shape 17"/>
          <p:cNvSpPr/>
          <p:nvPr/>
        </p:nvSpPr>
        <p:spPr>
          <a:xfrm>
            <a:off x="5943600" y="1188720"/>
            <a:ext cx="822960" cy="822960"/>
          </a:xfrm>
          <a:prstGeom prst="ellipse">
            <a:avLst/>
          </a:prstGeom>
          <a:solidFill>
            <a:srgbClr val="000000"/>
          </a:solidFill>
          <a:ln w="12700">
            <a:solidFill>
              <a:srgbClr val="000000"/>
            </a:solidFill>
            <a:prstDash val="solid"/>
          </a:ln>
        </p:spPr>
      </p:sp>
      <p:pic>
        <p:nvPicPr>
          <p:cNvPr id="24" name="Image 3" descr="preencoded.png">    </p:cNvPr>
          <p:cNvPicPr>
            <a:picLocks noChangeAspect="1"/>
          </p:cNvPicPr>
          <p:nvPr/>
        </p:nvPicPr>
        <p:blipFill>
          <a:blip r:embed="rId4"/>
          <a:stretch>
            <a:fillRect/>
          </a:stretch>
        </p:blipFill>
        <p:spPr>
          <a:xfrm>
            <a:off x="6157570" y="1402690"/>
            <a:ext cx="395021" cy="395021"/>
          </a:xfrm>
          <a:prstGeom prst="rect">
            <a:avLst/>
          </a:prstGeom>
        </p:spPr>
      </p:pic>
      <p:sp>
        <p:nvSpPr>
          <p:cNvPr id="25" name="Text 18"/>
          <p:cNvSpPr txBox="1"/>
          <p:nvPr/>
        </p:nvSpPr>
        <p:spPr>
          <a:xfrm>
            <a:off x="5532120" y="2148840"/>
            <a:ext cx="1645920" cy="228600"/>
          </a:xfrm>
          <a:prstGeom prst="rect">
            <a:avLst/>
          </a:prstGeom>
          <a:noFill/>
          <a:ln/>
        </p:spPr>
        <p:txBody>
          <a:bodyPr wrap="square" lIns="0" tIns="0" rIns="0" bIns="0" rtlCol="0" anchor="ctr"/>
          <a:lstStyle/>
          <a:p>
            <a:pPr algn="ctr" indent="0" marL="0">
              <a:buNone/>
            </a:pPr>
            <a:r>
              <a:rPr lang="en-US" sz="1100" b="1" dirty="0">
                <a:solidFill>
                  <a:srgbClr val="8C8C8C"/>
                </a:solidFill>
                <a:latin typeface="Arial" pitchFamily="34" charset="0"/>
                <a:ea typeface="Arial" pitchFamily="34" charset="-122"/>
                <a:cs typeface="Arial" pitchFamily="34" charset="-120"/>
              </a:rPr>
              <a:t>04</a:t>
            </a:r>
            <a:endParaRPr lang="en-US" sz="1100" dirty="0"/>
          </a:p>
        </p:txBody>
      </p:sp>
      <p:sp>
        <p:nvSpPr>
          <p:cNvPr id="26" name="Text 19"/>
          <p:cNvSpPr txBox="1"/>
          <p:nvPr/>
        </p:nvSpPr>
        <p:spPr>
          <a:xfrm>
            <a:off x="5532120" y="2377440"/>
            <a:ext cx="1645920" cy="36576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Prototype</a:t>
            </a:r>
            <a:endParaRPr lang="en-US" sz="1800" dirty="0"/>
          </a:p>
        </p:txBody>
      </p:sp>
      <p:sp>
        <p:nvSpPr>
          <p:cNvPr id="27" name="Text 20"/>
          <p:cNvSpPr txBox="1"/>
          <p:nvPr/>
        </p:nvSpPr>
        <p:spPr>
          <a:xfrm>
            <a:off x="5577840" y="2788920"/>
            <a:ext cx="1554480" cy="82296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Can we build a quick version?</a:t>
            </a:r>
            <a:endParaRPr lang="en-US" sz="1200" dirty="0"/>
          </a:p>
        </p:txBody>
      </p:sp>
      <p:sp>
        <p:nvSpPr>
          <p:cNvPr id="28" name="Shape 21"/>
          <p:cNvSpPr/>
          <p:nvPr/>
        </p:nvSpPr>
        <p:spPr>
          <a:xfrm>
            <a:off x="7726680" y="1188720"/>
            <a:ext cx="822960" cy="822960"/>
          </a:xfrm>
          <a:prstGeom prst="ellipse">
            <a:avLst/>
          </a:prstGeom>
          <a:solidFill>
            <a:srgbClr val="000000"/>
          </a:solidFill>
          <a:ln w="12700">
            <a:solidFill>
              <a:srgbClr val="000000"/>
            </a:solidFill>
            <a:prstDash val="solid"/>
          </a:ln>
        </p:spPr>
      </p:sp>
      <p:pic>
        <p:nvPicPr>
          <p:cNvPr id="29" name="Image 4" descr="preencoded.png">    </p:cNvPr>
          <p:cNvPicPr>
            <a:picLocks noChangeAspect="1"/>
          </p:cNvPicPr>
          <p:nvPr/>
        </p:nvPicPr>
        <p:blipFill>
          <a:blip r:embed="rId5"/>
          <a:stretch>
            <a:fillRect/>
          </a:stretch>
        </p:blipFill>
        <p:spPr>
          <a:xfrm>
            <a:off x="7940650" y="1402690"/>
            <a:ext cx="395021" cy="395021"/>
          </a:xfrm>
          <a:prstGeom prst="rect">
            <a:avLst/>
          </a:prstGeom>
        </p:spPr>
      </p:pic>
      <p:sp>
        <p:nvSpPr>
          <p:cNvPr id="30" name="Text 22"/>
          <p:cNvSpPr txBox="1"/>
          <p:nvPr/>
        </p:nvSpPr>
        <p:spPr>
          <a:xfrm>
            <a:off x="7315200" y="2148840"/>
            <a:ext cx="1645920" cy="228600"/>
          </a:xfrm>
          <a:prstGeom prst="rect">
            <a:avLst/>
          </a:prstGeom>
          <a:noFill/>
          <a:ln/>
        </p:spPr>
        <p:txBody>
          <a:bodyPr wrap="square" lIns="0" tIns="0" rIns="0" bIns="0" rtlCol="0" anchor="ctr"/>
          <a:lstStyle/>
          <a:p>
            <a:pPr algn="ctr" indent="0" marL="0">
              <a:buNone/>
            </a:pPr>
            <a:r>
              <a:rPr lang="en-US" sz="1100" b="1" dirty="0">
                <a:solidFill>
                  <a:srgbClr val="8C8C8C"/>
                </a:solidFill>
                <a:latin typeface="Arial" pitchFamily="34" charset="0"/>
                <a:ea typeface="Arial" pitchFamily="34" charset="-122"/>
                <a:cs typeface="Arial" pitchFamily="34" charset="-120"/>
              </a:rPr>
              <a:t>05</a:t>
            </a:r>
            <a:endParaRPr lang="en-US" sz="1100" dirty="0"/>
          </a:p>
        </p:txBody>
      </p:sp>
      <p:sp>
        <p:nvSpPr>
          <p:cNvPr id="31" name="Text 23"/>
          <p:cNvSpPr txBox="1"/>
          <p:nvPr/>
        </p:nvSpPr>
        <p:spPr>
          <a:xfrm>
            <a:off x="7315200" y="2377440"/>
            <a:ext cx="1645920" cy="365760"/>
          </a:xfrm>
          <a:prstGeom prst="rect">
            <a:avLst/>
          </a:prstGeom>
          <a:noFill/>
          <a:ln/>
        </p:spPr>
        <p:txBody>
          <a:bodyPr wrap="square" lIns="0" tIns="0" rIns="0" bIns="0" rtlCol="0" anchor="ctr"/>
          <a:lstStyle/>
          <a:p>
            <a:pPr algn="ctr" indent="0" marL="0">
              <a:buNone/>
            </a:pPr>
            <a:r>
              <a:rPr lang="en-US" sz="1800" b="1" dirty="0">
                <a:solidFill>
                  <a:srgbClr val="000000"/>
                </a:solidFill>
                <a:latin typeface="Arial" pitchFamily="34" charset="0"/>
                <a:ea typeface="Arial" pitchFamily="34" charset="-122"/>
                <a:cs typeface="Arial" pitchFamily="34" charset="-120"/>
              </a:rPr>
              <a:t>Test</a:t>
            </a:r>
            <a:endParaRPr lang="en-US" sz="1800" dirty="0"/>
          </a:p>
        </p:txBody>
      </p:sp>
      <p:sp>
        <p:nvSpPr>
          <p:cNvPr id="32" name="Text 24"/>
          <p:cNvSpPr txBox="1"/>
          <p:nvPr/>
        </p:nvSpPr>
        <p:spPr>
          <a:xfrm>
            <a:off x="7360920" y="2788920"/>
            <a:ext cx="1554480" cy="82296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Does it really work?</a:t>
            </a:r>
            <a:endParaRPr lang="en-US" sz="1200" dirty="0"/>
          </a:p>
        </p:txBody>
      </p:sp>
      <p:sp>
        <p:nvSpPr>
          <p:cNvPr id="33" name="Shape 25"/>
          <p:cNvSpPr/>
          <p:nvPr/>
        </p:nvSpPr>
        <p:spPr>
          <a:xfrm>
            <a:off x="457200" y="3931920"/>
            <a:ext cx="8229600" cy="640080"/>
          </a:xfrm>
          <a:prstGeom prst="rect">
            <a:avLst/>
          </a:prstGeom>
          <a:solidFill>
            <a:srgbClr val="000000"/>
          </a:solidFill>
          <a:ln w="12700">
            <a:solidFill>
              <a:srgbClr val="000000"/>
            </a:solidFill>
            <a:prstDash val="solid"/>
          </a:ln>
        </p:spPr>
      </p:sp>
      <p:sp>
        <p:nvSpPr>
          <p:cNvPr id="34" name="Text 26"/>
          <p:cNvSpPr txBox="1"/>
          <p:nvPr/>
        </p:nvSpPr>
        <p:spPr>
          <a:xfrm>
            <a:off x="731520" y="3931920"/>
            <a:ext cx="7680960" cy="64008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is a loop, not a line: what we learn while testing sends us back to the people.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3" name="Text 0"/>
          <p:cNvSpPr txBox="1"/>
          <p:nvPr/>
        </p:nvSpPr>
        <p:spPr>
          <a:xfrm>
            <a:off x="548640" y="457200"/>
            <a:ext cx="2743200" cy="1280160"/>
          </a:xfrm>
          <a:prstGeom prst="rect">
            <a:avLst/>
          </a:prstGeom>
          <a:noFill/>
          <a:ln/>
        </p:spPr>
        <p:txBody>
          <a:bodyPr wrap="square" lIns="0" tIns="0" rIns="0" bIns="0" rtlCol="0" anchor="b"/>
          <a:lstStyle/>
          <a:p>
            <a:pPr indent="0" marL="0">
              <a:buNone/>
            </a:pPr>
            <a:r>
              <a:rPr lang="en-US" sz="9600" b="1" dirty="0">
                <a:solidFill>
                  <a:srgbClr val="FFFFFF"/>
                </a:solidFill>
                <a:latin typeface="Arial" pitchFamily="34" charset="0"/>
                <a:ea typeface="Arial" pitchFamily="34" charset="-122"/>
                <a:cs typeface="Arial" pitchFamily="34" charset="-120"/>
              </a:rPr>
              <a:t>01</a:t>
            </a:r>
            <a:endParaRPr lang="en-US" sz="9600" dirty="0"/>
          </a:p>
        </p:txBody>
      </p:sp>
      <p:sp>
        <p:nvSpPr>
          <p:cNvPr id="4" name="Text 1"/>
          <p:cNvSpPr txBox="1"/>
          <p:nvPr/>
        </p:nvSpPr>
        <p:spPr>
          <a:xfrm>
            <a:off x="548640" y="1783080"/>
            <a:ext cx="3657600" cy="6400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Empathize</a:t>
            </a:r>
            <a:endParaRPr lang="en-US" sz="4000" dirty="0"/>
          </a:p>
        </p:txBody>
      </p:sp>
      <p:sp>
        <p:nvSpPr>
          <p:cNvPr id="5" name="Shape 2"/>
          <p:cNvSpPr/>
          <p:nvPr/>
        </p:nvSpPr>
        <p:spPr>
          <a:xfrm>
            <a:off x="548640" y="2697480"/>
            <a:ext cx="914400" cy="9144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86384" y="2935224"/>
            <a:ext cx="438912" cy="438912"/>
          </a:xfrm>
          <a:prstGeom prst="rect">
            <a:avLst/>
          </a:prstGeom>
        </p:spPr>
      </p:pic>
      <p:sp>
        <p:nvSpPr>
          <p:cNvPr id="7" name="Text 3"/>
          <p:cNvSpPr txBox="1"/>
          <p:nvPr/>
        </p:nvSpPr>
        <p:spPr>
          <a:xfrm>
            <a:off x="1691640" y="2697480"/>
            <a:ext cx="2377440" cy="914400"/>
          </a:xfrm>
          <a:prstGeom prst="rect">
            <a:avLst/>
          </a:prstGeom>
          <a:noFill/>
          <a:ln/>
        </p:spPr>
        <p:txBody>
          <a:bodyPr wrap="square" lIns="0" tIns="0" rIns="0" bIns="0" rtlCol="0" anchor="ctr"/>
          <a:lstStyle/>
          <a:p>
            <a:pPr indent="0" marL="0">
              <a:buNone/>
            </a:pPr>
            <a:r>
              <a:rPr lang="en-US" sz="1500" i="1" dirty="0">
                <a:solidFill>
                  <a:srgbClr val="BFBFBF"/>
                </a:solidFill>
                <a:latin typeface="Arial" pitchFamily="34" charset="0"/>
                <a:ea typeface="Arial" pitchFamily="34" charset="-122"/>
                <a:cs typeface="Arial" pitchFamily="34" charset="-120"/>
              </a:rPr>
              <a:t>Start with people, not technology.</a:t>
            </a:r>
            <a:endParaRPr lang="en-US" sz="1500" dirty="0"/>
          </a:p>
        </p:txBody>
      </p:sp>
      <p:sp>
        <p:nvSpPr>
          <p:cNvPr id="8" name="Shape 4"/>
          <p:cNvSpPr/>
          <p:nvPr/>
        </p:nvSpPr>
        <p:spPr>
          <a:xfrm>
            <a:off x="4480560" y="457200"/>
            <a:ext cx="4206240" cy="4206240"/>
          </a:xfrm>
          <a:prstGeom prst="rect">
            <a:avLst/>
          </a:prstGeom>
          <a:solidFill>
            <a:srgbClr val="FFFFFF"/>
          </a:solidFill>
          <a:ln w="12700">
            <a:solidFill>
              <a:srgbClr val="FFFFFF"/>
            </a:solidFill>
            <a:prstDash val="solid"/>
          </a:ln>
        </p:spPr>
      </p:sp>
      <p:sp>
        <p:nvSpPr>
          <p:cNvPr id="9" name="Text 5"/>
          <p:cNvSpPr txBox="1"/>
          <p:nvPr/>
        </p:nvSpPr>
        <p:spPr>
          <a:xfrm>
            <a:off x="4754880" y="6858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IT MEANS</a:t>
            </a:r>
            <a:endParaRPr lang="en-US" sz="1100" dirty="0"/>
          </a:p>
        </p:txBody>
      </p:sp>
      <p:sp>
        <p:nvSpPr>
          <p:cNvPr id="10" name="Text 6"/>
          <p:cNvSpPr txBox="1"/>
          <p:nvPr/>
        </p:nvSpPr>
        <p:spPr>
          <a:xfrm>
            <a:off x="4754880" y="9601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Get to know the people who have the problem. Listen to what they say and watch what they do, before thinking about any solution.</a:t>
            </a:r>
            <a:endParaRPr lang="en-US" sz="1400" dirty="0"/>
          </a:p>
        </p:txBody>
      </p:sp>
      <p:sp>
        <p:nvSpPr>
          <p:cNvPr id="11" name="Text 7"/>
          <p:cNvSpPr txBox="1"/>
          <p:nvPr/>
        </p:nvSpPr>
        <p:spPr>
          <a:xfrm>
            <a:off x="4754880" y="20574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THE QUESTION IT ASKS</a:t>
            </a:r>
            <a:endParaRPr lang="en-US" sz="1100" dirty="0"/>
          </a:p>
        </p:txBody>
      </p:sp>
      <p:sp>
        <p:nvSpPr>
          <p:cNvPr id="12" name="Text 8"/>
          <p:cNvSpPr txBox="1"/>
          <p:nvPr/>
        </p:nvSpPr>
        <p:spPr>
          <a:xfrm>
            <a:off x="4754880" y="23317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Who is struggling, and what is frustrating them?</a:t>
            </a:r>
            <a:endParaRPr lang="en-US" sz="1400" dirty="0"/>
          </a:p>
        </p:txBody>
      </p:sp>
      <p:sp>
        <p:nvSpPr>
          <p:cNvPr id="13" name="Text 9"/>
          <p:cNvSpPr txBox="1"/>
          <p:nvPr/>
        </p:nvSpPr>
        <p:spPr>
          <a:xfrm>
            <a:off x="4754880" y="34290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IN RAMER WE</a:t>
            </a:r>
            <a:endParaRPr lang="en-US" sz="1100" dirty="0"/>
          </a:p>
        </p:txBody>
      </p:sp>
      <p:sp>
        <p:nvSpPr>
          <p:cNvPr id="14" name="Text 10"/>
          <p:cNvSpPr txBox="1"/>
          <p:nvPr/>
        </p:nvSpPr>
        <p:spPr>
          <a:xfrm>
            <a:off x="4754880" y="37033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read real forum threads, GitHub issues and Reddit posts, and ran local AI on a normal 8 GB gaming GPU ourselves.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What we heard from real users</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01 EMPATHIZE</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5</a:t>
            </a:r>
            <a:endParaRPr lang="en-US" sz="1000" dirty="0"/>
          </a:p>
        </p:txBody>
      </p:sp>
      <p:sp>
        <p:nvSpPr>
          <p:cNvPr id="7" name="Shape 4"/>
          <p:cNvSpPr/>
          <p:nvPr/>
        </p:nvSpPr>
        <p:spPr>
          <a:xfrm>
            <a:off x="457200" y="1188720"/>
            <a:ext cx="2606040" cy="2514600"/>
          </a:xfrm>
          <a:prstGeom prst="rect">
            <a:avLst/>
          </a:prstGeom>
          <a:solidFill>
            <a:srgbClr val="FFFFFF"/>
          </a:solidFill>
          <a:ln w="19050">
            <a:solidFill>
              <a:srgbClr val="000000"/>
            </a:solidFill>
            <a:prstDash val="solid"/>
          </a:ln>
        </p:spPr>
      </p:sp>
      <p:pic>
        <p:nvPicPr>
          <p:cNvPr id="8" name="Image 0" descr="preencoded.png">    </p:cNvPr>
          <p:cNvPicPr>
            <a:picLocks noChangeAspect="1"/>
          </p:cNvPicPr>
          <p:nvPr/>
        </p:nvPicPr>
        <p:blipFill>
          <a:blip r:embed="rId1"/>
          <a:stretch>
            <a:fillRect/>
          </a:stretch>
        </p:blipFill>
        <p:spPr>
          <a:xfrm>
            <a:off x="685800" y="1371600"/>
            <a:ext cx="365760" cy="365760"/>
          </a:xfrm>
          <a:prstGeom prst="rect">
            <a:avLst/>
          </a:prstGeom>
        </p:spPr>
      </p:pic>
      <p:sp>
        <p:nvSpPr>
          <p:cNvPr id="9" name="Text 5"/>
          <p:cNvSpPr txBox="1"/>
          <p:nvPr/>
        </p:nvSpPr>
        <p:spPr>
          <a:xfrm>
            <a:off x="685800" y="1874520"/>
            <a:ext cx="2148840" cy="10515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“Still OOM Memory!”</a:t>
            </a:r>
            <a:endParaRPr lang="en-US" sz="1600" dirty="0"/>
          </a:p>
        </p:txBody>
      </p:sp>
      <p:sp>
        <p:nvSpPr>
          <p:cNvPr id="10" name="Text 6"/>
          <p:cNvSpPr txBox="1"/>
          <p:nvPr/>
        </p:nvSpPr>
        <p:spPr>
          <a:xfrm>
            <a:off x="685800" y="2971800"/>
            <a:ext cx="2148840" cy="640080"/>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A user trying to run a big model, after trying every suggested fix</a:t>
            </a:r>
            <a:endParaRPr lang="en-US" sz="1200" dirty="0"/>
          </a:p>
        </p:txBody>
      </p:sp>
      <p:sp>
        <p:nvSpPr>
          <p:cNvPr id="11" name="Shape 7"/>
          <p:cNvSpPr/>
          <p:nvPr/>
        </p:nvSpPr>
        <p:spPr>
          <a:xfrm>
            <a:off x="3246120" y="1188720"/>
            <a:ext cx="2606040" cy="2514600"/>
          </a:xfrm>
          <a:prstGeom prst="rect">
            <a:avLst/>
          </a:prstGeom>
          <a:solidFill>
            <a:srgbClr val="000000"/>
          </a:solidFill>
          <a:ln w="19050">
            <a:solidFill>
              <a:srgbClr val="000000"/>
            </a:solidFill>
            <a:prstDash val="solid"/>
          </a:ln>
        </p:spPr>
      </p:sp>
      <p:pic>
        <p:nvPicPr>
          <p:cNvPr id="12" name="Image 1" descr="preencoded.png">    </p:cNvPr>
          <p:cNvPicPr>
            <a:picLocks noChangeAspect="1"/>
          </p:cNvPicPr>
          <p:nvPr/>
        </p:nvPicPr>
        <p:blipFill>
          <a:blip r:embed="rId2"/>
          <a:stretch>
            <a:fillRect/>
          </a:stretch>
        </p:blipFill>
        <p:spPr>
          <a:xfrm>
            <a:off x="3474720" y="1371600"/>
            <a:ext cx="365760" cy="365760"/>
          </a:xfrm>
          <a:prstGeom prst="rect">
            <a:avLst/>
          </a:prstGeom>
        </p:spPr>
      </p:pic>
      <p:sp>
        <p:nvSpPr>
          <p:cNvPr id="13" name="Text 8"/>
          <p:cNvSpPr txBox="1"/>
          <p:nvPr/>
        </p:nvSpPr>
        <p:spPr>
          <a:xfrm>
            <a:off x="3474720" y="1874520"/>
            <a:ext cx="2148840" cy="10515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“Ollama works fine directly, but the agent framework is slow.”</a:t>
            </a:r>
            <a:endParaRPr lang="en-US" sz="1600" dirty="0"/>
          </a:p>
        </p:txBody>
      </p:sp>
      <p:sp>
        <p:nvSpPr>
          <p:cNvPr id="14" name="Text 9"/>
          <p:cNvSpPr txBox="1"/>
          <p:nvPr/>
        </p:nvSpPr>
        <p:spPr>
          <a:xfrm>
            <a:off x="3474720" y="2971800"/>
            <a:ext cx="2148840" cy="640080"/>
          </a:xfrm>
          <a:prstGeom prst="rect">
            <a:avLst/>
          </a:prstGeom>
          <a:noFill/>
          <a:ln/>
        </p:spPr>
        <p:txBody>
          <a:bodyPr wrap="square" lIns="0" tIns="0" rIns="0" bIns="0" rtlCol="0" anchor="t"/>
          <a:lstStyle/>
          <a:p>
            <a:pPr indent="0" marL="0">
              <a:buNone/>
            </a:pPr>
            <a:r>
              <a:rPr lang="en-US" sz="1200" dirty="0">
                <a:solidFill>
                  <a:srgbClr val="BFBFBF"/>
                </a:solidFill>
                <a:latin typeface="Arial" pitchFamily="34" charset="0"/>
                <a:ea typeface="Arial" pitchFamily="34" charset="-122"/>
                <a:cs typeface="Arial" pitchFamily="34" charset="-120"/>
              </a:rPr>
              <a:t>People running several local agents at the same time</a:t>
            </a:r>
            <a:endParaRPr lang="en-US" sz="1200" dirty="0"/>
          </a:p>
        </p:txBody>
      </p:sp>
      <p:sp>
        <p:nvSpPr>
          <p:cNvPr id="15" name="Shape 10"/>
          <p:cNvSpPr/>
          <p:nvPr/>
        </p:nvSpPr>
        <p:spPr>
          <a:xfrm>
            <a:off x="6035040" y="1188720"/>
            <a:ext cx="2606040" cy="2514600"/>
          </a:xfrm>
          <a:prstGeom prst="rect">
            <a:avLst/>
          </a:prstGeom>
          <a:solidFill>
            <a:srgbClr val="FFFFFF"/>
          </a:solidFill>
          <a:ln w="19050">
            <a:solidFill>
              <a:srgbClr val="000000"/>
            </a:solidFill>
            <a:prstDash val="solid"/>
          </a:ln>
        </p:spPr>
      </p:sp>
      <p:pic>
        <p:nvPicPr>
          <p:cNvPr id="16" name="Image 2" descr="preencoded.png">    </p:cNvPr>
          <p:cNvPicPr>
            <a:picLocks noChangeAspect="1"/>
          </p:cNvPicPr>
          <p:nvPr/>
        </p:nvPicPr>
        <p:blipFill>
          <a:blip r:embed="rId3"/>
          <a:stretch>
            <a:fillRect/>
          </a:stretch>
        </p:blipFill>
        <p:spPr>
          <a:xfrm>
            <a:off x="6263640" y="1371600"/>
            <a:ext cx="365760" cy="365760"/>
          </a:xfrm>
          <a:prstGeom prst="rect">
            <a:avLst/>
          </a:prstGeom>
        </p:spPr>
      </p:pic>
      <p:sp>
        <p:nvSpPr>
          <p:cNvPr id="17" name="Text 11"/>
          <p:cNvSpPr txBox="1"/>
          <p:nvPr/>
        </p:nvSpPr>
        <p:spPr>
          <a:xfrm>
            <a:off x="6263640" y="1874520"/>
            <a:ext cx="2148840" cy="10515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“99% wouldn't know what VRAM is.”</a:t>
            </a:r>
            <a:endParaRPr lang="en-US" sz="1600" dirty="0"/>
          </a:p>
        </p:txBody>
      </p:sp>
      <p:sp>
        <p:nvSpPr>
          <p:cNvPr id="18" name="Text 12"/>
          <p:cNvSpPr txBox="1"/>
          <p:nvPr/>
        </p:nvSpPr>
        <p:spPr>
          <a:xfrm>
            <a:off x="6263640" y="2971800"/>
            <a:ext cx="2148840" cy="640080"/>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A Reddit commenter on r/LocalLLaMA</a:t>
            </a:r>
            <a:endParaRPr lang="en-US" sz="1200" dirty="0"/>
          </a:p>
        </p:txBody>
      </p:sp>
      <p:sp>
        <p:nvSpPr>
          <p:cNvPr id="19" name="Shape 13"/>
          <p:cNvSpPr/>
          <p:nvPr/>
        </p:nvSpPr>
        <p:spPr>
          <a:xfrm>
            <a:off x="457200" y="3931920"/>
            <a:ext cx="8229600" cy="640080"/>
          </a:xfrm>
          <a:prstGeom prst="rect">
            <a:avLst/>
          </a:prstGeom>
          <a:solidFill>
            <a:srgbClr val="F2F2F2"/>
          </a:solidFill>
          <a:ln w="12700">
            <a:solidFill>
              <a:srgbClr val="F2F2F2"/>
            </a:solidFill>
            <a:prstDash val="solid"/>
          </a:ln>
        </p:spPr>
      </p:sp>
      <p:sp>
        <p:nvSpPr>
          <p:cNvPr id="20" name="Text 14"/>
          <p:cNvSpPr txBox="1"/>
          <p:nvPr/>
        </p:nvSpPr>
        <p:spPr>
          <a:xfrm>
            <a:off x="731520" y="3931920"/>
            <a:ext cx="7680960" cy="64008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What we learned: </a:t>
            </a:r>
            <a:pPr indent="0" marL="0">
              <a:buNone/>
            </a:pPr>
            <a:r>
              <a:rPr lang="en-US" sz="1500" dirty="0">
                <a:solidFill>
                  <a:srgbClr val="000000"/>
                </a:solidFill>
                <a:latin typeface="Arial" pitchFamily="34" charset="0"/>
                <a:ea typeface="Arial" pitchFamily="34" charset="-122"/>
                <a:cs typeface="Arial" pitchFamily="34" charset="-120"/>
              </a:rPr>
              <a:t>the pain is real, and people bring it up without being asked.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Meet our user</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01 EMPATHIZE</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6</a:t>
            </a:r>
            <a:endParaRPr lang="en-US" sz="1000" dirty="0"/>
          </a:p>
        </p:txBody>
      </p:sp>
      <p:sp>
        <p:nvSpPr>
          <p:cNvPr id="7" name="Shape 4"/>
          <p:cNvSpPr/>
          <p:nvPr/>
        </p:nvSpPr>
        <p:spPr>
          <a:xfrm>
            <a:off x="457200" y="1188720"/>
            <a:ext cx="2743200" cy="3291840"/>
          </a:xfrm>
          <a:prstGeom prst="rect">
            <a:avLst/>
          </a:prstGeom>
          <a:solidFill>
            <a:srgbClr val="000000"/>
          </a:solidFill>
          <a:ln w="19050">
            <a:solidFill>
              <a:srgbClr val="000000"/>
            </a:solidFill>
            <a:prstDash val="solid"/>
          </a:ln>
        </p:spPr>
      </p:sp>
      <p:sp>
        <p:nvSpPr>
          <p:cNvPr id="8" name="Shape 5"/>
          <p:cNvSpPr/>
          <p:nvPr/>
        </p:nvSpPr>
        <p:spPr>
          <a:xfrm>
            <a:off x="1234440" y="1463040"/>
            <a:ext cx="1188720" cy="1188720"/>
          </a:xfrm>
          <a:prstGeom prst="ellipse">
            <a:avLst/>
          </a:prstGeom>
          <a:solidFill>
            <a:srgbClr val="FFFFFF"/>
          </a:solidFill>
          <a:ln w="12700">
            <a:solidFill>
              <a:srgbClr val="FFFFFF"/>
            </a:solidFill>
            <a:prstDash val="solid"/>
          </a:ln>
        </p:spPr>
      </p:sp>
      <p:pic>
        <p:nvPicPr>
          <p:cNvPr id="9" name="Image 0" descr="preencoded.png">    </p:cNvPr>
          <p:cNvPicPr>
            <a:picLocks noChangeAspect="1"/>
          </p:cNvPicPr>
          <p:nvPr/>
        </p:nvPicPr>
        <p:blipFill>
          <a:blip r:embed="rId1"/>
          <a:stretch>
            <a:fillRect/>
          </a:stretch>
        </p:blipFill>
        <p:spPr>
          <a:xfrm>
            <a:off x="1543507" y="1772107"/>
            <a:ext cx="570586" cy="570586"/>
          </a:xfrm>
          <a:prstGeom prst="rect">
            <a:avLst/>
          </a:prstGeom>
        </p:spPr>
      </p:pic>
      <p:sp>
        <p:nvSpPr>
          <p:cNvPr id="10" name="Text 6"/>
          <p:cNvSpPr txBox="1"/>
          <p:nvPr/>
        </p:nvSpPr>
        <p:spPr>
          <a:xfrm>
            <a:off x="640080" y="2834640"/>
            <a:ext cx="237744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The local AI builder</a:t>
            </a:r>
            <a:endParaRPr lang="en-US" sz="1800" dirty="0"/>
          </a:p>
        </p:txBody>
      </p:sp>
      <p:sp>
        <p:nvSpPr>
          <p:cNvPr id="11" name="Text 7"/>
          <p:cNvSpPr txBox="1"/>
          <p:nvPr/>
        </p:nvSpPr>
        <p:spPr>
          <a:xfrm>
            <a:off x="685800" y="3291840"/>
            <a:ext cx="2286000" cy="914400"/>
          </a:xfrm>
          <a:prstGeom prst="rect">
            <a:avLst/>
          </a:prstGeom>
          <a:noFill/>
          <a:ln/>
        </p:spPr>
        <p:txBody>
          <a:bodyPr wrap="square" lIns="0" tIns="0" rIns="0" bIns="0" rtlCol="0" anchor="t"/>
          <a:lstStyle/>
          <a:p>
            <a:pPr algn="ctr" indent="0" marL="0">
              <a:buNone/>
            </a:pPr>
            <a:r>
              <a:rPr lang="en-US" sz="1400" i="1" dirty="0">
                <a:solidFill>
                  <a:srgbClr val="BFBFBF"/>
                </a:solidFill>
                <a:latin typeface="Arial" pitchFamily="34" charset="0"/>
                <a:ea typeface="Arial" pitchFamily="34" charset="-122"/>
                <a:cs typeface="Arial" pitchFamily="34" charset="-120"/>
              </a:rPr>
              <a:t>“I paid for this GPU. Why is my AI so slow?”</a:t>
            </a:r>
            <a:endParaRPr lang="en-US" sz="1400" dirty="0"/>
          </a:p>
        </p:txBody>
      </p:sp>
      <p:sp>
        <p:nvSpPr>
          <p:cNvPr id="12" name="Text 8"/>
          <p:cNvSpPr txBox="1"/>
          <p:nvPr/>
        </p:nvSpPr>
        <p:spPr>
          <a:xfrm>
            <a:off x="3566160" y="1234440"/>
            <a:ext cx="512064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HARDWARE</a:t>
            </a:r>
            <a:endParaRPr lang="en-US" sz="1100" dirty="0"/>
          </a:p>
        </p:txBody>
      </p:sp>
      <p:sp>
        <p:nvSpPr>
          <p:cNvPr id="13" name="Text 9"/>
          <p:cNvSpPr txBox="1"/>
          <p:nvPr/>
        </p:nvSpPr>
        <p:spPr>
          <a:xfrm>
            <a:off x="3566160" y="1508760"/>
            <a:ext cx="5120640" cy="457200"/>
          </a:xfrm>
          <a:prstGeom prst="rect">
            <a:avLst/>
          </a:prstGeom>
          <a:noFill/>
          <a:ln/>
        </p:spPr>
        <p:txBody>
          <a:bodyPr wrap="square" lIns="0" tIns="0" rIns="0" bIns="0" rtlCol="0" anchor="t"/>
          <a:lstStyle/>
          <a:p>
            <a:pPr indent="0" marL="0">
              <a:buNone/>
            </a:pPr>
            <a:r>
              <a:rPr lang="en-US" sz="1500" dirty="0">
                <a:solidFill>
                  <a:srgbClr val="000000"/>
                </a:solidFill>
                <a:latin typeface="Arial" pitchFamily="34" charset="0"/>
                <a:ea typeface="Arial" pitchFamily="34" charset="-122"/>
                <a:cs typeface="Arial" pitchFamily="34" charset="-120"/>
              </a:rPr>
              <a:t>A normal 8 to 16 GB gaming GPU (RTX 3060, 4060, 5060)</a:t>
            </a:r>
            <a:endParaRPr lang="en-US" sz="1500" dirty="0"/>
          </a:p>
        </p:txBody>
      </p:sp>
      <p:sp>
        <p:nvSpPr>
          <p:cNvPr id="14" name="Text 10"/>
          <p:cNvSpPr txBox="1"/>
          <p:nvPr/>
        </p:nvSpPr>
        <p:spPr>
          <a:xfrm>
            <a:off x="3566160" y="2057400"/>
            <a:ext cx="512064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DAILY WORK</a:t>
            </a:r>
            <a:endParaRPr lang="en-US" sz="1100" dirty="0"/>
          </a:p>
        </p:txBody>
      </p:sp>
      <p:sp>
        <p:nvSpPr>
          <p:cNvPr id="15" name="Text 11"/>
          <p:cNvSpPr txBox="1"/>
          <p:nvPr/>
        </p:nvSpPr>
        <p:spPr>
          <a:xfrm>
            <a:off x="3566160" y="2331720"/>
            <a:ext cx="5120640" cy="457200"/>
          </a:xfrm>
          <a:prstGeom prst="rect">
            <a:avLst/>
          </a:prstGeom>
          <a:noFill/>
          <a:ln/>
        </p:spPr>
        <p:txBody>
          <a:bodyPr wrap="square" lIns="0" tIns="0" rIns="0" bIns="0" rtlCol="0" anchor="t"/>
          <a:lstStyle/>
          <a:p>
            <a:pPr indent="0" marL="0">
              <a:buNone/>
            </a:pPr>
            <a:r>
              <a:rPr lang="en-US" sz="1500" dirty="0">
                <a:solidFill>
                  <a:srgbClr val="000000"/>
                </a:solidFill>
                <a:latin typeface="Arial" pitchFamily="34" charset="0"/>
                <a:ea typeface="Arial" pitchFamily="34" charset="-122"/>
                <a:cs typeface="Arial" pitchFamily="34" charset="-120"/>
              </a:rPr>
              <a:t>Runs local coding and research agents through Ollama</a:t>
            </a:r>
            <a:endParaRPr lang="en-US" sz="1500" dirty="0"/>
          </a:p>
        </p:txBody>
      </p:sp>
      <p:sp>
        <p:nvSpPr>
          <p:cNvPr id="16" name="Text 12"/>
          <p:cNvSpPr txBox="1"/>
          <p:nvPr/>
        </p:nvSpPr>
        <p:spPr>
          <a:xfrm>
            <a:off x="3566160" y="2880360"/>
            <a:ext cx="512064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HABIT</a:t>
            </a:r>
            <a:endParaRPr lang="en-US" sz="1100" dirty="0"/>
          </a:p>
        </p:txBody>
      </p:sp>
      <p:sp>
        <p:nvSpPr>
          <p:cNvPr id="17" name="Text 13"/>
          <p:cNvSpPr txBox="1"/>
          <p:nvPr/>
        </p:nvSpPr>
        <p:spPr>
          <a:xfrm>
            <a:off x="3566160" y="3154680"/>
            <a:ext cx="5120640" cy="457200"/>
          </a:xfrm>
          <a:prstGeom prst="rect">
            <a:avLst/>
          </a:prstGeom>
          <a:noFill/>
          <a:ln/>
        </p:spPr>
        <p:txBody>
          <a:bodyPr wrap="square" lIns="0" tIns="0" rIns="0" bIns="0" rtlCol="0" anchor="t"/>
          <a:lstStyle/>
          <a:p>
            <a:pPr indent="0" marL="0">
              <a:buNone/>
            </a:pPr>
            <a:r>
              <a:rPr lang="en-US" sz="1500" dirty="0">
                <a:solidFill>
                  <a:srgbClr val="000000"/>
                </a:solidFill>
                <a:latin typeface="Arial" pitchFamily="34" charset="0"/>
                <a:ea typeface="Arial" pitchFamily="34" charset="-122"/>
                <a:cs typeface="Arial" pitchFamily="34" charset="-120"/>
              </a:rPr>
              <a:t>Uses local AI when possible and the cloud when needed</a:t>
            </a:r>
            <a:endParaRPr lang="en-US" sz="1500" dirty="0"/>
          </a:p>
        </p:txBody>
      </p:sp>
      <p:sp>
        <p:nvSpPr>
          <p:cNvPr id="18" name="Text 14"/>
          <p:cNvSpPr txBox="1"/>
          <p:nvPr/>
        </p:nvSpPr>
        <p:spPr>
          <a:xfrm>
            <a:off x="3566160" y="3703320"/>
            <a:ext cx="512064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NOT OUR USER</a:t>
            </a:r>
            <a:endParaRPr lang="en-US" sz="1100" dirty="0"/>
          </a:p>
        </p:txBody>
      </p:sp>
      <p:sp>
        <p:nvSpPr>
          <p:cNvPr id="19" name="Text 15"/>
          <p:cNvSpPr txBox="1"/>
          <p:nvPr/>
        </p:nvSpPr>
        <p:spPr>
          <a:xfrm>
            <a:off x="3566160" y="3977640"/>
            <a:ext cx="5120640" cy="457200"/>
          </a:xfrm>
          <a:prstGeom prst="rect">
            <a:avLst/>
          </a:prstGeom>
          <a:noFill/>
          <a:ln/>
        </p:spPr>
        <p:txBody>
          <a:bodyPr wrap="square" lIns="0" tIns="0" rIns="0" bIns="0" rtlCol="0" anchor="t"/>
          <a:lstStyle/>
          <a:p>
            <a:pPr indent="0" marL="0">
              <a:buNone/>
            </a:pPr>
            <a:r>
              <a:rPr lang="en-US" sz="1500" dirty="0">
                <a:solidFill>
                  <a:srgbClr val="000000"/>
                </a:solidFill>
                <a:latin typeface="Arial" pitchFamily="34" charset="0"/>
                <a:ea typeface="Arial" pitchFamily="34" charset="-122"/>
                <a:cs typeface="Arial" pitchFamily="34" charset="-120"/>
              </a:rPr>
              <a:t>Apple Silicon Mac owners: shared memory, nothing to split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3" name="Text 0"/>
          <p:cNvSpPr txBox="1"/>
          <p:nvPr/>
        </p:nvSpPr>
        <p:spPr>
          <a:xfrm>
            <a:off x="548640" y="457200"/>
            <a:ext cx="2743200" cy="1280160"/>
          </a:xfrm>
          <a:prstGeom prst="rect">
            <a:avLst/>
          </a:prstGeom>
          <a:noFill/>
          <a:ln/>
        </p:spPr>
        <p:txBody>
          <a:bodyPr wrap="square" lIns="0" tIns="0" rIns="0" bIns="0" rtlCol="0" anchor="b"/>
          <a:lstStyle/>
          <a:p>
            <a:pPr indent="0" marL="0">
              <a:buNone/>
            </a:pPr>
            <a:r>
              <a:rPr lang="en-US" sz="9600" b="1" dirty="0">
                <a:solidFill>
                  <a:srgbClr val="FFFFFF"/>
                </a:solidFill>
                <a:latin typeface="Arial" pitchFamily="34" charset="0"/>
                <a:ea typeface="Arial" pitchFamily="34" charset="-122"/>
                <a:cs typeface="Arial" pitchFamily="34" charset="-120"/>
              </a:rPr>
              <a:t>02</a:t>
            </a:r>
            <a:endParaRPr lang="en-US" sz="9600" dirty="0"/>
          </a:p>
        </p:txBody>
      </p:sp>
      <p:sp>
        <p:nvSpPr>
          <p:cNvPr id="4" name="Text 1"/>
          <p:cNvSpPr txBox="1"/>
          <p:nvPr/>
        </p:nvSpPr>
        <p:spPr>
          <a:xfrm>
            <a:off x="548640" y="1783080"/>
            <a:ext cx="3657600" cy="6400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Define</a:t>
            </a:r>
            <a:endParaRPr lang="en-US" sz="4000" dirty="0"/>
          </a:p>
        </p:txBody>
      </p:sp>
      <p:sp>
        <p:nvSpPr>
          <p:cNvPr id="5" name="Shape 2"/>
          <p:cNvSpPr/>
          <p:nvPr/>
        </p:nvSpPr>
        <p:spPr>
          <a:xfrm>
            <a:off x="548640" y="2697480"/>
            <a:ext cx="914400" cy="9144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86384" y="2935224"/>
            <a:ext cx="438912" cy="438912"/>
          </a:xfrm>
          <a:prstGeom prst="rect">
            <a:avLst/>
          </a:prstGeom>
        </p:spPr>
      </p:pic>
      <p:sp>
        <p:nvSpPr>
          <p:cNvPr id="7" name="Text 3"/>
          <p:cNvSpPr txBox="1"/>
          <p:nvPr/>
        </p:nvSpPr>
        <p:spPr>
          <a:xfrm>
            <a:off x="1691640" y="2697480"/>
            <a:ext cx="2377440" cy="914400"/>
          </a:xfrm>
          <a:prstGeom prst="rect">
            <a:avLst/>
          </a:prstGeom>
          <a:noFill/>
          <a:ln/>
        </p:spPr>
        <p:txBody>
          <a:bodyPr wrap="square" lIns="0" tIns="0" rIns="0" bIns="0" rtlCol="0" anchor="ctr"/>
          <a:lstStyle/>
          <a:p>
            <a:pPr indent="0" marL="0">
              <a:buNone/>
            </a:pPr>
            <a:r>
              <a:rPr lang="en-US" sz="1500" i="1" dirty="0">
                <a:solidFill>
                  <a:srgbClr val="BFBFBF"/>
                </a:solidFill>
                <a:latin typeface="Arial" pitchFamily="34" charset="0"/>
                <a:ea typeface="Arial" pitchFamily="34" charset="-122"/>
                <a:cs typeface="Arial" pitchFamily="34" charset="-120"/>
              </a:rPr>
              <a:t>A clear problem is half the solution.</a:t>
            </a:r>
            <a:endParaRPr lang="en-US" sz="1500" dirty="0"/>
          </a:p>
        </p:txBody>
      </p:sp>
      <p:sp>
        <p:nvSpPr>
          <p:cNvPr id="8" name="Shape 4"/>
          <p:cNvSpPr/>
          <p:nvPr/>
        </p:nvSpPr>
        <p:spPr>
          <a:xfrm>
            <a:off x="4480560" y="457200"/>
            <a:ext cx="4206240" cy="4206240"/>
          </a:xfrm>
          <a:prstGeom prst="rect">
            <a:avLst/>
          </a:prstGeom>
          <a:solidFill>
            <a:srgbClr val="FFFFFF"/>
          </a:solidFill>
          <a:ln w="12700">
            <a:solidFill>
              <a:srgbClr val="FFFFFF"/>
            </a:solidFill>
            <a:prstDash val="solid"/>
          </a:ln>
        </p:spPr>
      </p:sp>
      <p:sp>
        <p:nvSpPr>
          <p:cNvPr id="9" name="Text 5"/>
          <p:cNvSpPr txBox="1"/>
          <p:nvPr/>
        </p:nvSpPr>
        <p:spPr>
          <a:xfrm>
            <a:off x="4754880" y="6858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IT MEANS</a:t>
            </a:r>
            <a:endParaRPr lang="en-US" sz="1100" dirty="0"/>
          </a:p>
        </p:txBody>
      </p:sp>
      <p:sp>
        <p:nvSpPr>
          <p:cNvPr id="10" name="Text 6"/>
          <p:cNvSpPr txBox="1"/>
          <p:nvPr/>
        </p:nvSpPr>
        <p:spPr>
          <a:xfrm>
            <a:off x="4754880" y="9601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Turn everything you learned into one short, clear problem statement that the whole team agrees on.</a:t>
            </a:r>
            <a:endParaRPr lang="en-US" sz="1400" dirty="0"/>
          </a:p>
        </p:txBody>
      </p:sp>
      <p:sp>
        <p:nvSpPr>
          <p:cNvPr id="11" name="Text 7"/>
          <p:cNvSpPr txBox="1"/>
          <p:nvPr/>
        </p:nvSpPr>
        <p:spPr>
          <a:xfrm>
            <a:off x="4754880" y="20574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THE QUESTION IT ASKS</a:t>
            </a:r>
            <a:endParaRPr lang="en-US" sz="1100" dirty="0"/>
          </a:p>
        </p:txBody>
      </p:sp>
      <p:sp>
        <p:nvSpPr>
          <p:cNvPr id="12" name="Text 8"/>
          <p:cNvSpPr txBox="1"/>
          <p:nvPr/>
        </p:nvSpPr>
        <p:spPr>
          <a:xfrm>
            <a:off x="4754880" y="23317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What is the real problem we are trying to solve?</a:t>
            </a:r>
            <a:endParaRPr lang="en-US" sz="1400" dirty="0"/>
          </a:p>
        </p:txBody>
      </p:sp>
      <p:sp>
        <p:nvSpPr>
          <p:cNvPr id="13" name="Text 9"/>
          <p:cNvSpPr txBox="1"/>
          <p:nvPr/>
        </p:nvSpPr>
        <p:spPr>
          <a:xfrm>
            <a:off x="4754880" y="34290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IN RAMER WE</a:t>
            </a:r>
            <a:endParaRPr lang="en-US" sz="1100" dirty="0"/>
          </a:p>
        </p:txBody>
      </p:sp>
      <p:sp>
        <p:nvSpPr>
          <p:cNvPr id="14" name="Text 10"/>
          <p:cNvSpPr txBox="1"/>
          <p:nvPr/>
        </p:nvSpPr>
        <p:spPr>
          <a:xfrm>
            <a:off x="4754880" y="37033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boiled the research down to a single “How might we” question and two measurable pains.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The problem, in one sentence</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02 DEFINE</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8</a:t>
            </a:r>
            <a:endParaRPr lang="en-US" sz="1000" dirty="0"/>
          </a:p>
        </p:txBody>
      </p:sp>
      <p:sp>
        <p:nvSpPr>
          <p:cNvPr id="7" name="Shape 4"/>
          <p:cNvSpPr/>
          <p:nvPr/>
        </p:nvSpPr>
        <p:spPr>
          <a:xfrm>
            <a:off x="457200" y="1188720"/>
            <a:ext cx="8229600" cy="1371600"/>
          </a:xfrm>
          <a:prstGeom prst="rect">
            <a:avLst/>
          </a:prstGeom>
          <a:solidFill>
            <a:srgbClr val="000000"/>
          </a:solidFill>
          <a:ln w="19050">
            <a:solidFill>
              <a:srgbClr val="000000"/>
            </a:solidFill>
            <a:prstDash val="solid"/>
          </a:ln>
        </p:spPr>
      </p:sp>
      <p:sp>
        <p:nvSpPr>
          <p:cNvPr id="8" name="Text 5"/>
          <p:cNvSpPr txBox="1"/>
          <p:nvPr/>
        </p:nvSpPr>
        <p:spPr>
          <a:xfrm>
            <a:off x="777240" y="1188720"/>
            <a:ext cx="7589520" cy="13716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How might we </a:t>
            </a:r>
            <a:pPr indent="0" marL="0">
              <a:buNone/>
            </a:pPr>
            <a:r>
              <a:rPr lang="en-US" sz="2200" dirty="0">
                <a:solidFill>
                  <a:srgbClr val="FFFFFF"/>
                </a:solidFill>
                <a:latin typeface="Arial" pitchFamily="34" charset="0"/>
                <a:ea typeface="Arial" pitchFamily="34" charset="-122"/>
                <a:cs typeface="Arial" pitchFamily="34" charset="-120"/>
              </a:rPr>
              <a:t>help people with ordinary GPUs run local AI agents faster, without changing how they work?</a:t>
            </a:r>
            <a:endParaRPr lang="en-US" sz="2200" dirty="0"/>
          </a:p>
        </p:txBody>
      </p:sp>
      <p:sp>
        <p:nvSpPr>
          <p:cNvPr id="9" name="Shape 6"/>
          <p:cNvSpPr/>
          <p:nvPr/>
        </p:nvSpPr>
        <p:spPr>
          <a:xfrm>
            <a:off x="457200" y="2834640"/>
            <a:ext cx="2606040" cy="1691640"/>
          </a:xfrm>
          <a:prstGeom prst="rect">
            <a:avLst/>
          </a:prstGeom>
          <a:solidFill>
            <a:srgbClr val="F2F2F2"/>
          </a:solidFill>
          <a:ln w="12700">
            <a:solidFill>
              <a:srgbClr val="F2F2F2"/>
            </a:solidFill>
            <a:prstDash val="solid"/>
          </a:ln>
        </p:spPr>
      </p:sp>
      <p:sp>
        <p:nvSpPr>
          <p:cNvPr id="10" name="Shape 7"/>
          <p:cNvSpPr/>
          <p:nvPr/>
        </p:nvSpPr>
        <p:spPr>
          <a:xfrm>
            <a:off x="685800" y="3017520"/>
            <a:ext cx="457200" cy="457200"/>
          </a:xfrm>
          <a:prstGeom prst="ellipse">
            <a:avLst/>
          </a:prstGeom>
          <a:solidFill>
            <a:srgbClr val="000000"/>
          </a:solidFill>
          <a:ln w="12700">
            <a:solidFill>
              <a:srgbClr val="000000"/>
            </a:solidFill>
            <a:prstDash val="solid"/>
          </a:ln>
        </p:spPr>
      </p:sp>
      <p:pic>
        <p:nvPicPr>
          <p:cNvPr id="11" name="Image 0" descr="preencoded.png">    </p:cNvPr>
          <p:cNvPicPr>
            <a:picLocks noChangeAspect="1"/>
          </p:cNvPicPr>
          <p:nvPr/>
        </p:nvPicPr>
        <p:blipFill>
          <a:blip r:embed="rId1"/>
          <a:stretch>
            <a:fillRect/>
          </a:stretch>
        </p:blipFill>
        <p:spPr>
          <a:xfrm>
            <a:off x="804672" y="3136392"/>
            <a:ext cx="219456" cy="219456"/>
          </a:xfrm>
          <a:prstGeom prst="rect">
            <a:avLst/>
          </a:prstGeom>
        </p:spPr>
      </p:pic>
      <p:sp>
        <p:nvSpPr>
          <p:cNvPr id="12" name="Text 8"/>
          <p:cNvSpPr txBox="1"/>
          <p:nvPr/>
        </p:nvSpPr>
        <p:spPr>
          <a:xfrm>
            <a:off x="685800" y="3611880"/>
            <a:ext cx="2194560" cy="27432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Not a new model</a:t>
            </a:r>
            <a:endParaRPr lang="en-US" sz="1500" dirty="0"/>
          </a:p>
        </p:txBody>
      </p:sp>
      <p:sp>
        <p:nvSpPr>
          <p:cNvPr id="13" name="Text 9"/>
          <p:cNvSpPr txBox="1"/>
          <p:nvPr/>
        </p:nvSpPr>
        <p:spPr>
          <a:xfrm>
            <a:off x="685800" y="3931920"/>
            <a:ext cx="2194560" cy="54864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We do not train or ship an AI model.</a:t>
            </a:r>
            <a:endParaRPr lang="en-US" sz="1200" dirty="0"/>
          </a:p>
        </p:txBody>
      </p:sp>
      <p:sp>
        <p:nvSpPr>
          <p:cNvPr id="14" name="Shape 10"/>
          <p:cNvSpPr/>
          <p:nvPr/>
        </p:nvSpPr>
        <p:spPr>
          <a:xfrm>
            <a:off x="3246120" y="2834640"/>
            <a:ext cx="2606040" cy="1691640"/>
          </a:xfrm>
          <a:prstGeom prst="rect">
            <a:avLst/>
          </a:prstGeom>
          <a:solidFill>
            <a:srgbClr val="F2F2F2"/>
          </a:solidFill>
          <a:ln w="12700">
            <a:solidFill>
              <a:srgbClr val="F2F2F2"/>
            </a:solidFill>
            <a:prstDash val="solid"/>
          </a:ln>
        </p:spPr>
      </p:sp>
      <p:sp>
        <p:nvSpPr>
          <p:cNvPr id="15" name="Shape 11"/>
          <p:cNvSpPr/>
          <p:nvPr/>
        </p:nvSpPr>
        <p:spPr>
          <a:xfrm>
            <a:off x="3474720" y="3017520"/>
            <a:ext cx="457200" cy="457200"/>
          </a:xfrm>
          <a:prstGeom prst="ellipse">
            <a:avLst/>
          </a:prstGeom>
          <a:solidFill>
            <a:srgbClr val="000000"/>
          </a:solidFill>
          <a:ln w="12700">
            <a:solidFill>
              <a:srgbClr val="000000"/>
            </a:solidFill>
            <a:prstDash val="solid"/>
          </a:ln>
        </p:spPr>
      </p:sp>
      <p:pic>
        <p:nvPicPr>
          <p:cNvPr id="16" name="Image 1" descr="preencoded.png">    </p:cNvPr>
          <p:cNvPicPr>
            <a:picLocks noChangeAspect="1"/>
          </p:cNvPicPr>
          <p:nvPr/>
        </p:nvPicPr>
        <p:blipFill>
          <a:blip r:embed="rId2"/>
          <a:stretch>
            <a:fillRect/>
          </a:stretch>
        </p:blipFill>
        <p:spPr>
          <a:xfrm>
            <a:off x="3593592" y="3136392"/>
            <a:ext cx="219456" cy="219456"/>
          </a:xfrm>
          <a:prstGeom prst="rect">
            <a:avLst/>
          </a:prstGeom>
        </p:spPr>
      </p:pic>
      <p:sp>
        <p:nvSpPr>
          <p:cNvPr id="17" name="Text 12"/>
          <p:cNvSpPr txBox="1"/>
          <p:nvPr/>
        </p:nvSpPr>
        <p:spPr>
          <a:xfrm>
            <a:off x="3474720" y="3611880"/>
            <a:ext cx="2194560" cy="27432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Not new hardware</a:t>
            </a:r>
            <a:endParaRPr lang="en-US" sz="1500" dirty="0"/>
          </a:p>
        </p:txBody>
      </p:sp>
      <p:sp>
        <p:nvSpPr>
          <p:cNvPr id="18" name="Text 13"/>
          <p:cNvSpPr txBox="1"/>
          <p:nvPr/>
        </p:nvSpPr>
        <p:spPr>
          <a:xfrm>
            <a:off x="3474720" y="3931920"/>
            <a:ext cx="2194560" cy="54864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 answer cannot be “buy a bigger GPU”.</a:t>
            </a:r>
            <a:endParaRPr lang="en-US" sz="1200" dirty="0"/>
          </a:p>
        </p:txBody>
      </p:sp>
      <p:sp>
        <p:nvSpPr>
          <p:cNvPr id="19" name="Shape 14"/>
          <p:cNvSpPr/>
          <p:nvPr/>
        </p:nvSpPr>
        <p:spPr>
          <a:xfrm>
            <a:off x="6035040" y="2834640"/>
            <a:ext cx="2606040" cy="1691640"/>
          </a:xfrm>
          <a:prstGeom prst="rect">
            <a:avLst/>
          </a:prstGeom>
          <a:solidFill>
            <a:srgbClr val="F2F2F2"/>
          </a:solidFill>
          <a:ln w="12700">
            <a:solidFill>
              <a:srgbClr val="F2F2F2"/>
            </a:solidFill>
            <a:prstDash val="solid"/>
          </a:ln>
        </p:spPr>
      </p:sp>
      <p:sp>
        <p:nvSpPr>
          <p:cNvPr id="20" name="Shape 15"/>
          <p:cNvSpPr/>
          <p:nvPr/>
        </p:nvSpPr>
        <p:spPr>
          <a:xfrm>
            <a:off x="6263640" y="3017520"/>
            <a:ext cx="457200" cy="457200"/>
          </a:xfrm>
          <a:prstGeom prst="ellipse">
            <a:avLst/>
          </a:prstGeom>
          <a:solidFill>
            <a:srgbClr val="000000"/>
          </a:solidFill>
          <a:ln w="12700">
            <a:solidFill>
              <a:srgbClr val="000000"/>
            </a:solidFill>
            <a:prstDash val="solid"/>
          </a:ln>
        </p:spPr>
      </p:sp>
      <p:pic>
        <p:nvPicPr>
          <p:cNvPr id="21" name="Image 2" descr="preencoded.png">    </p:cNvPr>
          <p:cNvPicPr>
            <a:picLocks noChangeAspect="1"/>
          </p:cNvPicPr>
          <p:nvPr/>
        </p:nvPicPr>
        <p:blipFill>
          <a:blip r:embed="rId3"/>
          <a:stretch>
            <a:fillRect/>
          </a:stretch>
        </p:blipFill>
        <p:spPr>
          <a:xfrm>
            <a:off x="6382512" y="3136392"/>
            <a:ext cx="219456" cy="219456"/>
          </a:xfrm>
          <a:prstGeom prst="rect">
            <a:avLst/>
          </a:prstGeom>
        </p:spPr>
      </p:pic>
      <p:sp>
        <p:nvSpPr>
          <p:cNvPr id="22" name="Text 16"/>
          <p:cNvSpPr txBox="1"/>
          <p:nvPr/>
        </p:nvSpPr>
        <p:spPr>
          <a:xfrm>
            <a:off x="6263640" y="3611880"/>
            <a:ext cx="2194560" cy="27432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Same workflow</a:t>
            </a:r>
            <a:endParaRPr lang="en-US" sz="1500" dirty="0"/>
          </a:p>
        </p:txBody>
      </p:sp>
      <p:sp>
        <p:nvSpPr>
          <p:cNvPr id="23" name="Text 17"/>
          <p:cNvSpPr txBox="1"/>
          <p:nvPr/>
        </p:nvSpPr>
        <p:spPr>
          <a:xfrm>
            <a:off x="6263640" y="3931920"/>
            <a:ext cx="2194560" cy="54864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Existing agent tools must keep working untouched.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Two pains, with numbers</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02 DEFINE</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9</a:t>
            </a:r>
            <a:endParaRPr lang="en-US" sz="1000" dirty="0"/>
          </a:p>
        </p:txBody>
      </p:sp>
      <p:sp>
        <p:nvSpPr>
          <p:cNvPr id="7" name="Shape 4"/>
          <p:cNvSpPr/>
          <p:nvPr/>
        </p:nvSpPr>
        <p:spPr>
          <a:xfrm>
            <a:off x="457200" y="1188720"/>
            <a:ext cx="3291840" cy="3291840"/>
          </a:xfrm>
          <a:prstGeom prst="rect">
            <a:avLst/>
          </a:prstGeom>
          <a:solidFill>
            <a:srgbClr val="FFFFFF"/>
          </a:solidFill>
          <a:ln w="19050">
            <a:solidFill>
              <a:srgbClr val="000000"/>
            </a:solidFill>
            <a:prstDash val="solid"/>
          </a:ln>
        </p:spPr>
      </p:sp>
      <p:sp>
        <p:nvSpPr>
          <p:cNvPr id="8" name="Text 5"/>
          <p:cNvSpPr txBox="1"/>
          <p:nvPr/>
        </p:nvSpPr>
        <p:spPr>
          <a:xfrm>
            <a:off x="731520" y="1371600"/>
            <a:ext cx="2743200" cy="228600"/>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PAIN 1</a:t>
            </a:r>
            <a:endParaRPr lang="en-US" sz="1100" dirty="0"/>
          </a:p>
        </p:txBody>
      </p:sp>
      <p:sp>
        <p:nvSpPr>
          <p:cNvPr id="9" name="Text 6"/>
          <p:cNvSpPr txBox="1"/>
          <p:nvPr/>
        </p:nvSpPr>
        <p:spPr>
          <a:xfrm>
            <a:off x="731520" y="1645920"/>
            <a:ext cx="2743200" cy="36576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A wasted GPU</a:t>
            </a:r>
            <a:endParaRPr lang="en-US" sz="2000" dirty="0"/>
          </a:p>
        </p:txBody>
      </p:sp>
      <p:sp>
        <p:nvSpPr>
          <p:cNvPr id="10" name="Text 7"/>
          <p:cNvSpPr txBox="1"/>
          <p:nvPr/>
        </p:nvSpPr>
        <p:spPr>
          <a:xfrm>
            <a:off x="731520" y="2148840"/>
            <a:ext cx="2743200" cy="822960"/>
          </a:xfrm>
          <a:prstGeom prst="rect">
            <a:avLst/>
          </a:prstGeom>
          <a:noFill/>
          <a:ln/>
        </p:spPr>
        <p:txBody>
          <a:bodyPr wrap="square" lIns="0" tIns="0" rIns="0" bIns="0" rtlCol="0" anchor="ctr"/>
          <a:lstStyle/>
          <a:p>
            <a:pPr indent="0" marL="0">
              <a:buNone/>
            </a:pPr>
            <a:r>
              <a:rPr lang="en-US" sz="5400" b="1" dirty="0">
                <a:solidFill>
                  <a:srgbClr val="000000"/>
                </a:solidFill>
                <a:latin typeface="Arial" pitchFamily="34" charset="0"/>
                <a:ea typeface="Arial" pitchFamily="34" charset="-122"/>
                <a:cs typeface="Arial" pitchFamily="34" charset="-120"/>
              </a:rPr>
              <a:t>12.4</a:t>
            </a:r>
            <a:endParaRPr lang="en-US" sz="5400" dirty="0"/>
          </a:p>
        </p:txBody>
      </p:sp>
      <p:sp>
        <p:nvSpPr>
          <p:cNvPr id="11" name="Text 8"/>
          <p:cNvSpPr txBox="1"/>
          <p:nvPr/>
        </p:nvSpPr>
        <p:spPr>
          <a:xfrm>
            <a:off x="731520" y="3017520"/>
            <a:ext cx="2743200" cy="731520"/>
          </a:xfrm>
          <a:prstGeom prst="rect">
            <a:avLst/>
          </a:prstGeom>
          <a:noFill/>
          <a:ln/>
        </p:spPr>
        <p:txBody>
          <a:bodyPr wrap="square" lIns="0" tIns="0" rIns="0" bIns="0" rtlCol="0" anchor="t"/>
          <a:lstStyle/>
          <a:p>
            <a:pPr indent="0" marL="0">
              <a:buNone/>
            </a:pPr>
            <a:r>
              <a:rPr lang="en-US" sz="1300" dirty="0">
                <a:solidFill>
                  <a:srgbClr val="262626"/>
                </a:solidFill>
                <a:latin typeface="Arial" pitchFamily="34" charset="0"/>
                <a:ea typeface="Arial" pitchFamily="34" charset="-122"/>
                <a:cs typeface="Arial" pitchFamily="34" charset="-120"/>
              </a:rPr>
              <a:t>tokens per second with Ollama's default on a 14B model</a:t>
            </a:r>
            <a:endParaRPr lang="en-US" sz="1300" dirty="0"/>
          </a:p>
        </p:txBody>
      </p:sp>
      <p:sp>
        <p:nvSpPr>
          <p:cNvPr id="12" name="Text 9"/>
          <p:cNvSpPr txBox="1"/>
          <p:nvPr/>
        </p:nvSpPr>
        <p:spPr>
          <a:xfrm>
            <a:off x="731520" y="3749040"/>
            <a:ext cx="2743200" cy="548640"/>
          </a:xfrm>
          <a:prstGeom prst="rect">
            <a:avLst/>
          </a:prstGeom>
          <a:noFill/>
          <a:ln/>
        </p:spPr>
        <p:txBody>
          <a:bodyPr wrap="square" lIns="0" tIns="0" rIns="0" bIns="0" rtlCol="0" anchor="t"/>
          <a:lstStyle/>
          <a:p>
            <a:pPr indent="0" marL="0">
              <a:buNone/>
            </a:pPr>
            <a:r>
              <a:rPr lang="en-US" sz="1200" i="1" dirty="0">
                <a:solidFill>
                  <a:srgbClr val="595959"/>
                </a:solidFill>
                <a:latin typeface="Arial" pitchFamily="34" charset="0"/>
                <a:ea typeface="Arial" pitchFamily="34" charset="-122"/>
                <a:cs typeface="Arial" pitchFamily="34" charset="-120"/>
              </a:rPr>
              <a:t>The default placement is safe, not fast.</a:t>
            </a:r>
            <a:endParaRPr lang="en-US" sz="1200" dirty="0"/>
          </a:p>
        </p:txBody>
      </p:sp>
      <p:sp>
        <p:nvSpPr>
          <p:cNvPr id="13" name="Text 10"/>
          <p:cNvSpPr txBox="1"/>
          <p:nvPr/>
        </p:nvSpPr>
        <p:spPr>
          <a:xfrm>
            <a:off x="4023360" y="1234440"/>
            <a:ext cx="4663440" cy="228600"/>
          </a:xfrm>
          <a:prstGeom prst="rect">
            <a:avLst/>
          </a:prstGeom>
          <a:noFill/>
          <a:ln/>
        </p:spPr>
        <p:txBody>
          <a:bodyPr wrap="square" lIns="0" tIns="0" rIns="0" bIns="0" rtlCol="0" anchor="ctr"/>
          <a:lstStyle/>
          <a:p>
            <a:pPr indent="0" marL="0">
              <a:buNone/>
            </a:pPr>
            <a:r>
              <a:rPr lang="en-US" sz="1100" b="1" spc="100" kern="0" dirty="0">
                <a:solidFill>
                  <a:srgbClr val="8C8C8C"/>
                </a:solidFill>
                <a:latin typeface="Arial" pitchFamily="34" charset="0"/>
                <a:ea typeface="Arial" pitchFamily="34" charset="-122"/>
                <a:cs typeface="Arial" pitchFamily="34" charset="-120"/>
              </a:rPr>
              <a:t>PAIN 2 · FOUR AGENTS AT ONCE, NO COORDINATION</a:t>
            </a:r>
            <a:endParaRPr lang="en-US" sz="1100" dirty="0"/>
          </a:p>
        </p:txBody>
      </p:sp>
      <p:graphicFrame>
        <p:nvGraphicFramePr>
          <p:cNvPr id="14" name="Chart 0" descr=""/>
          <p:cNvGraphicFramePr/>
          <p:nvPr/>
        </p:nvGraphicFramePr>
        <p:xfrm>
          <a:off x="3931920" y="1463040"/>
          <a:ext cx="4846320" cy="30175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3" name="Text 0"/>
          <p:cNvSpPr txBox="1"/>
          <p:nvPr/>
        </p:nvSpPr>
        <p:spPr>
          <a:xfrm>
            <a:off x="548640" y="457200"/>
            <a:ext cx="2743200" cy="1280160"/>
          </a:xfrm>
          <a:prstGeom prst="rect">
            <a:avLst/>
          </a:prstGeom>
          <a:noFill/>
          <a:ln/>
        </p:spPr>
        <p:txBody>
          <a:bodyPr wrap="square" lIns="0" tIns="0" rIns="0" bIns="0" rtlCol="0" anchor="b"/>
          <a:lstStyle/>
          <a:p>
            <a:pPr indent="0" marL="0">
              <a:buNone/>
            </a:pPr>
            <a:r>
              <a:rPr lang="en-US" sz="9600" b="1" dirty="0">
                <a:solidFill>
                  <a:srgbClr val="FFFFFF"/>
                </a:solidFill>
                <a:latin typeface="Arial" pitchFamily="34" charset="0"/>
                <a:ea typeface="Arial" pitchFamily="34" charset="-122"/>
                <a:cs typeface="Arial" pitchFamily="34" charset="-120"/>
              </a:rPr>
              <a:t>03</a:t>
            </a:r>
            <a:endParaRPr lang="en-US" sz="9600" dirty="0"/>
          </a:p>
        </p:txBody>
      </p:sp>
      <p:sp>
        <p:nvSpPr>
          <p:cNvPr id="4" name="Text 1"/>
          <p:cNvSpPr txBox="1"/>
          <p:nvPr/>
        </p:nvSpPr>
        <p:spPr>
          <a:xfrm>
            <a:off x="548640" y="1783080"/>
            <a:ext cx="3657600" cy="6400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Ideate</a:t>
            </a:r>
            <a:endParaRPr lang="en-US" sz="4000" dirty="0"/>
          </a:p>
        </p:txBody>
      </p:sp>
      <p:sp>
        <p:nvSpPr>
          <p:cNvPr id="5" name="Shape 2"/>
          <p:cNvSpPr/>
          <p:nvPr/>
        </p:nvSpPr>
        <p:spPr>
          <a:xfrm>
            <a:off x="548640" y="2697480"/>
            <a:ext cx="914400" cy="9144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86384" y="2935224"/>
            <a:ext cx="438912" cy="438912"/>
          </a:xfrm>
          <a:prstGeom prst="rect">
            <a:avLst/>
          </a:prstGeom>
        </p:spPr>
      </p:pic>
      <p:sp>
        <p:nvSpPr>
          <p:cNvPr id="7" name="Text 3"/>
          <p:cNvSpPr txBox="1"/>
          <p:nvPr/>
        </p:nvSpPr>
        <p:spPr>
          <a:xfrm>
            <a:off x="1691640" y="2697480"/>
            <a:ext cx="2377440" cy="914400"/>
          </a:xfrm>
          <a:prstGeom prst="rect">
            <a:avLst/>
          </a:prstGeom>
          <a:noFill/>
          <a:ln/>
        </p:spPr>
        <p:txBody>
          <a:bodyPr wrap="square" lIns="0" tIns="0" rIns="0" bIns="0" rtlCol="0" anchor="ctr"/>
          <a:lstStyle/>
          <a:p>
            <a:pPr indent="0" marL="0">
              <a:buNone/>
            </a:pPr>
            <a:r>
              <a:rPr lang="en-US" sz="1500" i="1" dirty="0">
                <a:solidFill>
                  <a:srgbClr val="BFBFBF"/>
                </a:solidFill>
                <a:latin typeface="Arial" pitchFamily="34" charset="0"/>
                <a:ea typeface="Arial" pitchFamily="34" charset="-122"/>
                <a:cs typeface="Arial" pitchFamily="34" charset="-120"/>
              </a:rPr>
              <a:t>Go wide first, then choose.</a:t>
            </a:r>
            <a:endParaRPr lang="en-US" sz="1500" dirty="0"/>
          </a:p>
        </p:txBody>
      </p:sp>
      <p:sp>
        <p:nvSpPr>
          <p:cNvPr id="8" name="Shape 4"/>
          <p:cNvSpPr/>
          <p:nvPr/>
        </p:nvSpPr>
        <p:spPr>
          <a:xfrm>
            <a:off x="4480560" y="457200"/>
            <a:ext cx="4206240" cy="4206240"/>
          </a:xfrm>
          <a:prstGeom prst="rect">
            <a:avLst/>
          </a:prstGeom>
          <a:solidFill>
            <a:srgbClr val="FFFFFF"/>
          </a:solidFill>
          <a:ln w="12700">
            <a:solidFill>
              <a:srgbClr val="FFFFFF"/>
            </a:solidFill>
            <a:prstDash val="solid"/>
          </a:ln>
        </p:spPr>
      </p:sp>
      <p:sp>
        <p:nvSpPr>
          <p:cNvPr id="9" name="Text 5"/>
          <p:cNvSpPr txBox="1"/>
          <p:nvPr/>
        </p:nvSpPr>
        <p:spPr>
          <a:xfrm>
            <a:off x="4754880" y="6858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IT MEANS</a:t>
            </a:r>
            <a:endParaRPr lang="en-US" sz="1100" dirty="0"/>
          </a:p>
        </p:txBody>
      </p:sp>
      <p:sp>
        <p:nvSpPr>
          <p:cNvPr id="10" name="Text 6"/>
          <p:cNvSpPr txBox="1"/>
          <p:nvPr/>
        </p:nvSpPr>
        <p:spPr>
          <a:xfrm>
            <a:off x="4754880" y="9601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Come up with as many possible solutions as you can, even bad ones. Only after that, pick the best.</a:t>
            </a:r>
            <a:endParaRPr lang="en-US" sz="1400" dirty="0"/>
          </a:p>
        </p:txBody>
      </p:sp>
      <p:sp>
        <p:nvSpPr>
          <p:cNvPr id="11" name="Text 7"/>
          <p:cNvSpPr txBox="1"/>
          <p:nvPr/>
        </p:nvSpPr>
        <p:spPr>
          <a:xfrm>
            <a:off x="4754880" y="20574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THE QUESTION IT ASKS</a:t>
            </a:r>
            <a:endParaRPr lang="en-US" sz="1100" dirty="0"/>
          </a:p>
        </p:txBody>
      </p:sp>
      <p:sp>
        <p:nvSpPr>
          <p:cNvPr id="12" name="Text 8"/>
          <p:cNvSpPr txBox="1"/>
          <p:nvPr/>
        </p:nvSpPr>
        <p:spPr>
          <a:xfrm>
            <a:off x="4754880" y="23317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What are all the ways we could solve this?</a:t>
            </a:r>
            <a:endParaRPr lang="en-US" sz="1400" dirty="0"/>
          </a:p>
        </p:txBody>
      </p:sp>
      <p:sp>
        <p:nvSpPr>
          <p:cNvPr id="13" name="Text 9"/>
          <p:cNvSpPr txBox="1"/>
          <p:nvPr/>
        </p:nvSpPr>
        <p:spPr>
          <a:xfrm>
            <a:off x="4754880" y="34290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IN RAMER WE</a:t>
            </a:r>
            <a:endParaRPr lang="en-US" sz="1100" dirty="0"/>
          </a:p>
        </p:txBody>
      </p:sp>
      <p:sp>
        <p:nvSpPr>
          <p:cNvPr id="14" name="Text 10"/>
          <p:cNvSpPr txBox="1"/>
          <p:nvPr/>
        </p:nvSpPr>
        <p:spPr>
          <a:xfrm>
            <a:off x="4754880" y="37033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listed six different ideas, tested the promising ones, and dropped four with honest reasons.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Six ideas, two winners</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03 IDEATE</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11</a:t>
            </a:r>
            <a:endParaRPr lang="en-US" sz="1000" dirty="0"/>
          </a:p>
        </p:txBody>
      </p:sp>
      <p:sp>
        <p:nvSpPr>
          <p:cNvPr id="7" name="Shape 4"/>
          <p:cNvSpPr/>
          <p:nvPr/>
        </p:nvSpPr>
        <p:spPr>
          <a:xfrm>
            <a:off x="457200" y="1188720"/>
            <a:ext cx="2606040" cy="1554480"/>
          </a:xfrm>
          <a:prstGeom prst="rect">
            <a:avLst/>
          </a:prstGeom>
          <a:solidFill>
            <a:srgbClr val="FFFFFF"/>
          </a:solidFill>
          <a:ln w="19050">
            <a:solidFill>
              <a:srgbClr val="BFBFBF"/>
            </a:solidFill>
            <a:prstDash val="solid"/>
          </a:ln>
        </p:spPr>
      </p:sp>
      <p:pic>
        <p:nvPicPr>
          <p:cNvPr id="8" name="Image 0" descr="preencoded.png">    </p:cNvPr>
          <p:cNvPicPr>
            <a:picLocks noChangeAspect="1"/>
          </p:cNvPicPr>
          <p:nvPr/>
        </p:nvPicPr>
        <p:blipFill>
          <a:blip r:embed="rId1"/>
          <a:stretch>
            <a:fillRect/>
          </a:stretch>
        </p:blipFill>
        <p:spPr>
          <a:xfrm>
            <a:off x="685800" y="1389888"/>
            <a:ext cx="256032" cy="256032"/>
          </a:xfrm>
          <a:prstGeom prst="rect">
            <a:avLst/>
          </a:prstGeom>
        </p:spPr>
      </p:pic>
      <p:sp>
        <p:nvSpPr>
          <p:cNvPr id="9" name="Text 5"/>
          <p:cNvSpPr txBox="1"/>
          <p:nvPr/>
        </p:nvSpPr>
        <p:spPr>
          <a:xfrm>
            <a:off x="1051560" y="1371600"/>
            <a:ext cx="1371600" cy="292608"/>
          </a:xfrm>
          <a:prstGeom prst="rect">
            <a:avLst/>
          </a:prstGeom>
          <a:noFill/>
          <a:ln/>
        </p:spPr>
        <p:txBody>
          <a:bodyPr wrap="square" lIns="0" tIns="0" rIns="0" bIns="0" rtlCol="0" anchor="ctr"/>
          <a:lstStyle/>
          <a:p>
            <a:pPr indent="0" marL="0">
              <a:buNone/>
            </a:pPr>
            <a:r>
              <a:rPr lang="en-US" sz="1100" b="1" spc="100" kern="0" dirty="0">
                <a:solidFill>
                  <a:srgbClr val="8C8C8C"/>
                </a:solidFill>
                <a:latin typeface="Arial" pitchFamily="34" charset="0"/>
                <a:ea typeface="Arial" pitchFamily="34" charset="-122"/>
                <a:cs typeface="Arial" pitchFamily="34" charset="-120"/>
              </a:rPr>
              <a:t>DROPPED</a:t>
            </a:r>
            <a:endParaRPr lang="en-US" sz="1100" dirty="0"/>
          </a:p>
        </p:txBody>
      </p:sp>
      <p:sp>
        <p:nvSpPr>
          <p:cNvPr id="10" name="Text 6"/>
          <p:cNvSpPr txBox="1"/>
          <p:nvPr/>
        </p:nvSpPr>
        <p:spPr>
          <a:xfrm>
            <a:off x="685800" y="1783080"/>
            <a:ext cx="2194560" cy="32004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Buy a bigger GPU</a:t>
            </a:r>
            <a:endParaRPr lang="en-US" sz="1500" dirty="0"/>
          </a:p>
        </p:txBody>
      </p:sp>
      <p:sp>
        <p:nvSpPr>
          <p:cNvPr id="11" name="Text 7"/>
          <p:cNvSpPr txBox="1"/>
          <p:nvPr/>
        </p:nvSpPr>
        <p:spPr>
          <a:xfrm>
            <a:off x="685800" y="2103120"/>
            <a:ext cx="2194560" cy="548640"/>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Costs money. Users want to use what they already own.</a:t>
            </a:r>
            <a:endParaRPr lang="en-US" sz="1200" dirty="0"/>
          </a:p>
        </p:txBody>
      </p:sp>
      <p:sp>
        <p:nvSpPr>
          <p:cNvPr id="12" name="Shape 8"/>
          <p:cNvSpPr/>
          <p:nvPr/>
        </p:nvSpPr>
        <p:spPr>
          <a:xfrm>
            <a:off x="3246120" y="1188720"/>
            <a:ext cx="2606040" cy="1554480"/>
          </a:xfrm>
          <a:prstGeom prst="rect">
            <a:avLst/>
          </a:prstGeom>
          <a:solidFill>
            <a:srgbClr val="FFFFFF"/>
          </a:solidFill>
          <a:ln w="19050">
            <a:solidFill>
              <a:srgbClr val="BFBFBF"/>
            </a:solidFill>
            <a:prstDash val="solid"/>
          </a:ln>
        </p:spPr>
      </p:sp>
      <p:pic>
        <p:nvPicPr>
          <p:cNvPr id="13" name="Image 1" descr="preencoded.png">    </p:cNvPr>
          <p:cNvPicPr>
            <a:picLocks noChangeAspect="1"/>
          </p:cNvPicPr>
          <p:nvPr/>
        </p:nvPicPr>
        <p:blipFill>
          <a:blip r:embed="rId2"/>
          <a:stretch>
            <a:fillRect/>
          </a:stretch>
        </p:blipFill>
        <p:spPr>
          <a:xfrm>
            <a:off x="3474720" y="1389888"/>
            <a:ext cx="256032" cy="256032"/>
          </a:xfrm>
          <a:prstGeom prst="rect">
            <a:avLst/>
          </a:prstGeom>
        </p:spPr>
      </p:pic>
      <p:sp>
        <p:nvSpPr>
          <p:cNvPr id="14" name="Text 9"/>
          <p:cNvSpPr txBox="1"/>
          <p:nvPr/>
        </p:nvSpPr>
        <p:spPr>
          <a:xfrm>
            <a:off x="3840480" y="1371600"/>
            <a:ext cx="1371600" cy="292608"/>
          </a:xfrm>
          <a:prstGeom prst="rect">
            <a:avLst/>
          </a:prstGeom>
          <a:noFill/>
          <a:ln/>
        </p:spPr>
        <p:txBody>
          <a:bodyPr wrap="square" lIns="0" tIns="0" rIns="0" bIns="0" rtlCol="0" anchor="ctr"/>
          <a:lstStyle/>
          <a:p>
            <a:pPr indent="0" marL="0">
              <a:buNone/>
            </a:pPr>
            <a:r>
              <a:rPr lang="en-US" sz="1100" b="1" spc="100" kern="0" dirty="0">
                <a:solidFill>
                  <a:srgbClr val="8C8C8C"/>
                </a:solidFill>
                <a:latin typeface="Arial" pitchFamily="34" charset="0"/>
                <a:ea typeface="Arial" pitchFamily="34" charset="-122"/>
                <a:cs typeface="Arial" pitchFamily="34" charset="-120"/>
              </a:rPr>
              <a:t>DROPPED</a:t>
            </a:r>
            <a:endParaRPr lang="en-US" sz="1100" dirty="0"/>
          </a:p>
        </p:txBody>
      </p:sp>
      <p:sp>
        <p:nvSpPr>
          <p:cNvPr id="15" name="Text 10"/>
          <p:cNvSpPr txBox="1"/>
          <p:nvPr/>
        </p:nvSpPr>
        <p:spPr>
          <a:xfrm>
            <a:off x="3474720" y="1783080"/>
            <a:ext cx="2194560" cy="32004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Memory tiering</a:t>
            </a:r>
            <a:endParaRPr lang="en-US" sz="1500" dirty="0"/>
          </a:p>
        </p:txBody>
      </p:sp>
      <p:sp>
        <p:nvSpPr>
          <p:cNvPr id="16" name="Text 11"/>
          <p:cNvSpPr txBox="1"/>
          <p:nvPr/>
        </p:nvSpPr>
        <p:spPr>
          <a:xfrm>
            <a:off x="3474720" y="2103120"/>
            <a:ext cx="2194560" cy="548640"/>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A 10-phase research project. The gains did not hold up.</a:t>
            </a:r>
            <a:endParaRPr lang="en-US" sz="1200" dirty="0"/>
          </a:p>
        </p:txBody>
      </p:sp>
      <p:sp>
        <p:nvSpPr>
          <p:cNvPr id="17" name="Shape 12"/>
          <p:cNvSpPr/>
          <p:nvPr/>
        </p:nvSpPr>
        <p:spPr>
          <a:xfrm>
            <a:off x="6035040" y="1188720"/>
            <a:ext cx="2606040" cy="1554480"/>
          </a:xfrm>
          <a:prstGeom prst="rect">
            <a:avLst/>
          </a:prstGeom>
          <a:solidFill>
            <a:srgbClr val="FFFFFF"/>
          </a:solidFill>
          <a:ln w="19050">
            <a:solidFill>
              <a:srgbClr val="BFBFBF"/>
            </a:solidFill>
            <a:prstDash val="solid"/>
          </a:ln>
        </p:spPr>
      </p:sp>
      <p:pic>
        <p:nvPicPr>
          <p:cNvPr id="18" name="Image 2" descr="preencoded.png">    </p:cNvPr>
          <p:cNvPicPr>
            <a:picLocks noChangeAspect="1"/>
          </p:cNvPicPr>
          <p:nvPr/>
        </p:nvPicPr>
        <p:blipFill>
          <a:blip r:embed="rId3"/>
          <a:stretch>
            <a:fillRect/>
          </a:stretch>
        </p:blipFill>
        <p:spPr>
          <a:xfrm>
            <a:off x="6263640" y="1389888"/>
            <a:ext cx="256032" cy="256032"/>
          </a:xfrm>
          <a:prstGeom prst="rect">
            <a:avLst/>
          </a:prstGeom>
        </p:spPr>
      </p:pic>
      <p:sp>
        <p:nvSpPr>
          <p:cNvPr id="19" name="Text 13"/>
          <p:cNvSpPr txBox="1"/>
          <p:nvPr/>
        </p:nvSpPr>
        <p:spPr>
          <a:xfrm>
            <a:off x="6629400" y="1371600"/>
            <a:ext cx="1371600" cy="292608"/>
          </a:xfrm>
          <a:prstGeom prst="rect">
            <a:avLst/>
          </a:prstGeom>
          <a:noFill/>
          <a:ln/>
        </p:spPr>
        <p:txBody>
          <a:bodyPr wrap="square" lIns="0" tIns="0" rIns="0" bIns="0" rtlCol="0" anchor="ctr"/>
          <a:lstStyle/>
          <a:p>
            <a:pPr indent="0" marL="0">
              <a:buNone/>
            </a:pPr>
            <a:r>
              <a:rPr lang="en-US" sz="1100" b="1" spc="100" kern="0" dirty="0">
                <a:solidFill>
                  <a:srgbClr val="8C8C8C"/>
                </a:solidFill>
                <a:latin typeface="Arial" pitchFamily="34" charset="0"/>
                <a:ea typeface="Arial" pitchFamily="34" charset="-122"/>
                <a:cs typeface="Arial" pitchFamily="34" charset="-120"/>
              </a:rPr>
              <a:t>DROPPED</a:t>
            </a:r>
            <a:endParaRPr lang="en-US" sz="1100" dirty="0"/>
          </a:p>
        </p:txBody>
      </p:sp>
      <p:sp>
        <p:nvSpPr>
          <p:cNvPr id="20" name="Text 14"/>
          <p:cNvSpPr txBox="1"/>
          <p:nvPr/>
        </p:nvSpPr>
        <p:spPr>
          <a:xfrm>
            <a:off x="6263640" y="1783080"/>
            <a:ext cx="2194560" cy="32004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MoE expert placement</a:t>
            </a:r>
            <a:endParaRPr lang="en-US" sz="1500" dirty="0"/>
          </a:p>
        </p:txBody>
      </p:sp>
      <p:sp>
        <p:nvSpPr>
          <p:cNvPr id="21" name="Text 15"/>
          <p:cNvSpPr txBox="1"/>
          <p:nvPr/>
        </p:nvSpPr>
        <p:spPr>
          <a:xfrm>
            <a:off x="6263640" y="2103120"/>
            <a:ext cx="2194560" cy="548640"/>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Real win, but Ollama's API cannot reach it.</a:t>
            </a:r>
            <a:endParaRPr lang="en-US" sz="1200" dirty="0"/>
          </a:p>
        </p:txBody>
      </p:sp>
      <p:sp>
        <p:nvSpPr>
          <p:cNvPr id="22" name="Shape 16"/>
          <p:cNvSpPr/>
          <p:nvPr/>
        </p:nvSpPr>
        <p:spPr>
          <a:xfrm>
            <a:off x="457200" y="2880360"/>
            <a:ext cx="2606040" cy="1554480"/>
          </a:xfrm>
          <a:prstGeom prst="rect">
            <a:avLst/>
          </a:prstGeom>
          <a:solidFill>
            <a:srgbClr val="FFFFFF"/>
          </a:solidFill>
          <a:ln w="19050">
            <a:solidFill>
              <a:srgbClr val="BFBFBF"/>
            </a:solidFill>
            <a:prstDash val="solid"/>
          </a:ln>
        </p:spPr>
      </p:sp>
      <p:pic>
        <p:nvPicPr>
          <p:cNvPr id="23" name="Image 3" descr="preencoded.png">    </p:cNvPr>
          <p:cNvPicPr>
            <a:picLocks noChangeAspect="1"/>
          </p:cNvPicPr>
          <p:nvPr/>
        </p:nvPicPr>
        <p:blipFill>
          <a:blip r:embed="rId4"/>
          <a:stretch>
            <a:fillRect/>
          </a:stretch>
        </p:blipFill>
        <p:spPr>
          <a:xfrm>
            <a:off x="685800" y="3081528"/>
            <a:ext cx="256032" cy="256032"/>
          </a:xfrm>
          <a:prstGeom prst="rect">
            <a:avLst/>
          </a:prstGeom>
        </p:spPr>
      </p:pic>
      <p:sp>
        <p:nvSpPr>
          <p:cNvPr id="24" name="Text 17"/>
          <p:cNvSpPr txBox="1"/>
          <p:nvPr/>
        </p:nvSpPr>
        <p:spPr>
          <a:xfrm>
            <a:off x="1051560" y="3063240"/>
            <a:ext cx="1371600" cy="292608"/>
          </a:xfrm>
          <a:prstGeom prst="rect">
            <a:avLst/>
          </a:prstGeom>
          <a:noFill/>
          <a:ln/>
        </p:spPr>
        <p:txBody>
          <a:bodyPr wrap="square" lIns="0" tIns="0" rIns="0" bIns="0" rtlCol="0" anchor="ctr"/>
          <a:lstStyle/>
          <a:p>
            <a:pPr indent="0" marL="0">
              <a:buNone/>
            </a:pPr>
            <a:r>
              <a:rPr lang="en-US" sz="1100" b="1" spc="100" kern="0" dirty="0">
                <a:solidFill>
                  <a:srgbClr val="8C8C8C"/>
                </a:solidFill>
                <a:latin typeface="Arial" pitchFamily="34" charset="0"/>
                <a:ea typeface="Arial" pitchFamily="34" charset="-122"/>
                <a:cs typeface="Arial" pitchFamily="34" charset="-120"/>
              </a:rPr>
              <a:t>DROPPED</a:t>
            </a:r>
            <a:endParaRPr lang="en-US" sz="1100" dirty="0"/>
          </a:p>
        </p:txBody>
      </p:sp>
      <p:sp>
        <p:nvSpPr>
          <p:cNvPr id="25" name="Text 18"/>
          <p:cNvSpPr txBox="1"/>
          <p:nvPr/>
        </p:nvSpPr>
        <p:spPr>
          <a:xfrm>
            <a:off x="685800" y="3474720"/>
            <a:ext cx="2194560" cy="32004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Shared model memory</a:t>
            </a:r>
            <a:endParaRPr lang="en-US" sz="1500" dirty="0"/>
          </a:p>
        </p:txBody>
      </p:sp>
      <p:sp>
        <p:nvSpPr>
          <p:cNvPr id="26" name="Text 19"/>
          <p:cNvSpPr txBox="1"/>
          <p:nvPr/>
        </p:nvSpPr>
        <p:spPr>
          <a:xfrm>
            <a:off x="685800" y="3794760"/>
            <a:ext cx="2194560" cy="548640"/>
          </a:xfrm>
          <a:prstGeom prst="rect">
            <a:avLst/>
          </a:prstGeom>
          <a:noFill/>
          <a:ln/>
        </p:spPr>
        <p:txBody>
          <a:bodyPr wrap="square" lIns="0" tIns="0" rIns="0" bIns="0" rtlCol="0" anchor="t"/>
          <a:lstStyle/>
          <a:p>
            <a:pPr indent="0" marL="0">
              <a:buNone/>
            </a:pPr>
            <a:r>
              <a:rPr lang="en-US" sz="1200" dirty="0">
                <a:solidFill>
                  <a:srgbClr val="595959"/>
                </a:solidFill>
                <a:latin typeface="Arial" pitchFamily="34" charset="0"/>
                <a:ea typeface="Arial" pitchFamily="34" charset="-122"/>
                <a:cs typeface="Arial" pitchFamily="34" charset="-120"/>
              </a:rPr>
              <a:t>Ollama already handles this well enough.</a:t>
            </a:r>
            <a:endParaRPr lang="en-US" sz="1200" dirty="0"/>
          </a:p>
        </p:txBody>
      </p:sp>
      <p:sp>
        <p:nvSpPr>
          <p:cNvPr id="27" name="Shape 20"/>
          <p:cNvSpPr/>
          <p:nvPr/>
        </p:nvSpPr>
        <p:spPr>
          <a:xfrm>
            <a:off x="3246120" y="2880360"/>
            <a:ext cx="2606040" cy="1554480"/>
          </a:xfrm>
          <a:prstGeom prst="rect">
            <a:avLst/>
          </a:prstGeom>
          <a:solidFill>
            <a:srgbClr val="000000"/>
          </a:solidFill>
          <a:ln w="19050">
            <a:solidFill>
              <a:srgbClr val="000000"/>
            </a:solidFill>
            <a:prstDash val="solid"/>
          </a:ln>
        </p:spPr>
      </p:sp>
      <p:pic>
        <p:nvPicPr>
          <p:cNvPr id="28" name="Image 4" descr="preencoded.png">    </p:cNvPr>
          <p:cNvPicPr>
            <a:picLocks noChangeAspect="1"/>
          </p:cNvPicPr>
          <p:nvPr/>
        </p:nvPicPr>
        <p:blipFill>
          <a:blip r:embed="rId5"/>
          <a:stretch>
            <a:fillRect/>
          </a:stretch>
        </p:blipFill>
        <p:spPr>
          <a:xfrm>
            <a:off x="3474720" y="3081528"/>
            <a:ext cx="256032" cy="256032"/>
          </a:xfrm>
          <a:prstGeom prst="rect">
            <a:avLst/>
          </a:prstGeom>
        </p:spPr>
      </p:pic>
      <p:sp>
        <p:nvSpPr>
          <p:cNvPr id="29" name="Text 21"/>
          <p:cNvSpPr txBox="1"/>
          <p:nvPr/>
        </p:nvSpPr>
        <p:spPr>
          <a:xfrm>
            <a:off x="3840480" y="3063240"/>
            <a:ext cx="1371600" cy="292608"/>
          </a:xfrm>
          <a:prstGeom prst="rect">
            <a:avLst/>
          </a:prstGeom>
          <a:noFill/>
          <a:ln/>
        </p:spPr>
        <p:txBody>
          <a:bodyPr wrap="square" lIns="0" tIns="0" rIns="0" bIns="0" rtlCol="0" anchor="ctr"/>
          <a:lstStyle/>
          <a:p>
            <a:pPr indent="0" marL="0">
              <a:buNone/>
            </a:pPr>
            <a:r>
              <a:rPr lang="en-US" sz="1100" b="1" spc="100" kern="0" dirty="0">
                <a:solidFill>
                  <a:srgbClr val="BFBFBF"/>
                </a:solidFill>
                <a:latin typeface="Arial" pitchFamily="34" charset="0"/>
                <a:ea typeface="Arial" pitchFamily="34" charset="-122"/>
                <a:cs typeface="Arial" pitchFamily="34" charset="-120"/>
              </a:rPr>
              <a:t>CHOSEN</a:t>
            </a:r>
            <a:endParaRPr lang="en-US" sz="1100" dirty="0"/>
          </a:p>
        </p:txBody>
      </p:sp>
      <p:sp>
        <p:nvSpPr>
          <p:cNvPr id="30" name="Text 22"/>
          <p:cNvSpPr txBox="1"/>
          <p:nvPr/>
        </p:nvSpPr>
        <p:spPr>
          <a:xfrm>
            <a:off x="3474720" y="3474720"/>
            <a:ext cx="219456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Smart layer placement</a:t>
            </a:r>
            <a:endParaRPr lang="en-US" sz="1500" dirty="0"/>
          </a:p>
        </p:txBody>
      </p:sp>
      <p:sp>
        <p:nvSpPr>
          <p:cNvPr id="31" name="Text 23"/>
          <p:cNvSpPr txBox="1"/>
          <p:nvPr/>
        </p:nvSpPr>
        <p:spPr>
          <a:xfrm>
            <a:off x="3474720" y="3794760"/>
            <a:ext cx="2194560" cy="548640"/>
          </a:xfrm>
          <a:prstGeom prst="rect">
            <a:avLst/>
          </a:prstGeom>
          <a:noFill/>
          <a:ln/>
        </p:spPr>
        <p:txBody>
          <a:bodyPr wrap="square" lIns="0" tIns="0" rIns="0" bIns="0" rtlCol="0" anchor="t"/>
          <a:lstStyle/>
          <a:p>
            <a:pPr indent="0" marL="0">
              <a:buNone/>
            </a:pPr>
            <a:r>
              <a:rPr lang="en-US" sz="1200" dirty="0">
                <a:solidFill>
                  <a:srgbClr val="D9D9D9"/>
                </a:solidFill>
                <a:latin typeface="Arial" pitchFamily="34" charset="0"/>
                <a:ea typeface="Arial" pitchFamily="34" charset="-122"/>
                <a:cs typeface="Arial" pitchFamily="34" charset="-120"/>
              </a:rPr>
              <a:t>Find the best GPU and CPU split per model and context.</a:t>
            </a:r>
            <a:endParaRPr lang="en-US" sz="1200" dirty="0"/>
          </a:p>
        </p:txBody>
      </p:sp>
      <p:sp>
        <p:nvSpPr>
          <p:cNvPr id="32" name="Shape 24"/>
          <p:cNvSpPr/>
          <p:nvPr/>
        </p:nvSpPr>
        <p:spPr>
          <a:xfrm>
            <a:off x="6035040" y="2880360"/>
            <a:ext cx="2606040" cy="1554480"/>
          </a:xfrm>
          <a:prstGeom prst="rect">
            <a:avLst/>
          </a:prstGeom>
          <a:solidFill>
            <a:srgbClr val="000000"/>
          </a:solidFill>
          <a:ln w="19050">
            <a:solidFill>
              <a:srgbClr val="000000"/>
            </a:solidFill>
            <a:prstDash val="solid"/>
          </a:ln>
        </p:spPr>
      </p:sp>
      <p:pic>
        <p:nvPicPr>
          <p:cNvPr id="33" name="Image 5" descr="preencoded.png">    </p:cNvPr>
          <p:cNvPicPr>
            <a:picLocks noChangeAspect="1"/>
          </p:cNvPicPr>
          <p:nvPr/>
        </p:nvPicPr>
        <p:blipFill>
          <a:blip r:embed="rId6"/>
          <a:stretch>
            <a:fillRect/>
          </a:stretch>
        </p:blipFill>
        <p:spPr>
          <a:xfrm>
            <a:off x="6263640" y="3081528"/>
            <a:ext cx="256032" cy="256032"/>
          </a:xfrm>
          <a:prstGeom prst="rect">
            <a:avLst/>
          </a:prstGeom>
        </p:spPr>
      </p:pic>
      <p:sp>
        <p:nvSpPr>
          <p:cNvPr id="34" name="Text 25"/>
          <p:cNvSpPr txBox="1"/>
          <p:nvPr/>
        </p:nvSpPr>
        <p:spPr>
          <a:xfrm>
            <a:off x="6629400" y="3063240"/>
            <a:ext cx="1371600" cy="292608"/>
          </a:xfrm>
          <a:prstGeom prst="rect">
            <a:avLst/>
          </a:prstGeom>
          <a:noFill/>
          <a:ln/>
        </p:spPr>
        <p:txBody>
          <a:bodyPr wrap="square" lIns="0" tIns="0" rIns="0" bIns="0" rtlCol="0" anchor="ctr"/>
          <a:lstStyle/>
          <a:p>
            <a:pPr indent="0" marL="0">
              <a:buNone/>
            </a:pPr>
            <a:r>
              <a:rPr lang="en-US" sz="1100" b="1" spc="100" kern="0" dirty="0">
                <a:solidFill>
                  <a:srgbClr val="BFBFBF"/>
                </a:solidFill>
                <a:latin typeface="Arial" pitchFamily="34" charset="0"/>
                <a:ea typeface="Arial" pitchFamily="34" charset="-122"/>
                <a:cs typeface="Arial" pitchFamily="34" charset="-120"/>
              </a:rPr>
              <a:t>CHOSEN</a:t>
            </a:r>
            <a:endParaRPr lang="en-US" sz="1100" dirty="0"/>
          </a:p>
        </p:txBody>
      </p:sp>
      <p:sp>
        <p:nvSpPr>
          <p:cNvPr id="35" name="Text 26"/>
          <p:cNvSpPr txBox="1"/>
          <p:nvPr/>
        </p:nvSpPr>
        <p:spPr>
          <a:xfrm>
            <a:off x="6263640" y="3474720"/>
            <a:ext cx="219456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Multi-agent scheduler</a:t>
            </a:r>
            <a:endParaRPr lang="en-US" sz="1500" dirty="0"/>
          </a:p>
        </p:txBody>
      </p:sp>
      <p:sp>
        <p:nvSpPr>
          <p:cNvPr id="36" name="Text 27"/>
          <p:cNvSpPr txBox="1"/>
          <p:nvPr/>
        </p:nvSpPr>
        <p:spPr>
          <a:xfrm>
            <a:off x="6263640" y="3794760"/>
            <a:ext cx="2194560" cy="548640"/>
          </a:xfrm>
          <a:prstGeom prst="rect">
            <a:avLst/>
          </a:prstGeom>
          <a:noFill/>
          <a:ln/>
        </p:spPr>
        <p:txBody>
          <a:bodyPr wrap="square" lIns="0" tIns="0" rIns="0" bIns="0" rtlCol="0" anchor="t"/>
          <a:lstStyle/>
          <a:p>
            <a:pPr indent="0" marL="0">
              <a:buNone/>
            </a:pPr>
            <a:r>
              <a:rPr lang="en-US" sz="1200" dirty="0">
                <a:solidFill>
                  <a:srgbClr val="D9D9D9"/>
                </a:solidFill>
                <a:latin typeface="Arial" pitchFamily="34" charset="0"/>
                <a:ea typeface="Arial" pitchFamily="34" charset="-122"/>
                <a:cs typeface="Arial" pitchFamily="34" charset="-120"/>
              </a:rPr>
              <a:t>Stop agents from kicking each other off the GPU.</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How we picked: three filters</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03 IDEATE</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12</a:t>
            </a:r>
            <a:endParaRPr lang="en-US" sz="1000" dirty="0"/>
          </a:p>
        </p:txBody>
      </p:sp>
      <p:sp>
        <p:nvSpPr>
          <p:cNvPr id="7" name="Shape 4"/>
          <p:cNvSpPr/>
          <p:nvPr/>
        </p:nvSpPr>
        <p:spPr>
          <a:xfrm>
            <a:off x="457200" y="1188720"/>
            <a:ext cx="2606040" cy="2286000"/>
          </a:xfrm>
          <a:prstGeom prst="rect">
            <a:avLst/>
          </a:prstGeom>
          <a:solidFill>
            <a:srgbClr val="FFFFFF"/>
          </a:solidFill>
          <a:ln w="19050">
            <a:solidFill>
              <a:srgbClr val="000000"/>
            </a:solidFill>
            <a:prstDash val="solid"/>
          </a:ln>
        </p:spPr>
      </p:sp>
      <p:sp>
        <p:nvSpPr>
          <p:cNvPr id="8" name="Shape 5"/>
          <p:cNvSpPr/>
          <p:nvPr/>
        </p:nvSpPr>
        <p:spPr>
          <a:xfrm>
            <a:off x="685800" y="1417320"/>
            <a:ext cx="640080" cy="640080"/>
          </a:xfrm>
          <a:prstGeom prst="ellipse">
            <a:avLst/>
          </a:prstGeom>
          <a:solidFill>
            <a:srgbClr val="000000"/>
          </a:solidFill>
          <a:ln w="12700">
            <a:solidFill>
              <a:srgbClr val="000000"/>
            </a:solidFill>
            <a:prstDash val="solid"/>
          </a:ln>
        </p:spPr>
      </p:sp>
      <p:pic>
        <p:nvPicPr>
          <p:cNvPr id="9" name="Image 0" descr="preencoded.png">    </p:cNvPr>
          <p:cNvPicPr>
            <a:picLocks noChangeAspect="1"/>
          </p:cNvPicPr>
          <p:nvPr/>
        </p:nvPicPr>
        <p:blipFill>
          <a:blip r:embed="rId1"/>
          <a:stretch>
            <a:fillRect/>
          </a:stretch>
        </p:blipFill>
        <p:spPr>
          <a:xfrm>
            <a:off x="852221" y="1583741"/>
            <a:ext cx="307238" cy="307238"/>
          </a:xfrm>
          <a:prstGeom prst="rect">
            <a:avLst/>
          </a:prstGeom>
        </p:spPr>
      </p:pic>
      <p:sp>
        <p:nvSpPr>
          <p:cNvPr id="10" name="Text 6"/>
          <p:cNvSpPr txBox="1"/>
          <p:nvPr/>
        </p:nvSpPr>
        <p:spPr>
          <a:xfrm>
            <a:off x="685800" y="2240280"/>
            <a:ext cx="2194560" cy="36576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Is the pain real?</a:t>
            </a:r>
            <a:endParaRPr lang="en-US" sz="1700" dirty="0"/>
          </a:p>
        </p:txBody>
      </p:sp>
      <p:sp>
        <p:nvSpPr>
          <p:cNvPr id="11" name="Text 7"/>
          <p:cNvSpPr txBox="1"/>
          <p:nvPr/>
        </p:nvSpPr>
        <p:spPr>
          <a:xfrm>
            <a:off x="685800" y="2651760"/>
            <a:ext cx="2194560" cy="731520"/>
          </a:xfrm>
          <a:prstGeom prst="rect">
            <a:avLst/>
          </a:prstGeom>
          <a:noFill/>
          <a:ln/>
        </p:spPr>
        <p:txBody>
          <a:bodyPr wrap="square" lIns="0" tIns="0" rIns="0" bIns="0" rtlCol="0" anchor="t"/>
          <a:lstStyle/>
          <a:p>
            <a:pPr indent="0" marL="0">
              <a:buNone/>
            </a:pPr>
            <a:r>
              <a:rPr lang="en-US" sz="1300" dirty="0">
                <a:solidFill>
                  <a:srgbClr val="262626"/>
                </a:solidFill>
                <a:latin typeface="Arial" pitchFamily="34" charset="0"/>
                <a:ea typeface="Arial" pitchFamily="34" charset="-122"/>
                <a:cs typeface="Arial" pitchFamily="34" charset="-120"/>
              </a:rPr>
              <a:t>Did real users complain about it without being asked?</a:t>
            </a:r>
            <a:endParaRPr lang="en-US" sz="1300" dirty="0"/>
          </a:p>
        </p:txBody>
      </p:sp>
      <p:sp>
        <p:nvSpPr>
          <p:cNvPr id="12" name="Shape 8"/>
          <p:cNvSpPr/>
          <p:nvPr/>
        </p:nvSpPr>
        <p:spPr>
          <a:xfrm>
            <a:off x="3246120" y="1188720"/>
            <a:ext cx="2606040" cy="2286000"/>
          </a:xfrm>
          <a:prstGeom prst="rect">
            <a:avLst/>
          </a:prstGeom>
          <a:solidFill>
            <a:srgbClr val="FFFFFF"/>
          </a:solidFill>
          <a:ln w="19050">
            <a:solidFill>
              <a:srgbClr val="000000"/>
            </a:solidFill>
            <a:prstDash val="solid"/>
          </a:ln>
        </p:spPr>
      </p:sp>
      <p:sp>
        <p:nvSpPr>
          <p:cNvPr id="13" name="Shape 9"/>
          <p:cNvSpPr/>
          <p:nvPr/>
        </p:nvSpPr>
        <p:spPr>
          <a:xfrm>
            <a:off x="3474720" y="1417320"/>
            <a:ext cx="640080" cy="640080"/>
          </a:xfrm>
          <a:prstGeom prst="ellipse">
            <a:avLst/>
          </a:prstGeom>
          <a:solidFill>
            <a:srgbClr val="000000"/>
          </a:solidFill>
          <a:ln w="12700">
            <a:solidFill>
              <a:srgbClr val="000000"/>
            </a:solidFill>
            <a:prstDash val="solid"/>
          </a:ln>
        </p:spPr>
      </p:sp>
      <p:pic>
        <p:nvPicPr>
          <p:cNvPr id="14" name="Image 1" descr="preencoded.png">    </p:cNvPr>
          <p:cNvPicPr>
            <a:picLocks noChangeAspect="1"/>
          </p:cNvPicPr>
          <p:nvPr/>
        </p:nvPicPr>
        <p:blipFill>
          <a:blip r:embed="rId2"/>
          <a:stretch>
            <a:fillRect/>
          </a:stretch>
        </p:blipFill>
        <p:spPr>
          <a:xfrm>
            <a:off x="3641141" y="1583741"/>
            <a:ext cx="307238" cy="307238"/>
          </a:xfrm>
          <a:prstGeom prst="rect">
            <a:avLst/>
          </a:prstGeom>
        </p:spPr>
      </p:pic>
      <p:sp>
        <p:nvSpPr>
          <p:cNvPr id="15" name="Text 10"/>
          <p:cNvSpPr txBox="1"/>
          <p:nvPr/>
        </p:nvSpPr>
        <p:spPr>
          <a:xfrm>
            <a:off x="3474720" y="2240280"/>
            <a:ext cx="2194560" cy="36576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Is it still unsolved?</a:t>
            </a:r>
            <a:endParaRPr lang="en-US" sz="1700" dirty="0"/>
          </a:p>
        </p:txBody>
      </p:sp>
      <p:sp>
        <p:nvSpPr>
          <p:cNvPr id="16" name="Text 11"/>
          <p:cNvSpPr txBox="1"/>
          <p:nvPr/>
        </p:nvSpPr>
        <p:spPr>
          <a:xfrm>
            <a:off x="3474720" y="2651760"/>
            <a:ext cx="2194560" cy="731520"/>
          </a:xfrm>
          <a:prstGeom prst="rect">
            <a:avLst/>
          </a:prstGeom>
          <a:noFill/>
          <a:ln/>
        </p:spPr>
        <p:txBody>
          <a:bodyPr wrap="square" lIns="0" tIns="0" rIns="0" bIns="0" rtlCol="0" anchor="t"/>
          <a:lstStyle/>
          <a:p>
            <a:pPr indent="0" marL="0">
              <a:buNone/>
            </a:pPr>
            <a:r>
              <a:rPr lang="en-US" sz="1300" dirty="0">
                <a:solidFill>
                  <a:srgbClr val="262626"/>
                </a:solidFill>
                <a:latin typeface="Arial" pitchFamily="34" charset="0"/>
                <a:ea typeface="Arial" pitchFamily="34" charset="-122"/>
                <a:cs typeface="Arial" pitchFamily="34" charset="-120"/>
              </a:rPr>
              <a:t>Does Ollama or another tool already do this well?</a:t>
            </a:r>
            <a:endParaRPr lang="en-US" sz="1300" dirty="0"/>
          </a:p>
        </p:txBody>
      </p:sp>
      <p:sp>
        <p:nvSpPr>
          <p:cNvPr id="17" name="Shape 12"/>
          <p:cNvSpPr/>
          <p:nvPr/>
        </p:nvSpPr>
        <p:spPr>
          <a:xfrm>
            <a:off x="6035040" y="1188720"/>
            <a:ext cx="2606040" cy="2286000"/>
          </a:xfrm>
          <a:prstGeom prst="rect">
            <a:avLst/>
          </a:prstGeom>
          <a:solidFill>
            <a:srgbClr val="FFFFFF"/>
          </a:solidFill>
          <a:ln w="19050">
            <a:solidFill>
              <a:srgbClr val="000000"/>
            </a:solidFill>
            <a:prstDash val="solid"/>
          </a:ln>
        </p:spPr>
      </p:sp>
      <p:sp>
        <p:nvSpPr>
          <p:cNvPr id="18" name="Shape 13"/>
          <p:cNvSpPr/>
          <p:nvPr/>
        </p:nvSpPr>
        <p:spPr>
          <a:xfrm>
            <a:off x="6263640" y="1417320"/>
            <a:ext cx="640080" cy="640080"/>
          </a:xfrm>
          <a:prstGeom prst="ellipse">
            <a:avLst/>
          </a:prstGeom>
          <a:solidFill>
            <a:srgbClr val="000000"/>
          </a:solidFill>
          <a:ln w="12700">
            <a:solidFill>
              <a:srgbClr val="000000"/>
            </a:solidFill>
            <a:prstDash val="solid"/>
          </a:ln>
        </p:spPr>
      </p:sp>
      <p:pic>
        <p:nvPicPr>
          <p:cNvPr id="19" name="Image 2" descr="preencoded.png">    </p:cNvPr>
          <p:cNvPicPr>
            <a:picLocks noChangeAspect="1"/>
          </p:cNvPicPr>
          <p:nvPr/>
        </p:nvPicPr>
        <p:blipFill>
          <a:blip r:embed="rId3"/>
          <a:stretch>
            <a:fillRect/>
          </a:stretch>
        </p:blipFill>
        <p:spPr>
          <a:xfrm>
            <a:off x="6430061" y="1583741"/>
            <a:ext cx="307238" cy="307238"/>
          </a:xfrm>
          <a:prstGeom prst="rect">
            <a:avLst/>
          </a:prstGeom>
        </p:spPr>
      </p:pic>
      <p:sp>
        <p:nvSpPr>
          <p:cNvPr id="20" name="Text 14"/>
          <p:cNvSpPr txBox="1"/>
          <p:nvPr/>
        </p:nvSpPr>
        <p:spPr>
          <a:xfrm>
            <a:off x="6263640" y="2240280"/>
            <a:ext cx="2194560" cy="36576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Can we measure it?</a:t>
            </a:r>
            <a:endParaRPr lang="en-US" sz="1700" dirty="0"/>
          </a:p>
        </p:txBody>
      </p:sp>
      <p:sp>
        <p:nvSpPr>
          <p:cNvPr id="21" name="Text 15"/>
          <p:cNvSpPr txBox="1"/>
          <p:nvPr/>
        </p:nvSpPr>
        <p:spPr>
          <a:xfrm>
            <a:off x="6263640" y="2651760"/>
            <a:ext cx="2194560" cy="731520"/>
          </a:xfrm>
          <a:prstGeom prst="rect">
            <a:avLst/>
          </a:prstGeom>
          <a:noFill/>
          <a:ln/>
        </p:spPr>
        <p:txBody>
          <a:bodyPr wrap="square" lIns="0" tIns="0" rIns="0" bIns="0" rtlCol="0" anchor="t"/>
          <a:lstStyle/>
          <a:p>
            <a:pPr indent="0" marL="0">
              <a:buNone/>
            </a:pPr>
            <a:r>
              <a:rPr lang="en-US" sz="1300" dirty="0">
                <a:solidFill>
                  <a:srgbClr val="262626"/>
                </a:solidFill>
                <a:latin typeface="Arial" pitchFamily="34" charset="0"/>
                <a:ea typeface="Arial" pitchFamily="34" charset="-122"/>
                <a:cs typeface="Arial" pitchFamily="34" charset="-120"/>
              </a:rPr>
              <a:t>Can we prove a win with numbers on a real machine?</a:t>
            </a:r>
            <a:endParaRPr lang="en-US" sz="1300" dirty="0"/>
          </a:p>
        </p:txBody>
      </p:sp>
      <p:sp>
        <p:nvSpPr>
          <p:cNvPr id="22" name="Shape 16"/>
          <p:cNvSpPr/>
          <p:nvPr/>
        </p:nvSpPr>
        <p:spPr>
          <a:xfrm>
            <a:off x="457200" y="3794760"/>
            <a:ext cx="8229600" cy="731520"/>
          </a:xfrm>
          <a:prstGeom prst="rect">
            <a:avLst/>
          </a:prstGeom>
          <a:solidFill>
            <a:srgbClr val="000000"/>
          </a:solidFill>
          <a:ln w="12700">
            <a:solidFill>
              <a:srgbClr val="000000"/>
            </a:solidFill>
            <a:prstDash val="solid"/>
          </a:ln>
        </p:spPr>
      </p:sp>
      <p:sp>
        <p:nvSpPr>
          <p:cNvPr id="23" name="Text 17"/>
          <p:cNvSpPr txBox="1"/>
          <p:nvPr/>
        </p:nvSpPr>
        <p:spPr>
          <a:xfrm>
            <a:off x="731520" y="3794760"/>
            <a:ext cx="7680960" cy="7315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Result: smart layer placement and a multi-agent scheduler. Both pass all three.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3" name="Text 0"/>
          <p:cNvSpPr txBox="1"/>
          <p:nvPr/>
        </p:nvSpPr>
        <p:spPr>
          <a:xfrm>
            <a:off x="548640" y="457200"/>
            <a:ext cx="2743200" cy="1280160"/>
          </a:xfrm>
          <a:prstGeom prst="rect">
            <a:avLst/>
          </a:prstGeom>
          <a:noFill/>
          <a:ln/>
        </p:spPr>
        <p:txBody>
          <a:bodyPr wrap="square" lIns="0" tIns="0" rIns="0" bIns="0" rtlCol="0" anchor="b"/>
          <a:lstStyle/>
          <a:p>
            <a:pPr indent="0" marL="0">
              <a:buNone/>
            </a:pPr>
            <a:r>
              <a:rPr lang="en-US" sz="9600" b="1" dirty="0">
                <a:solidFill>
                  <a:srgbClr val="FFFFFF"/>
                </a:solidFill>
                <a:latin typeface="Arial" pitchFamily="34" charset="0"/>
                <a:ea typeface="Arial" pitchFamily="34" charset="-122"/>
                <a:cs typeface="Arial" pitchFamily="34" charset="-120"/>
              </a:rPr>
              <a:t>04</a:t>
            </a:r>
            <a:endParaRPr lang="en-US" sz="9600" dirty="0"/>
          </a:p>
        </p:txBody>
      </p:sp>
      <p:sp>
        <p:nvSpPr>
          <p:cNvPr id="4" name="Text 1"/>
          <p:cNvSpPr txBox="1"/>
          <p:nvPr/>
        </p:nvSpPr>
        <p:spPr>
          <a:xfrm>
            <a:off x="548640" y="1783080"/>
            <a:ext cx="3657600" cy="6400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Prototype</a:t>
            </a:r>
            <a:endParaRPr lang="en-US" sz="4000" dirty="0"/>
          </a:p>
        </p:txBody>
      </p:sp>
      <p:sp>
        <p:nvSpPr>
          <p:cNvPr id="5" name="Shape 2"/>
          <p:cNvSpPr/>
          <p:nvPr/>
        </p:nvSpPr>
        <p:spPr>
          <a:xfrm>
            <a:off x="548640" y="2697480"/>
            <a:ext cx="914400" cy="9144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86384" y="2935224"/>
            <a:ext cx="438912" cy="438912"/>
          </a:xfrm>
          <a:prstGeom prst="rect">
            <a:avLst/>
          </a:prstGeom>
        </p:spPr>
      </p:pic>
      <p:sp>
        <p:nvSpPr>
          <p:cNvPr id="7" name="Text 3"/>
          <p:cNvSpPr txBox="1"/>
          <p:nvPr/>
        </p:nvSpPr>
        <p:spPr>
          <a:xfrm>
            <a:off x="1691640" y="2697480"/>
            <a:ext cx="2377440" cy="914400"/>
          </a:xfrm>
          <a:prstGeom prst="rect">
            <a:avLst/>
          </a:prstGeom>
          <a:noFill/>
          <a:ln/>
        </p:spPr>
        <p:txBody>
          <a:bodyPr wrap="square" lIns="0" tIns="0" rIns="0" bIns="0" rtlCol="0" anchor="ctr"/>
          <a:lstStyle/>
          <a:p>
            <a:pPr indent="0" marL="0">
              <a:buNone/>
            </a:pPr>
            <a:r>
              <a:rPr lang="en-US" sz="1500" i="1" dirty="0">
                <a:solidFill>
                  <a:srgbClr val="BFBFBF"/>
                </a:solidFill>
                <a:latin typeface="Arial" pitchFamily="34" charset="0"/>
                <a:ea typeface="Arial" pitchFamily="34" charset="-122"/>
                <a:cs typeface="Arial" pitchFamily="34" charset="-120"/>
              </a:rPr>
              <a:t>Build it fast, build it real.</a:t>
            </a:r>
            <a:endParaRPr lang="en-US" sz="1500" dirty="0"/>
          </a:p>
        </p:txBody>
      </p:sp>
      <p:sp>
        <p:nvSpPr>
          <p:cNvPr id="8" name="Shape 4"/>
          <p:cNvSpPr/>
          <p:nvPr/>
        </p:nvSpPr>
        <p:spPr>
          <a:xfrm>
            <a:off x="4480560" y="457200"/>
            <a:ext cx="4206240" cy="4206240"/>
          </a:xfrm>
          <a:prstGeom prst="rect">
            <a:avLst/>
          </a:prstGeom>
          <a:solidFill>
            <a:srgbClr val="FFFFFF"/>
          </a:solidFill>
          <a:ln w="12700">
            <a:solidFill>
              <a:srgbClr val="FFFFFF"/>
            </a:solidFill>
            <a:prstDash val="solid"/>
          </a:ln>
        </p:spPr>
      </p:sp>
      <p:sp>
        <p:nvSpPr>
          <p:cNvPr id="9" name="Text 5"/>
          <p:cNvSpPr txBox="1"/>
          <p:nvPr/>
        </p:nvSpPr>
        <p:spPr>
          <a:xfrm>
            <a:off x="4754880" y="6858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IT MEANS</a:t>
            </a:r>
            <a:endParaRPr lang="en-US" sz="1100" dirty="0"/>
          </a:p>
        </p:txBody>
      </p:sp>
      <p:sp>
        <p:nvSpPr>
          <p:cNvPr id="10" name="Text 6"/>
          <p:cNvSpPr txBox="1"/>
          <p:nvPr/>
        </p:nvSpPr>
        <p:spPr>
          <a:xfrm>
            <a:off x="4754880" y="9601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Make the idea into something people can actually use, quickly and cheaply, so you can learn from it.</a:t>
            </a:r>
            <a:endParaRPr lang="en-US" sz="1400" dirty="0"/>
          </a:p>
        </p:txBody>
      </p:sp>
      <p:sp>
        <p:nvSpPr>
          <p:cNvPr id="11" name="Text 7"/>
          <p:cNvSpPr txBox="1"/>
          <p:nvPr/>
        </p:nvSpPr>
        <p:spPr>
          <a:xfrm>
            <a:off x="4754880" y="20574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THE QUESTION IT ASKS</a:t>
            </a:r>
            <a:endParaRPr lang="en-US" sz="1100" dirty="0"/>
          </a:p>
        </p:txBody>
      </p:sp>
      <p:sp>
        <p:nvSpPr>
          <p:cNvPr id="12" name="Text 8"/>
          <p:cNvSpPr txBox="1"/>
          <p:nvPr/>
        </p:nvSpPr>
        <p:spPr>
          <a:xfrm>
            <a:off x="4754880" y="23317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Can we build a working version to try?</a:t>
            </a:r>
            <a:endParaRPr lang="en-US" sz="1400" dirty="0"/>
          </a:p>
        </p:txBody>
      </p:sp>
      <p:sp>
        <p:nvSpPr>
          <p:cNvPr id="13" name="Text 9"/>
          <p:cNvSpPr txBox="1"/>
          <p:nvPr/>
        </p:nvSpPr>
        <p:spPr>
          <a:xfrm>
            <a:off x="4754880" y="34290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IN RAMER WE</a:t>
            </a:r>
            <a:endParaRPr lang="en-US" sz="1100" dirty="0"/>
          </a:p>
        </p:txBody>
      </p:sp>
      <p:sp>
        <p:nvSpPr>
          <p:cNvPr id="14" name="Text 10"/>
          <p:cNvSpPr txBox="1"/>
          <p:nvPr/>
        </p:nvSpPr>
        <p:spPr>
          <a:xfrm>
            <a:off x="4754880" y="37033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built a working proxy, a command line tool and a desktop app, not just a mock-up.</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What we built</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04 PROTOTYPE</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14</a:t>
            </a:r>
            <a:endParaRPr lang="en-US" sz="1000" dirty="0"/>
          </a:p>
        </p:txBody>
      </p:sp>
      <p:sp>
        <p:nvSpPr>
          <p:cNvPr id="7" name="Shape 4"/>
          <p:cNvSpPr/>
          <p:nvPr/>
        </p:nvSpPr>
        <p:spPr>
          <a:xfrm>
            <a:off x="457200" y="1188720"/>
            <a:ext cx="2606040" cy="2423160"/>
          </a:xfrm>
          <a:prstGeom prst="rect">
            <a:avLst/>
          </a:prstGeom>
          <a:solidFill>
            <a:srgbClr val="000000"/>
          </a:solidFill>
          <a:ln w="19050">
            <a:solidFill>
              <a:srgbClr val="000000"/>
            </a:solidFill>
            <a:prstDash val="solid"/>
          </a:ln>
        </p:spPr>
      </p:sp>
      <p:sp>
        <p:nvSpPr>
          <p:cNvPr id="8" name="Shape 5"/>
          <p:cNvSpPr/>
          <p:nvPr/>
        </p:nvSpPr>
        <p:spPr>
          <a:xfrm>
            <a:off x="685800" y="1417320"/>
            <a:ext cx="640080" cy="640080"/>
          </a:xfrm>
          <a:prstGeom prst="ellipse">
            <a:avLst/>
          </a:prstGeom>
          <a:solidFill>
            <a:srgbClr val="FFFFFF"/>
          </a:solidFill>
          <a:ln w="12700">
            <a:solidFill>
              <a:srgbClr val="FFFFFF"/>
            </a:solidFill>
            <a:prstDash val="solid"/>
          </a:ln>
        </p:spPr>
      </p:sp>
      <p:pic>
        <p:nvPicPr>
          <p:cNvPr id="9" name="Image 0" descr="preencoded.png">    </p:cNvPr>
          <p:cNvPicPr>
            <a:picLocks noChangeAspect="1"/>
          </p:cNvPicPr>
          <p:nvPr/>
        </p:nvPicPr>
        <p:blipFill>
          <a:blip r:embed="rId1"/>
          <a:stretch>
            <a:fillRect/>
          </a:stretch>
        </p:blipFill>
        <p:spPr>
          <a:xfrm>
            <a:off x="852221" y="1583741"/>
            <a:ext cx="307238" cy="307238"/>
          </a:xfrm>
          <a:prstGeom prst="rect">
            <a:avLst/>
          </a:prstGeom>
        </p:spPr>
      </p:pic>
      <p:sp>
        <p:nvSpPr>
          <p:cNvPr id="10" name="Text 6"/>
          <p:cNvSpPr txBox="1"/>
          <p:nvPr/>
        </p:nvSpPr>
        <p:spPr>
          <a:xfrm>
            <a:off x="685800" y="2240280"/>
            <a:ext cx="219456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Proxy server</a:t>
            </a:r>
            <a:endParaRPr lang="en-US" sz="1700" dirty="0"/>
          </a:p>
        </p:txBody>
      </p:sp>
      <p:sp>
        <p:nvSpPr>
          <p:cNvPr id="11" name="Text 7"/>
          <p:cNvSpPr txBox="1"/>
          <p:nvPr/>
        </p:nvSpPr>
        <p:spPr>
          <a:xfrm>
            <a:off x="685800" y="2651760"/>
            <a:ext cx="2194560" cy="914400"/>
          </a:xfrm>
          <a:prstGeom prst="rect">
            <a:avLst/>
          </a:prstGeom>
          <a:noFill/>
          <a:ln/>
        </p:spPr>
        <p:txBody>
          <a:bodyPr wrap="square" lIns="0" tIns="0" rIns="0" bIns="0" rtlCol="0" anchor="t"/>
          <a:lstStyle/>
          <a:p>
            <a:pPr indent="0" marL="0">
              <a:buNone/>
            </a:pPr>
            <a:r>
              <a:rPr lang="en-US" sz="1200" dirty="0">
                <a:solidFill>
                  <a:srgbClr val="BFBFBF"/>
                </a:solidFill>
                <a:latin typeface="Arial" pitchFamily="34" charset="0"/>
                <a:ea typeface="Arial" pitchFamily="34" charset="-122"/>
                <a:cs typeface="Arial" pitchFamily="34" charset="-120"/>
              </a:rPr>
              <a:t>Agents point at port 11435 instead of Ollama's 11434. Speaks Ollama and OpenAI-style APIs.</a:t>
            </a:r>
            <a:endParaRPr lang="en-US" sz="1200" dirty="0"/>
          </a:p>
        </p:txBody>
      </p:sp>
      <p:sp>
        <p:nvSpPr>
          <p:cNvPr id="12" name="Shape 8"/>
          <p:cNvSpPr/>
          <p:nvPr/>
        </p:nvSpPr>
        <p:spPr>
          <a:xfrm>
            <a:off x="3246120" y="1188720"/>
            <a:ext cx="2606040" cy="2423160"/>
          </a:xfrm>
          <a:prstGeom prst="rect">
            <a:avLst/>
          </a:prstGeom>
          <a:solidFill>
            <a:srgbClr val="FFFFFF"/>
          </a:solidFill>
          <a:ln w="19050">
            <a:solidFill>
              <a:srgbClr val="000000"/>
            </a:solidFill>
            <a:prstDash val="solid"/>
          </a:ln>
        </p:spPr>
      </p:sp>
      <p:sp>
        <p:nvSpPr>
          <p:cNvPr id="13" name="Shape 9"/>
          <p:cNvSpPr/>
          <p:nvPr/>
        </p:nvSpPr>
        <p:spPr>
          <a:xfrm>
            <a:off x="3474720" y="1417320"/>
            <a:ext cx="640080" cy="640080"/>
          </a:xfrm>
          <a:prstGeom prst="ellipse">
            <a:avLst/>
          </a:prstGeom>
          <a:solidFill>
            <a:srgbClr val="000000"/>
          </a:solidFill>
          <a:ln w="12700">
            <a:solidFill>
              <a:srgbClr val="000000"/>
            </a:solidFill>
            <a:prstDash val="solid"/>
          </a:ln>
        </p:spPr>
      </p:sp>
      <p:pic>
        <p:nvPicPr>
          <p:cNvPr id="14" name="Image 1" descr="preencoded.png">    </p:cNvPr>
          <p:cNvPicPr>
            <a:picLocks noChangeAspect="1"/>
          </p:cNvPicPr>
          <p:nvPr/>
        </p:nvPicPr>
        <p:blipFill>
          <a:blip r:embed="rId2"/>
          <a:stretch>
            <a:fillRect/>
          </a:stretch>
        </p:blipFill>
        <p:spPr>
          <a:xfrm>
            <a:off x="3641141" y="1583741"/>
            <a:ext cx="307238" cy="307238"/>
          </a:xfrm>
          <a:prstGeom prst="rect">
            <a:avLst/>
          </a:prstGeom>
        </p:spPr>
      </p:pic>
      <p:sp>
        <p:nvSpPr>
          <p:cNvPr id="15" name="Text 10"/>
          <p:cNvSpPr txBox="1"/>
          <p:nvPr/>
        </p:nvSpPr>
        <p:spPr>
          <a:xfrm>
            <a:off x="3474720" y="2240280"/>
            <a:ext cx="2194560" cy="36576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Command line</a:t>
            </a:r>
            <a:endParaRPr lang="en-US" sz="1700" dirty="0"/>
          </a:p>
        </p:txBody>
      </p:sp>
      <p:sp>
        <p:nvSpPr>
          <p:cNvPr id="16" name="Text 11"/>
          <p:cNvSpPr txBox="1"/>
          <p:nvPr/>
        </p:nvSpPr>
        <p:spPr>
          <a:xfrm>
            <a:off x="3474720" y="2651760"/>
            <a:ext cx="2194560" cy="91440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serve, doctor and benchmark commands to start Ramer and check your hardware.</a:t>
            </a:r>
            <a:endParaRPr lang="en-US" sz="1200" dirty="0"/>
          </a:p>
        </p:txBody>
      </p:sp>
      <p:sp>
        <p:nvSpPr>
          <p:cNvPr id="17" name="Shape 12"/>
          <p:cNvSpPr/>
          <p:nvPr/>
        </p:nvSpPr>
        <p:spPr>
          <a:xfrm>
            <a:off x="6035040" y="1188720"/>
            <a:ext cx="2606040" cy="2423160"/>
          </a:xfrm>
          <a:prstGeom prst="rect">
            <a:avLst/>
          </a:prstGeom>
          <a:solidFill>
            <a:srgbClr val="FFFFFF"/>
          </a:solidFill>
          <a:ln w="19050">
            <a:solidFill>
              <a:srgbClr val="000000"/>
            </a:solidFill>
            <a:prstDash val="solid"/>
          </a:ln>
        </p:spPr>
      </p:sp>
      <p:sp>
        <p:nvSpPr>
          <p:cNvPr id="18" name="Shape 13"/>
          <p:cNvSpPr/>
          <p:nvPr/>
        </p:nvSpPr>
        <p:spPr>
          <a:xfrm>
            <a:off x="6263640" y="1417320"/>
            <a:ext cx="640080" cy="640080"/>
          </a:xfrm>
          <a:prstGeom prst="ellipse">
            <a:avLst/>
          </a:prstGeom>
          <a:solidFill>
            <a:srgbClr val="000000"/>
          </a:solidFill>
          <a:ln w="12700">
            <a:solidFill>
              <a:srgbClr val="000000"/>
            </a:solidFill>
            <a:prstDash val="solid"/>
          </a:ln>
        </p:spPr>
      </p:sp>
      <p:pic>
        <p:nvPicPr>
          <p:cNvPr id="19" name="Image 2" descr="preencoded.png">    </p:cNvPr>
          <p:cNvPicPr>
            <a:picLocks noChangeAspect="1"/>
          </p:cNvPicPr>
          <p:nvPr/>
        </p:nvPicPr>
        <p:blipFill>
          <a:blip r:embed="rId3"/>
          <a:stretch>
            <a:fillRect/>
          </a:stretch>
        </p:blipFill>
        <p:spPr>
          <a:xfrm>
            <a:off x="6430061" y="1583741"/>
            <a:ext cx="307238" cy="307238"/>
          </a:xfrm>
          <a:prstGeom prst="rect">
            <a:avLst/>
          </a:prstGeom>
        </p:spPr>
      </p:pic>
      <p:sp>
        <p:nvSpPr>
          <p:cNvPr id="20" name="Text 14"/>
          <p:cNvSpPr txBox="1"/>
          <p:nvPr/>
        </p:nvSpPr>
        <p:spPr>
          <a:xfrm>
            <a:off x="6263640" y="2240280"/>
            <a:ext cx="2194560" cy="365760"/>
          </a:xfrm>
          <a:prstGeom prst="rect">
            <a:avLst/>
          </a:prstGeom>
          <a:noFill/>
          <a:ln/>
        </p:spPr>
        <p:txBody>
          <a:bodyPr wrap="square" lIns="0" tIns="0" rIns="0" bIns="0" rtlCol="0" anchor="ctr"/>
          <a:lstStyle/>
          <a:p>
            <a:pPr indent="0" marL="0">
              <a:buNone/>
            </a:pPr>
            <a:r>
              <a:rPr lang="en-US" sz="1700" b="1" dirty="0">
                <a:solidFill>
                  <a:srgbClr val="000000"/>
                </a:solidFill>
                <a:latin typeface="Arial" pitchFamily="34" charset="0"/>
                <a:ea typeface="Arial" pitchFamily="34" charset="-122"/>
                <a:cs typeface="Arial" pitchFamily="34" charset="-120"/>
              </a:rPr>
              <a:t>Desktop app</a:t>
            </a:r>
            <a:endParaRPr lang="en-US" sz="1700" dirty="0"/>
          </a:p>
        </p:txBody>
      </p:sp>
      <p:sp>
        <p:nvSpPr>
          <p:cNvPr id="21" name="Text 15"/>
          <p:cNvSpPr txBox="1"/>
          <p:nvPr/>
        </p:nvSpPr>
        <p:spPr>
          <a:xfrm>
            <a:off x="6263640" y="2651760"/>
            <a:ext cx="2194560" cy="91440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A simple window for setup, plus a built-in coding agent.</a:t>
            </a:r>
            <a:endParaRPr lang="en-US" sz="1200" dirty="0"/>
          </a:p>
        </p:txBody>
      </p:sp>
      <p:sp>
        <p:nvSpPr>
          <p:cNvPr id="22" name="Shape 16"/>
          <p:cNvSpPr/>
          <p:nvPr/>
        </p:nvSpPr>
        <p:spPr>
          <a:xfrm>
            <a:off x="457200" y="3840480"/>
            <a:ext cx="8229600" cy="685800"/>
          </a:xfrm>
          <a:prstGeom prst="rect">
            <a:avLst/>
          </a:prstGeom>
          <a:solidFill>
            <a:srgbClr val="F2F2F2"/>
          </a:solidFill>
          <a:ln w="12700">
            <a:solidFill>
              <a:srgbClr val="F2F2F2"/>
            </a:solidFill>
            <a:prstDash val="solid"/>
          </a:ln>
        </p:spPr>
      </p:sp>
      <p:sp>
        <p:nvSpPr>
          <p:cNvPr id="23" name="Text 17"/>
          <p:cNvSpPr txBox="1"/>
          <p:nvPr/>
        </p:nvSpPr>
        <p:spPr>
          <a:xfrm>
            <a:off x="731520" y="3840480"/>
            <a:ext cx="7680960" cy="685800"/>
          </a:xfrm>
          <a:prstGeom prst="rect">
            <a:avLst/>
          </a:prstGeom>
          <a:noFill/>
          <a:ln/>
        </p:spPr>
        <p:txBody>
          <a:bodyPr wrap="square" lIns="0" tIns="0" rIns="0" bIns="0" rtlCol="0" anchor="ctr"/>
          <a:lstStyle/>
          <a:p>
            <a:pPr indent="0" marL="0">
              <a:buNone/>
            </a:pPr>
            <a:r>
              <a:rPr lang="en-US" sz="1500" b="1" dirty="0">
                <a:solidFill>
                  <a:srgbClr val="000000"/>
                </a:solidFill>
                <a:latin typeface="Arial" pitchFamily="34" charset="0"/>
                <a:ea typeface="Arial" pitchFamily="34" charset="-122"/>
                <a:cs typeface="Arial" pitchFamily="34" charset="-120"/>
              </a:rPr>
              <a:t>Tested with: </a:t>
            </a:r>
            <a:pPr indent="0" marL="0">
              <a:buNone/>
            </a:pPr>
            <a:r>
              <a:rPr lang="en-US" sz="1500" dirty="0">
                <a:solidFill>
                  <a:srgbClr val="000000"/>
                </a:solidFill>
                <a:latin typeface="Arial" pitchFamily="34" charset="0"/>
                <a:ea typeface="Arial" pitchFamily="34" charset="-122"/>
                <a:cs typeface="Arial" pitchFamily="34" charset="-120"/>
              </a:rPr>
              <a:t>aider and the pi CLI, two third-party tools we did not write.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Four rules keep it honest</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04 PROTOTYPE</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15</a:t>
            </a:r>
            <a:endParaRPr lang="en-US" sz="1000" dirty="0"/>
          </a:p>
        </p:txBody>
      </p:sp>
      <p:sp>
        <p:nvSpPr>
          <p:cNvPr id="7" name="Shape 4"/>
          <p:cNvSpPr/>
          <p:nvPr/>
        </p:nvSpPr>
        <p:spPr>
          <a:xfrm>
            <a:off x="457200" y="1188720"/>
            <a:ext cx="4023360" cy="1554480"/>
          </a:xfrm>
          <a:prstGeom prst="rect">
            <a:avLst/>
          </a:prstGeom>
          <a:solidFill>
            <a:srgbClr val="F2F2F2"/>
          </a:solidFill>
          <a:ln w="12700">
            <a:solidFill>
              <a:srgbClr val="F2F2F2"/>
            </a:solidFill>
            <a:prstDash val="solid"/>
          </a:ln>
        </p:spPr>
      </p:sp>
      <p:sp>
        <p:nvSpPr>
          <p:cNvPr id="8" name="Text 5"/>
          <p:cNvSpPr txBox="1"/>
          <p:nvPr/>
        </p:nvSpPr>
        <p:spPr>
          <a:xfrm>
            <a:off x="685800" y="1371600"/>
            <a:ext cx="548640" cy="548640"/>
          </a:xfrm>
          <a:prstGeom prst="rect">
            <a:avLst/>
          </a:prstGeom>
          <a:noFill/>
          <a:ln/>
        </p:spPr>
        <p:txBody>
          <a:bodyPr wrap="square" lIns="0" tIns="0" rIns="0" bIns="0" rtlCol="0" anchor="ctr"/>
          <a:lstStyle/>
          <a:p>
            <a:pPr indent="0" marL="0">
              <a:buNone/>
            </a:pPr>
            <a:r>
              <a:rPr lang="en-US" sz="3600" b="1" dirty="0">
                <a:solidFill>
                  <a:srgbClr val="000000"/>
                </a:solidFill>
                <a:latin typeface="Arial" pitchFamily="34" charset="0"/>
                <a:ea typeface="Arial" pitchFamily="34" charset="-122"/>
                <a:cs typeface="Arial" pitchFamily="34" charset="-120"/>
              </a:rPr>
              <a:t>1</a:t>
            </a:r>
            <a:endParaRPr lang="en-US" sz="3600" dirty="0"/>
          </a:p>
        </p:txBody>
      </p:sp>
      <p:sp>
        <p:nvSpPr>
          <p:cNvPr id="9" name="Text 6"/>
          <p:cNvSpPr txBox="1"/>
          <p:nvPr/>
        </p:nvSpPr>
        <p:spPr>
          <a:xfrm>
            <a:off x="1325880" y="1417320"/>
            <a:ext cx="2926080" cy="36576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Context-aware</a:t>
            </a:r>
            <a:endParaRPr lang="en-US" sz="1800" dirty="0"/>
          </a:p>
        </p:txBody>
      </p:sp>
      <p:sp>
        <p:nvSpPr>
          <p:cNvPr id="10" name="Text 7"/>
          <p:cNvSpPr txBox="1"/>
          <p:nvPr/>
        </p:nvSpPr>
        <p:spPr>
          <a:xfrm>
            <a:off x="1325880" y="1828800"/>
            <a:ext cx="2926080" cy="822960"/>
          </a:xfrm>
          <a:prstGeom prst="rect">
            <a:avLst/>
          </a:prstGeom>
          <a:noFill/>
          <a:ln/>
        </p:spPr>
        <p:txBody>
          <a:bodyPr wrap="square" lIns="0" tIns="0" rIns="0" bIns="0" rtlCol="0" anchor="t"/>
          <a:lstStyle/>
          <a:p>
            <a:pPr indent="0" marL="0">
              <a:buNone/>
            </a:pPr>
            <a:r>
              <a:rPr lang="en-US" sz="1300" dirty="0">
                <a:solidFill>
                  <a:srgbClr val="262626"/>
                </a:solidFill>
                <a:latin typeface="Arial" pitchFamily="34" charset="0"/>
                <a:ea typeface="Arial" pitchFamily="34" charset="-122"/>
                <a:cs typeface="Arial" pitchFamily="34" charset="-120"/>
              </a:rPr>
              <a:t>A placement is only trusted at the context length it was measured at, and cached per model.</a:t>
            </a:r>
            <a:endParaRPr lang="en-US" sz="1300" dirty="0"/>
          </a:p>
        </p:txBody>
      </p:sp>
      <p:sp>
        <p:nvSpPr>
          <p:cNvPr id="11" name="Shape 8"/>
          <p:cNvSpPr/>
          <p:nvPr/>
        </p:nvSpPr>
        <p:spPr>
          <a:xfrm>
            <a:off x="4663440" y="1188720"/>
            <a:ext cx="4023360" cy="1554480"/>
          </a:xfrm>
          <a:prstGeom prst="rect">
            <a:avLst/>
          </a:prstGeom>
          <a:solidFill>
            <a:srgbClr val="F2F2F2"/>
          </a:solidFill>
          <a:ln w="12700">
            <a:solidFill>
              <a:srgbClr val="F2F2F2"/>
            </a:solidFill>
            <a:prstDash val="solid"/>
          </a:ln>
        </p:spPr>
      </p:sp>
      <p:sp>
        <p:nvSpPr>
          <p:cNvPr id="12" name="Text 9"/>
          <p:cNvSpPr txBox="1"/>
          <p:nvPr/>
        </p:nvSpPr>
        <p:spPr>
          <a:xfrm>
            <a:off x="4892040" y="1371600"/>
            <a:ext cx="548640" cy="548640"/>
          </a:xfrm>
          <a:prstGeom prst="rect">
            <a:avLst/>
          </a:prstGeom>
          <a:noFill/>
          <a:ln/>
        </p:spPr>
        <p:txBody>
          <a:bodyPr wrap="square" lIns="0" tIns="0" rIns="0" bIns="0" rtlCol="0" anchor="ctr"/>
          <a:lstStyle/>
          <a:p>
            <a:pPr indent="0" marL="0">
              <a:buNone/>
            </a:pPr>
            <a:r>
              <a:rPr lang="en-US" sz="3600" b="1" dirty="0">
                <a:solidFill>
                  <a:srgbClr val="000000"/>
                </a:solidFill>
                <a:latin typeface="Arial" pitchFamily="34" charset="0"/>
                <a:ea typeface="Arial" pitchFamily="34" charset="-122"/>
                <a:cs typeface="Arial" pitchFamily="34" charset="-120"/>
              </a:rPr>
              <a:t>2</a:t>
            </a:r>
            <a:endParaRPr lang="en-US" sz="3600" dirty="0"/>
          </a:p>
        </p:txBody>
      </p:sp>
      <p:sp>
        <p:nvSpPr>
          <p:cNvPr id="13" name="Text 10"/>
          <p:cNvSpPr txBox="1"/>
          <p:nvPr/>
        </p:nvSpPr>
        <p:spPr>
          <a:xfrm>
            <a:off x="5532120" y="1417320"/>
            <a:ext cx="2926080" cy="36576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Headroom-aware</a:t>
            </a:r>
            <a:endParaRPr lang="en-US" sz="1800" dirty="0"/>
          </a:p>
        </p:txBody>
      </p:sp>
      <p:sp>
        <p:nvSpPr>
          <p:cNvPr id="14" name="Text 11"/>
          <p:cNvSpPr txBox="1"/>
          <p:nvPr/>
        </p:nvSpPr>
        <p:spPr>
          <a:xfrm>
            <a:off x="5532120" y="1828800"/>
            <a:ext cx="2926080" cy="822960"/>
          </a:xfrm>
          <a:prstGeom prst="rect">
            <a:avLst/>
          </a:prstGeom>
          <a:noFill/>
          <a:ln/>
        </p:spPr>
        <p:txBody>
          <a:bodyPr wrap="square" lIns="0" tIns="0" rIns="0" bIns="0" rtlCol="0" anchor="t"/>
          <a:lstStyle/>
          <a:p>
            <a:pPr indent="0" marL="0">
              <a:buNone/>
            </a:pPr>
            <a:r>
              <a:rPr lang="en-US" sz="1300" dirty="0">
                <a:solidFill>
                  <a:srgbClr val="262626"/>
                </a:solidFill>
                <a:latin typeface="Arial" pitchFamily="34" charset="0"/>
                <a:ea typeface="Arial" pitchFamily="34" charset="-122"/>
                <a:cs typeface="Arial" pitchFamily="34" charset="-120"/>
              </a:rPr>
              <a:t>If two options are equally fast, pick the one that leaves spare memory.</a:t>
            </a:r>
            <a:endParaRPr lang="en-US" sz="1300" dirty="0"/>
          </a:p>
        </p:txBody>
      </p:sp>
      <p:sp>
        <p:nvSpPr>
          <p:cNvPr id="15" name="Shape 12"/>
          <p:cNvSpPr/>
          <p:nvPr/>
        </p:nvSpPr>
        <p:spPr>
          <a:xfrm>
            <a:off x="457200" y="2880360"/>
            <a:ext cx="4023360" cy="1554480"/>
          </a:xfrm>
          <a:prstGeom prst="rect">
            <a:avLst/>
          </a:prstGeom>
          <a:solidFill>
            <a:srgbClr val="F2F2F2"/>
          </a:solidFill>
          <a:ln w="12700">
            <a:solidFill>
              <a:srgbClr val="F2F2F2"/>
            </a:solidFill>
            <a:prstDash val="solid"/>
          </a:ln>
        </p:spPr>
      </p:sp>
      <p:sp>
        <p:nvSpPr>
          <p:cNvPr id="16" name="Text 13"/>
          <p:cNvSpPr txBox="1"/>
          <p:nvPr/>
        </p:nvSpPr>
        <p:spPr>
          <a:xfrm>
            <a:off x="685800" y="3063240"/>
            <a:ext cx="548640" cy="548640"/>
          </a:xfrm>
          <a:prstGeom prst="rect">
            <a:avLst/>
          </a:prstGeom>
          <a:noFill/>
          <a:ln/>
        </p:spPr>
        <p:txBody>
          <a:bodyPr wrap="square" lIns="0" tIns="0" rIns="0" bIns="0" rtlCol="0" anchor="ctr"/>
          <a:lstStyle/>
          <a:p>
            <a:pPr indent="0" marL="0">
              <a:buNone/>
            </a:pPr>
            <a:r>
              <a:rPr lang="en-US" sz="3600" b="1" dirty="0">
                <a:solidFill>
                  <a:srgbClr val="000000"/>
                </a:solidFill>
                <a:latin typeface="Arial" pitchFamily="34" charset="0"/>
                <a:ea typeface="Arial" pitchFamily="34" charset="-122"/>
                <a:cs typeface="Arial" pitchFamily="34" charset="-120"/>
              </a:rPr>
              <a:t>3</a:t>
            </a:r>
            <a:endParaRPr lang="en-US" sz="3600" dirty="0"/>
          </a:p>
        </p:txBody>
      </p:sp>
      <p:sp>
        <p:nvSpPr>
          <p:cNvPr id="17" name="Text 14"/>
          <p:cNvSpPr txBox="1"/>
          <p:nvPr/>
        </p:nvSpPr>
        <p:spPr>
          <a:xfrm>
            <a:off x="1325880" y="3108960"/>
            <a:ext cx="2926080" cy="36576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Self-healing</a:t>
            </a:r>
            <a:endParaRPr lang="en-US" sz="1800" dirty="0"/>
          </a:p>
        </p:txBody>
      </p:sp>
      <p:sp>
        <p:nvSpPr>
          <p:cNvPr id="18" name="Text 15"/>
          <p:cNvSpPr txBox="1"/>
          <p:nvPr/>
        </p:nvSpPr>
        <p:spPr>
          <a:xfrm>
            <a:off x="1325880" y="3520440"/>
            <a:ext cx="2926080" cy="822960"/>
          </a:xfrm>
          <a:prstGeom prst="rect">
            <a:avLst/>
          </a:prstGeom>
          <a:noFill/>
          <a:ln/>
        </p:spPr>
        <p:txBody>
          <a:bodyPr wrap="square" lIns="0" tIns="0" rIns="0" bIns="0" rtlCol="0" anchor="t"/>
          <a:lstStyle/>
          <a:p>
            <a:pPr indent="0" marL="0">
              <a:buNone/>
            </a:pPr>
            <a:r>
              <a:rPr lang="en-US" sz="1300" dirty="0">
                <a:solidFill>
                  <a:srgbClr val="262626"/>
                </a:solidFill>
                <a:latin typeface="Arial" pitchFamily="34" charset="0"/>
                <a:ea typeface="Arial" pitchFamily="34" charset="-122"/>
                <a:cs typeface="Arial" pitchFamily="34" charset="-120"/>
              </a:rPr>
              <a:t>Each run checks speed first. If it dropped, fall back to Ollama's safe default.</a:t>
            </a:r>
            <a:endParaRPr lang="en-US" sz="1300" dirty="0"/>
          </a:p>
        </p:txBody>
      </p:sp>
      <p:sp>
        <p:nvSpPr>
          <p:cNvPr id="19" name="Shape 16"/>
          <p:cNvSpPr/>
          <p:nvPr/>
        </p:nvSpPr>
        <p:spPr>
          <a:xfrm>
            <a:off x="4663440" y="2880360"/>
            <a:ext cx="4023360" cy="1554480"/>
          </a:xfrm>
          <a:prstGeom prst="rect">
            <a:avLst/>
          </a:prstGeom>
          <a:solidFill>
            <a:srgbClr val="F2F2F2"/>
          </a:solidFill>
          <a:ln w="12700">
            <a:solidFill>
              <a:srgbClr val="F2F2F2"/>
            </a:solidFill>
            <a:prstDash val="solid"/>
          </a:ln>
        </p:spPr>
      </p:sp>
      <p:sp>
        <p:nvSpPr>
          <p:cNvPr id="20" name="Text 17"/>
          <p:cNvSpPr txBox="1"/>
          <p:nvPr/>
        </p:nvSpPr>
        <p:spPr>
          <a:xfrm>
            <a:off x="4892040" y="3063240"/>
            <a:ext cx="548640" cy="548640"/>
          </a:xfrm>
          <a:prstGeom prst="rect">
            <a:avLst/>
          </a:prstGeom>
          <a:noFill/>
          <a:ln/>
        </p:spPr>
        <p:txBody>
          <a:bodyPr wrap="square" lIns="0" tIns="0" rIns="0" bIns="0" rtlCol="0" anchor="ctr"/>
          <a:lstStyle/>
          <a:p>
            <a:pPr indent="0" marL="0">
              <a:buNone/>
            </a:pPr>
            <a:r>
              <a:rPr lang="en-US" sz="3600" b="1" dirty="0">
                <a:solidFill>
                  <a:srgbClr val="000000"/>
                </a:solidFill>
                <a:latin typeface="Arial" pitchFamily="34" charset="0"/>
                <a:ea typeface="Arial" pitchFamily="34" charset="-122"/>
                <a:cs typeface="Arial" pitchFamily="34" charset="-120"/>
              </a:rPr>
              <a:t>4</a:t>
            </a:r>
            <a:endParaRPr lang="en-US" sz="3600" dirty="0"/>
          </a:p>
        </p:txBody>
      </p:sp>
      <p:sp>
        <p:nvSpPr>
          <p:cNvPr id="21" name="Text 18"/>
          <p:cNvSpPr txBox="1"/>
          <p:nvPr/>
        </p:nvSpPr>
        <p:spPr>
          <a:xfrm>
            <a:off x="5532120" y="3108960"/>
            <a:ext cx="2926080" cy="365760"/>
          </a:xfrm>
          <a:prstGeom prst="rect">
            <a:avLst/>
          </a:prstGeom>
          <a:noFill/>
          <a:ln/>
        </p:spPr>
        <p:txBody>
          <a:bodyPr wrap="square" lIns="0" tIns="0" rIns="0" bIns="0" rtlCol="0" anchor="ctr"/>
          <a:lstStyle/>
          <a:p>
            <a:pPr indent="0" marL="0">
              <a:buNone/>
            </a:pPr>
            <a:r>
              <a:rPr lang="en-US" sz="1800" b="1" dirty="0">
                <a:solidFill>
                  <a:srgbClr val="000000"/>
                </a:solidFill>
                <a:latin typeface="Arial" pitchFamily="34" charset="0"/>
                <a:ea typeface="Arial" pitchFamily="34" charset="-122"/>
                <a:cs typeface="Arial" pitchFamily="34" charset="-120"/>
              </a:rPr>
              <a:t>Scheduled</a:t>
            </a:r>
            <a:endParaRPr lang="en-US" sz="1800" dirty="0"/>
          </a:p>
        </p:txBody>
      </p:sp>
      <p:sp>
        <p:nvSpPr>
          <p:cNvPr id="22" name="Text 19"/>
          <p:cNvSpPr txBox="1"/>
          <p:nvPr/>
        </p:nvSpPr>
        <p:spPr>
          <a:xfrm>
            <a:off x="5532120" y="3520440"/>
            <a:ext cx="2926080" cy="822960"/>
          </a:xfrm>
          <a:prstGeom prst="rect">
            <a:avLst/>
          </a:prstGeom>
          <a:noFill/>
          <a:ln/>
        </p:spPr>
        <p:txBody>
          <a:bodyPr wrap="square" lIns="0" tIns="0" rIns="0" bIns="0" rtlCol="0" anchor="t"/>
          <a:lstStyle/>
          <a:p>
            <a:pPr indent="0" marL="0">
              <a:buNone/>
            </a:pPr>
            <a:r>
              <a:rPr lang="en-US" sz="1300" dirty="0">
                <a:solidFill>
                  <a:srgbClr val="262626"/>
                </a:solidFill>
                <a:latin typeface="Arial" pitchFamily="34" charset="0"/>
                <a:ea typeface="Arial" pitchFamily="34" charset="-122"/>
                <a:cs typeface="Arial" pitchFamily="34" charset="-120"/>
              </a:rPr>
              <a:t>One scheduler keeps the busy model loaded and lets urgent agents go first.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3" name="Text 0"/>
          <p:cNvSpPr txBox="1"/>
          <p:nvPr/>
        </p:nvSpPr>
        <p:spPr>
          <a:xfrm>
            <a:off x="548640" y="457200"/>
            <a:ext cx="2743200" cy="1280160"/>
          </a:xfrm>
          <a:prstGeom prst="rect">
            <a:avLst/>
          </a:prstGeom>
          <a:noFill/>
          <a:ln/>
        </p:spPr>
        <p:txBody>
          <a:bodyPr wrap="square" lIns="0" tIns="0" rIns="0" bIns="0" rtlCol="0" anchor="b"/>
          <a:lstStyle/>
          <a:p>
            <a:pPr indent="0" marL="0">
              <a:buNone/>
            </a:pPr>
            <a:r>
              <a:rPr lang="en-US" sz="9600" b="1" dirty="0">
                <a:solidFill>
                  <a:srgbClr val="FFFFFF"/>
                </a:solidFill>
                <a:latin typeface="Arial" pitchFamily="34" charset="0"/>
                <a:ea typeface="Arial" pitchFamily="34" charset="-122"/>
                <a:cs typeface="Arial" pitchFamily="34" charset="-120"/>
              </a:rPr>
              <a:t>05</a:t>
            </a:r>
            <a:endParaRPr lang="en-US" sz="9600" dirty="0"/>
          </a:p>
        </p:txBody>
      </p:sp>
      <p:sp>
        <p:nvSpPr>
          <p:cNvPr id="4" name="Text 1"/>
          <p:cNvSpPr txBox="1"/>
          <p:nvPr/>
        </p:nvSpPr>
        <p:spPr>
          <a:xfrm>
            <a:off x="548640" y="1783080"/>
            <a:ext cx="3657600" cy="6400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Test</a:t>
            </a:r>
            <a:endParaRPr lang="en-US" sz="4000" dirty="0"/>
          </a:p>
        </p:txBody>
      </p:sp>
      <p:sp>
        <p:nvSpPr>
          <p:cNvPr id="5" name="Shape 2"/>
          <p:cNvSpPr/>
          <p:nvPr/>
        </p:nvSpPr>
        <p:spPr>
          <a:xfrm>
            <a:off x="548640" y="2697480"/>
            <a:ext cx="914400" cy="9144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86384" y="2935224"/>
            <a:ext cx="438912" cy="438912"/>
          </a:xfrm>
          <a:prstGeom prst="rect">
            <a:avLst/>
          </a:prstGeom>
        </p:spPr>
      </p:pic>
      <p:sp>
        <p:nvSpPr>
          <p:cNvPr id="7" name="Text 3"/>
          <p:cNvSpPr txBox="1"/>
          <p:nvPr/>
        </p:nvSpPr>
        <p:spPr>
          <a:xfrm>
            <a:off x="1691640" y="2697480"/>
            <a:ext cx="2377440" cy="914400"/>
          </a:xfrm>
          <a:prstGeom prst="rect">
            <a:avLst/>
          </a:prstGeom>
          <a:noFill/>
          <a:ln/>
        </p:spPr>
        <p:txBody>
          <a:bodyPr wrap="square" lIns="0" tIns="0" rIns="0" bIns="0" rtlCol="0" anchor="ctr"/>
          <a:lstStyle/>
          <a:p>
            <a:pPr indent="0" marL="0">
              <a:buNone/>
            </a:pPr>
            <a:r>
              <a:rPr lang="en-US" sz="1500" i="1" dirty="0">
                <a:solidFill>
                  <a:srgbClr val="BFBFBF"/>
                </a:solidFill>
                <a:latin typeface="Arial" pitchFamily="34" charset="0"/>
                <a:ea typeface="Arial" pitchFamily="34" charset="-122"/>
                <a:cs typeface="Arial" pitchFamily="34" charset="-120"/>
              </a:rPr>
              <a:t>Measure honestly, even the bad news.</a:t>
            </a:r>
            <a:endParaRPr lang="en-US" sz="1500" dirty="0"/>
          </a:p>
        </p:txBody>
      </p:sp>
      <p:sp>
        <p:nvSpPr>
          <p:cNvPr id="8" name="Shape 4"/>
          <p:cNvSpPr/>
          <p:nvPr/>
        </p:nvSpPr>
        <p:spPr>
          <a:xfrm>
            <a:off x="4480560" y="457200"/>
            <a:ext cx="4206240" cy="4206240"/>
          </a:xfrm>
          <a:prstGeom prst="rect">
            <a:avLst/>
          </a:prstGeom>
          <a:solidFill>
            <a:srgbClr val="FFFFFF"/>
          </a:solidFill>
          <a:ln w="12700">
            <a:solidFill>
              <a:srgbClr val="FFFFFF"/>
            </a:solidFill>
            <a:prstDash val="solid"/>
          </a:ln>
        </p:spPr>
      </p:sp>
      <p:sp>
        <p:nvSpPr>
          <p:cNvPr id="9" name="Text 5"/>
          <p:cNvSpPr txBox="1"/>
          <p:nvPr/>
        </p:nvSpPr>
        <p:spPr>
          <a:xfrm>
            <a:off x="4754880" y="6858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WHAT IT MEANS</a:t>
            </a:r>
            <a:endParaRPr lang="en-US" sz="1100" dirty="0"/>
          </a:p>
        </p:txBody>
      </p:sp>
      <p:sp>
        <p:nvSpPr>
          <p:cNvPr id="10" name="Text 6"/>
          <p:cNvSpPr txBox="1"/>
          <p:nvPr/>
        </p:nvSpPr>
        <p:spPr>
          <a:xfrm>
            <a:off x="4754880" y="9601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Try the prototype in the real world and measure what happens. Learn what works and what does not.</a:t>
            </a:r>
            <a:endParaRPr lang="en-US" sz="1400" dirty="0"/>
          </a:p>
        </p:txBody>
      </p:sp>
      <p:sp>
        <p:nvSpPr>
          <p:cNvPr id="11" name="Text 7"/>
          <p:cNvSpPr txBox="1"/>
          <p:nvPr/>
        </p:nvSpPr>
        <p:spPr>
          <a:xfrm>
            <a:off x="4754880" y="20574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THE QUESTION IT ASKS</a:t>
            </a:r>
            <a:endParaRPr lang="en-US" sz="1100" dirty="0"/>
          </a:p>
        </p:txBody>
      </p:sp>
      <p:sp>
        <p:nvSpPr>
          <p:cNvPr id="12" name="Text 8"/>
          <p:cNvSpPr txBox="1"/>
          <p:nvPr/>
        </p:nvSpPr>
        <p:spPr>
          <a:xfrm>
            <a:off x="4754880" y="23317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Does it actually solve the problem?</a:t>
            </a:r>
            <a:endParaRPr lang="en-US" sz="1400" dirty="0"/>
          </a:p>
        </p:txBody>
      </p:sp>
      <p:sp>
        <p:nvSpPr>
          <p:cNvPr id="13" name="Text 9"/>
          <p:cNvSpPr txBox="1"/>
          <p:nvPr/>
        </p:nvSpPr>
        <p:spPr>
          <a:xfrm>
            <a:off x="4754880" y="3429000"/>
            <a:ext cx="3657600" cy="256032"/>
          </a:xfrm>
          <a:prstGeom prst="rect">
            <a:avLst/>
          </a:prstGeom>
          <a:noFill/>
          <a:ln/>
        </p:spPr>
        <p:txBody>
          <a:bodyPr wrap="square" lIns="0" tIns="0" rIns="0" bIns="0" rtlCol="0" anchor="ctr"/>
          <a:lstStyle/>
          <a:p>
            <a:pPr indent="0" marL="0">
              <a:buNone/>
            </a:pPr>
            <a:r>
              <a:rPr lang="en-US" sz="1100" b="1" spc="200" kern="0" dirty="0">
                <a:solidFill>
                  <a:srgbClr val="8C8C8C"/>
                </a:solidFill>
                <a:latin typeface="Arial" pitchFamily="34" charset="0"/>
                <a:ea typeface="Arial" pitchFamily="34" charset="-122"/>
                <a:cs typeface="Arial" pitchFamily="34" charset="-120"/>
              </a:rPr>
              <a:t>IN RAMER WE</a:t>
            </a:r>
            <a:endParaRPr lang="en-US" sz="1100" dirty="0"/>
          </a:p>
        </p:txBody>
      </p:sp>
      <p:sp>
        <p:nvSpPr>
          <p:cNvPr id="14" name="Text 10"/>
          <p:cNvSpPr txBox="1"/>
          <p:nvPr/>
        </p:nvSpPr>
        <p:spPr>
          <a:xfrm>
            <a:off x="4754880" y="3703320"/>
            <a:ext cx="3657600" cy="96012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compared Ramer against Ollama's default on a real 8 GB RTX 5060, and checked results with git diff and pytest.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How we tested fairly</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05 TEST</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17</a:t>
            </a:r>
            <a:endParaRPr lang="en-US" sz="1000" dirty="0"/>
          </a:p>
        </p:txBody>
      </p:sp>
      <p:sp>
        <p:nvSpPr>
          <p:cNvPr id="7" name="Shape 4"/>
          <p:cNvSpPr/>
          <p:nvPr/>
        </p:nvSpPr>
        <p:spPr>
          <a:xfrm>
            <a:off x="457200" y="1188720"/>
            <a:ext cx="1938528" cy="2834640"/>
          </a:xfrm>
          <a:prstGeom prst="rect">
            <a:avLst/>
          </a:prstGeom>
          <a:solidFill>
            <a:srgbClr val="FFFFFF"/>
          </a:solidFill>
          <a:ln w="19050">
            <a:solidFill>
              <a:srgbClr val="000000"/>
            </a:solidFill>
            <a:prstDash val="solid"/>
          </a:ln>
        </p:spPr>
      </p:sp>
      <p:sp>
        <p:nvSpPr>
          <p:cNvPr id="8" name="Shape 5"/>
          <p:cNvSpPr/>
          <p:nvPr/>
        </p:nvSpPr>
        <p:spPr>
          <a:xfrm>
            <a:off x="685800" y="1417320"/>
            <a:ext cx="594360" cy="594360"/>
          </a:xfrm>
          <a:prstGeom prst="ellipse">
            <a:avLst/>
          </a:prstGeom>
          <a:solidFill>
            <a:srgbClr val="000000"/>
          </a:solidFill>
          <a:ln w="12700">
            <a:solidFill>
              <a:srgbClr val="000000"/>
            </a:solidFill>
            <a:prstDash val="solid"/>
          </a:ln>
        </p:spPr>
      </p:sp>
      <p:pic>
        <p:nvPicPr>
          <p:cNvPr id="9" name="Image 0" descr="preencoded.png">    </p:cNvPr>
          <p:cNvPicPr>
            <a:picLocks noChangeAspect="1"/>
          </p:cNvPicPr>
          <p:nvPr/>
        </p:nvPicPr>
        <p:blipFill>
          <a:blip r:embed="rId1"/>
          <a:stretch>
            <a:fillRect/>
          </a:stretch>
        </p:blipFill>
        <p:spPr>
          <a:xfrm>
            <a:off x="840334" y="1571854"/>
            <a:ext cx="285293" cy="285293"/>
          </a:xfrm>
          <a:prstGeom prst="rect">
            <a:avLst/>
          </a:prstGeom>
        </p:spPr>
      </p:pic>
      <p:sp>
        <p:nvSpPr>
          <p:cNvPr id="10" name="Text 6"/>
          <p:cNvSpPr txBox="1"/>
          <p:nvPr/>
        </p:nvSpPr>
        <p:spPr>
          <a:xfrm>
            <a:off x="640080" y="2194560"/>
            <a:ext cx="1600200" cy="64008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Same machine</a:t>
            </a:r>
            <a:endParaRPr lang="en-US" sz="1600" dirty="0"/>
          </a:p>
        </p:txBody>
      </p:sp>
      <p:sp>
        <p:nvSpPr>
          <p:cNvPr id="11" name="Text 7"/>
          <p:cNvSpPr txBox="1"/>
          <p:nvPr/>
        </p:nvSpPr>
        <p:spPr>
          <a:xfrm>
            <a:off x="640080" y="2834640"/>
            <a:ext cx="1600200" cy="109728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One real PC: RTX 5060 with 8 GB VRAM.</a:t>
            </a:r>
            <a:endParaRPr lang="en-US" sz="1200" dirty="0"/>
          </a:p>
        </p:txBody>
      </p:sp>
      <p:sp>
        <p:nvSpPr>
          <p:cNvPr id="12" name="Shape 8"/>
          <p:cNvSpPr/>
          <p:nvPr/>
        </p:nvSpPr>
        <p:spPr>
          <a:xfrm>
            <a:off x="2542032" y="1188720"/>
            <a:ext cx="1938528" cy="2834640"/>
          </a:xfrm>
          <a:prstGeom prst="rect">
            <a:avLst/>
          </a:prstGeom>
          <a:solidFill>
            <a:srgbClr val="FFFFFF"/>
          </a:solidFill>
          <a:ln w="19050">
            <a:solidFill>
              <a:srgbClr val="000000"/>
            </a:solidFill>
            <a:prstDash val="solid"/>
          </a:ln>
        </p:spPr>
      </p:sp>
      <p:sp>
        <p:nvSpPr>
          <p:cNvPr id="13" name="Shape 9"/>
          <p:cNvSpPr/>
          <p:nvPr/>
        </p:nvSpPr>
        <p:spPr>
          <a:xfrm>
            <a:off x="2770632" y="1417320"/>
            <a:ext cx="594360" cy="594360"/>
          </a:xfrm>
          <a:prstGeom prst="ellipse">
            <a:avLst/>
          </a:prstGeom>
          <a:solidFill>
            <a:srgbClr val="000000"/>
          </a:solidFill>
          <a:ln w="12700">
            <a:solidFill>
              <a:srgbClr val="000000"/>
            </a:solidFill>
            <a:prstDash val="solid"/>
          </a:ln>
        </p:spPr>
      </p:sp>
      <p:pic>
        <p:nvPicPr>
          <p:cNvPr id="14" name="Image 1" descr="preencoded.png">    </p:cNvPr>
          <p:cNvPicPr>
            <a:picLocks noChangeAspect="1"/>
          </p:cNvPicPr>
          <p:nvPr/>
        </p:nvPicPr>
        <p:blipFill>
          <a:blip r:embed="rId2"/>
          <a:stretch>
            <a:fillRect/>
          </a:stretch>
        </p:blipFill>
        <p:spPr>
          <a:xfrm>
            <a:off x="2925166" y="1571854"/>
            <a:ext cx="285293" cy="285293"/>
          </a:xfrm>
          <a:prstGeom prst="rect">
            <a:avLst/>
          </a:prstGeom>
        </p:spPr>
      </p:pic>
      <p:sp>
        <p:nvSpPr>
          <p:cNvPr id="15" name="Text 10"/>
          <p:cNvSpPr txBox="1"/>
          <p:nvPr/>
        </p:nvSpPr>
        <p:spPr>
          <a:xfrm>
            <a:off x="2724912" y="2194560"/>
            <a:ext cx="1600200" cy="64008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Fair comparison</a:t>
            </a:r>
            <a:endParaRPr lang="en-US" sz="1600" dirty="0"/>
          </a:p>
        </p:txBody>
      </p:sp>
      <p:sp>
        <p:nvSpPr>
          <p:cNvPr id="16" name="Text 11"/>
          <p:cNvSpPr txBox="1"/>
          <p:nvPr/>
        </p:nvSpPr>
        <p:spPr>
          <a:xfrm>
            <a:off x="2724912" y="2834640"/>
            <a:ext cx="1600200" cy="109728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Always against Ollama's own default placement.</a:t>
            </a:r>
            <a:endParaRPr lang="en-US" sz="1200" dirty="0"/>
          </a:p>
        </p:txBody>
      </p:sp>
      <p:sp>
        <p:nvSpPr>
          <p:cNvPr id="17" name="Shape 12"/>
          <p:cNvSpPr/>
          <p:nvPr/>
        </p:nvSpPr>
        <p:spPr>
          <a:xfrm>
            <a:off x="4626864" y="1188720"/>
            <a:ext cx="1938528" cy="2834640"/>
          </a:xfrm>
          <a:prstGeom prst="rect">
            <a:avLst/>
          </a:prstGeom>
          <a:solidFill>
            <a:srgbClr val="FFFFFF"/>
          </a:solidFill>
          <a:ln w="19050">
            <a:solidFill>
              <a:srgbClr val="000000"/>
            </a:solidFill>
            <a:prstDash val="solid"/>
          </a:ln>
        </p:spPr>
      </p:sp>
      <p:sp>
        <p:nvSpPr>
          <p:cNvPr id="18" name="Shape 13"/>
          <p:cNvSpPr/>
          <p:nvPr/>
        </p:nvSpPr>
        <p:spPr>
          <a:xfrm>
            <a:off x="4855464" y="1417320"/>
            <a:ext cx="594360" cy="594360"/>
          </a:xfrm>
          <a:prstGeom prst="ellipse">
            <a:avLst/>
          </a:prstGeom>
          <a:solidFill>
            <a:srgbClr val="000000"/>
          </a:solidFill>
          <a:ln w="12700">
            <a:solidFill>
              <a:srgbClr val="000000"/>
            </a:solidFill>
            <a:prstDash val="solid"/>
          </a:ln>
        </p:spPr>
      </p:sp>
      <p:pic>
        <p:nvPicPr>
          <p:cNvPr id="19" name="Image 2" descr="preencoded.png">    </p:cNvPr>
          <p:cNvPicPr>
            <a:picLocks noChangeAspect="1"/>
          </p:cNvPicPr>
          <p:nvPr/>
        </p:nvPicPr>
        <p:blipFill>
          <a:blip r:embed="rId3"/>
          <a:stretch>
            <a:fillRect/>
          </a:stretch>
        </p:blipFill>
        <p:spPr>
          <a:xfrm>
            <a:off x="5009998" y="1571854"/>
            <a:ext cx="285293" cy="285293"/>
          </a:xfrm>
          <a:prstGeom prst="rect">
            <a:avLst/>
          </a:prstGeom>
        </p:spPr>
      </p:pic>
      <p:sp>
        <p:nvSpPr>
          <p:cNvPr id="20" name="Text 14"/>
          <p:cNvSpPr txBox="1"/>
          <p:nvPr/>
        </p:nvSpPr>
        <p:spPr>
          <a:xfrm>
            <a:off x="4809744" y="2194560"/>
            <a:ext cx="1600200" cy="64008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Checked outcomes</a:t>
            </a:r>
            <a:endParaRPr lang="en-US" sz="1600" dirty="0"/>
          </a:p>
        </p:txBody>
      </p:sp>
      <p:sp>
        <p:nvSpPr>
          <p:cNvPr id="21" name="Text 15"/>
          <p:cNvSpPr txBox="1"/>
          <p:nvPr/>
        </p:nvSpPr>
        <p:spPr>
          <a:xfrm>
            <a:off x="4809744" y="2834640"/>
            <a:ext cx="1600200" cy="1097280"/>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Task results verified by git diff and pytest, not by the model.</a:t>
            </a:r>
            <a:endParaRPr lang="en-US" sz="1200" dirty="0"/>
          </a:p>
        </p:txBody>
      </p:sp>
      <p:sp>
        <p:nvSpPr>
          <p:cNvPr id="22" name="Shape 16"/>
          <p:cNvSpPr/>
          <p:nvPr/>
        </p:nvSpPr>
        <p:spPr>
          <a:xfrm>
            <a:off x="6711696" y="1188720"/>
            <a:ext cx="1938528" cy="2834640"/>
          </a:xfrm>
          <a:prstGeom prst="rect">
            <a:avLst/>
          </a:prstGeom>
          <a:solidFill>
            <a:srgbClr val="000000"/>
          </a:solidFill>
          <a:ln w="19050">
            <a:solidFill>
              <a:srgbClr val="000000"/>
            </a:solidFill>
            <a:prstDash val="solid"/>
          </a:ln>
        </p:spPr>
      </p:sp>
      <p:sp>
        <p:nvSpPr>
          <p:cNvPr id="23" name="Shape 17"/>
          <p:cNvSpPr/>
          <p:nvPr/>
        </p:nvSpPr>
        <p:spPr>
          <a:xfrm>
            <a:off x="6940296" y="1417320"/>
            <a:ext cx="594360" cy="59436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094830" y="1571854"/>
            <a:ext cx="285293" cy="285293"/>
          </a:xfrm>
          <a:prstGeom prst="rect">
            <a:avLst/>
          </a:prstGeom>
        </p:spPr>
      </p:pic>
      <p:sp>
        <p:nvSpPr>
          <p:cNvPr id="25" name="Text 18"/>
          <p:cNvSpPr txBox="1"/>
          <p:nvPr/>
        </p:nvSpPr>
        <p:spPr>
          <a:xfrm>
            <a:off x="6894576" y="2194560"/>
            <a:ext cx="1600200" cy="64008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Bad news included</a:t>
            </a:r>
            <a:endParaRPr lang="en-US" sz="1600" dirty="0"/>
          </a:p>
        </p:txBody>
      </p:sp>
      <p:sp>
        <p:nvSpPr>
          <p:cNvPr id="26" name="Text 19"/>
          <p:cNvSpPr txBox="1"/>
          <p:nvPr/>
        </p:nvSpPr>
        <p:spPr>
          <a:xfrm>
            <a:off x="6894576" y="2834640"/>
            <a:ext cx="1600200" cy="1097280"/>
          </a:xfrm>
          <a:prstGeom prst="rect">
            <a:avLst/>
          </a:prstGeom>
          <a:noFill/>
          <a:ln/>
        </p:spPr>
        <p:txBody>
          <a:bodyPr wrap="square" lIns="0" tIns="0" rIns="0" bIns="0" rtlCol="0" anchor="t"/>
          <a:lstStyle/>
          <a:p>
            <a:pPr indent="0" marL="0">
              <a:buNone/>
            </a:pPr>
            <a:r>
              <a:rPr lang="en-US" sz="1200" dirty="0">
                <a:solidFill>
                  <a:srgbClr val="BFBFBF"/>
                </a:solidFill>
                <a:latin typeface="Arial" pitchFamily="34" charset="0"/>
                <a:ea typeface="Arial" pitchFamily="34" charset="-122"/>
                <a:cs typeface="Arial" pitchFamily="34" charset="-120"/>
              </a:rPr>
              <a:t>Negative results are reported, not hidden.</a:t>
            </a:r>
            <a:endParaRPr lang="en-US" sz="1200" dirty="0"/>
          </a:p>
        </p:txBody>
      </p:sp>
      <p:sp>
        <p:nvSpPr>
          <p:cNvPr id="27" name="Text 20"/>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300" i="1" dirty="0">
                <a:solidFill>
                  <a:srgbClr val="595959"/>
                </a:solidFill>
                <a:latin typeface="Arial" pitchFamily="34" charset="0"/>
                <a:ea typeface="Arial" pitchFamily="34" charset="-122"/>
                <a:cs typeface="Arial" pitchFamily="34" charset="-120"/>
              </a:rPr>
              <a:t>Not a benchmark suite and not a general guarantee: real measurements on one real machine.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Result 1: it makes models faster</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05 TEST</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18</a:t>
            </a:r>
            <a:endParaRPr lang="en-US" sz="1000" dirty="0"/>
          </a:p>
        </p:txBody>
      </p:sp>
      <p:sp>
        <p:nvSpPr>
          <p:cNvPr id="7" name="Shape 4"/>
          <p:cNvSpPr/>
          <p:nvPr/>
        </p:nvSpPr>
        <p:spPr>
          <a:xfrm>
            <a:off x="457200" y="1188720"/>
            <a:ext cx="2606040" cy="3291840"/>
          </a:xfrm>
          <a:prstGeom prst="rect">
            <a:avLst/>
          </a:prstGeom>
          <a:solidFill>
            <a:srgbClr val="FFFFFF"/>
          </a:solidFill>
          <a:ln w="19050">
            <a:solidFill>
              <a:srgbClr val="000000"/>
            </a:solidFill>
            <a:prstDash val="solid"/>
          </a:ln>
        </p:spPr>
      </p:sp>
      <p:sp>
        <p:nvSpPr>
          <p:cNvPr id="8" name="Text 5"/>
          <p:cNvSpPr txBox="1"/>
          <p:nvPr/>
        </p:nvSpPr>
        <p:spPr>
          <a:xfrm>
            <a:off x="685800" y="1463040"/>
            <a:ext cx="2194560" cy="1005840"/>
          </a:xfrm>
          <a:prstGeom prst="rect">
            <a:avLst/>
          </a:prstGeom>
          <a:noFill/>
          <a:ln/>
        </p:spPr>
        <p:txBody>
          <a:bodyPr wrap="square" lIns="0" tIns="0" rIns="0" bIns="0" rtlCol="0" anchor="ctr"/>
          <a:lstStyle/>
          <a:p>
            <a:pPr indent="0" marL="0">
              <a:buNone/>
            </a:pPr>
            <a:r>
              <a:rPr lang="en-US" sz="4600" b="1" dirty="0">
                <a:solidFill>
                  <a:srgbClr val="000000"/>
                </a:solidFill>
                <a:latin typeface="Arial" pitchFamily="34" charset="0"/>
                <a:ea typeface="Arial" pitchFamily="34" charset="-122"/>
                <a:cs typeface="Arial" pitchFamily="34" charset="-120"/>
              </a:rPr>
              <a:t>+61%</a:t>
            </a:r>
            <a:endParaRPr lang="en-US" sz="4600" dirty="0"/>
          </a:p>
        </p:txBody>
      </p:sp>
      <p:sp>
        <p:nvSpPr>
          <p:cNvPr id="9" name="Text 6"/>
          <p:cNvSpPr txBox="1"/>
          <p:nvPr/>
        </p:nvSpPr>
        <p:spPr>
          <a:xfrm>
            <a:off x="685800" y="2606040"/>
            <a:ext cx="2194560" cy="64008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Qwen2.5-14B</a:t>
            </a:r>
            <a:endParaRPr lang="en-US" sz="1600" dirty="0"/>
          </a:p>
        </p:txBody>
      </p:sp>
      <p:sp>
        <p:nvSpPr>
          <p:cNvPr id="10" name="Text 7"/>
          <p:cNvSpPr txBox="1"/>
          <p:nvPr/>
        </p:nvSpPr>
        <p:spPr>
          <a:xfrm>
            <a:off x="685800" y="3383280"/>
            <a:ext cx="2194560" cy="822960"/>
          </a:xfrm>
          <a:prstGeom prst="rect">
            <a:avLst/>
          </a:prstGeom>
          <a:noFill/>
          <a:ln/>
        </p:spPr>
        <p:txBody>
          <a:bodyPr wrap="square" lIns="0" tIns="0" rIns="0" bIns="0" rtlCol="0" anchor="t"/>
          <a:lstStyle/>
          <a:p>
            <a:pPr indent="0" marL="0">
              <a:buNone/>
            </a:pPr>
            <a:r>
              <a:rPr lang="en-US" sz="1300" dirty="0">
                <a:solidFill>
                  <a:srgbClr val="595959"/>
                </a:solidFill>
                <a:latin typeface="Arial" pitchFamily="34" charset="0"/>
                <a:ea typeface="Arial" pitchFamily="34" charset="-122"/>
                <a:cs typeface="Arial" pitchFamily="34" charset="-120"/>
              </a:rPr>
              <a:t>12.4 → 19.6 tokens per second</a:t>
            </a:r>
            <a:endParaRPr lang="en-US" sz="1300" dirty="0"/>
          </a:p>
        </p:txBody>
      </p:sp>
      <p:sp>
        <p:nvSpPr>
          <p:cNvPr id="11" name="Shape 8"/>
          <p:cNvSpPr/>
          <p:nvPr/>
        </p:nvSpPr>
        <p:spPr>
          <a:xfrm>
            <a:off x="3246120" y="1188720"/>
            <a:ext cx="2606040" cy="3291840"/>
          </a:xfrm>
          <a:prstGeom prst="rect">
            <a:avLst/>
          </a:prstGeom>
          <a:solidFill>
            <a:srgbClr val="000000"/>
          </a:solidFill>
          <a:ln w="19050">
            <a:solidFill>
              <a:srgbClr val="000000"/>
            </a:solidFill>
            <a:prstDash val="solid"/>
          </a:ln>
        </p:spPr>
      </p:sp>
      <p:sp>
        <p:nvSpPr>
          <p:cNvPr id="12" name="Text 9"/>
          <p:cNvSpPr txBox="1"/>
          <p:nvPr/>
        </p:nvSpPr>
        <p:spPr>
          <a:xfrm>
            <a:off x="3474720" y="1463040"/>
            <a:ext cx="2194560" cy="1005840"/>
          </a:xfrm>
          <a:prstGeom prst="rect">
            <a:avLst/>
          </a:prstGeom>
          <a:noFill/>
          <a:ln/>
        </p:spPr>
        <p:txBody>
          <a:bodyPr wrap="square" lIns="0" tIns="0" rIns="0" bIns="0" rtlCol="0" anchor="ctr"/>
          <a:lstStyle/>
          <a:p>
            <a:pPr indent="0" marL="0">
              <a:buNone/>
            </a:pPr>
            <a:r>
              <a:rPr lang="en-US" sz="4600" b="1" dirty="0">
                <a:solidFill>
                  <a:srgbClr val="FFFFFF"/>
                </a:solidFill>
                <a:latin typeface="Arial" pitchFamily="34" charset="0"/>
                <a:ea typeface="Arial" pitchFamily="34" charset="-122"/>
                <a:cs typeface="Arial" pitchFamily="34" charset="-120"/>
              </a:rPr>
              <a:t>+402%</a:t>
            </a:r>
            <a:endParaRPr lang="en-US" sz="4600" dirty="0"/>
          </a:p>
        </p:txBody>
      </p:sp>
      <p:sp>
        <p:nvSpPr>
          <p:cNvPr id="13" name="Text 10"/>
          <p:cNvSpPr txBox="1"/>
          <p:nvPr/>
        </p:nvSpPr>
        <p:spPr>
          <a:xfrm>
            <a:off x="3474720" y="2606040"/>
            <a:ext cx="2194560" cy="64008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Qwen3.8-27B</a:t>
            </a:r>
            <a:endParaRPr lang="en-US" sz="1600" dirty="0"/>
          </a:p>
        </p:txBody>
      </p:sp>
      <p:sp>
        <p:nvSpPr>
          <p:cNvPr id="14" name="Text 11"/>
          <p:cNvSpPr txBox="1"/>
          <p:nvPr/>
        </p:nvSpPr>
        <p:spPr>
          <a:xfrm>
            <a:off x="3474720" y="3383280"/>
            <a:ext cx="2194560" cy="822960"/>
          </a:xfrm>
          <a:prstGeom prst="rect">
            <a:avLst/>
          </a:prstGeom>
          <a:noFill/>
          <a:ln/>
        </p:spPr>
        <p:txBody>
          <a:bodyPr wrap="square" lIns="0" tIns="0" rIns="0" bIns="0" rtlCol="0" anchor="t"/>
          <a:lstStyle/>
          <a:p>
            <a:pPr indent="0" marL="0">
              <a:buNone/>
            </a:pPr>
            <a:r>
              <a:rPr lang="en-US" sz="1300" dirty="0">
                <a:solidFill>
                  <a:srgbClr val="BFBFBF"/>
                </a:solidFill>
                <a:latin typeface="Arial" pitchFamily="34" charset="0"/>
                <a:ea typeface="Arial" pitchFamily="34" charset="-122"/>
                <a:cs typeface="Arial" pitchFamily="34" charset="-120"/>
              </a:rPr>
              <a:t>5.9 → 29.6 tokens per second</a:t>
            </a:r>
            <a:endParaRPr lang="en-US" sz="1300" dirty="0"/>
          </a:p>
        </p:txBody>
      </p:sp>
      <p:sp>
        <p:nvSpPr>
          <p:cNvPr id="15" name="Shape 12"/>
          <p:cNvSpPr/>
          <p:nvPr/>
        </p:nvSpPr>
        <p:spPr>
          <a:xfrm>
            <a:off x="6035040" y="1188720"/>
            <a:ext cx="2606040" cy="3291840"/>
          </a:xfrm>
          <a:prstGeom prst="rect">
            <a:avLst/>
          </a:prstGeom>
          <a:solidFill>
            <a:srgbClr val="FFFFFF"/>
          </a:solidFill>
          <a:ln w="19050">
            <a:solidFill>
              <a:srgbClr val="000000"/>
            </a:solidFill>
            <a:prstDash val="solid"/>
          </a:ln>
        </p:spPr>
      </p:sp>
      <p:sp>
        <p:nvSpPr>
          <p:cNvPr id="16" name="Text 13"/>
          <p:cNvSpPr txBox="1"/>
          <p:nvPr/>
        </p:nvSpPr>
        <p:spPr>
          <a:xfrm>
            <a:off x="6263640" y="1463040"/>
            <a:ext cx="2194560" cy="1005840"/>
          </a:xfrm>
          <a:prstGeom prst="rect">
            <a:avLst/>
          </a:prstGeom>
          <a:noFill/>
          <a:ln/>
        </p:spPr>
        <p:txBody>
          <a:bodyPr wrap="square" lIns="0" tIns="0" rIns="0" bIns="0" rtlCol="0" anchor="ctr"/>
          <a:lstStyle/>
          <a:p>
            <a:pPr indent="0" marL="0">
              <a:buNone/>
            </a:pPr>
            <a:r>
              <a:rPr lang="en-US" sz="4600" b="1" dirty="0">
                <a:solidFill>
                  <a:srgbClr val="000000"/>
                </a:solidFill>
                <a:latin typeface="Arial" pitchFamily="34" charset="0"/>
                <a:ea typeface="Arial" pitchFamily="34" charset="-122"/>
                <a:cs typeface="Arial" pitchFamily="34" charset="-120"/>
              </a:rPr>
              <a:t>38%</a:t>
            </a:r>
            <a:endParaRPr lang="en-US" sz="4600" dirty="0"/>
          </a:p>
        </p:txBody>
      </p:sp>
      <p:sp>
        <p:nvSpPr>
          <p:cNvPr id="17" name="Text 14"/>
          <p:cNvSpPr txBox="1"/>
          <p:nvPr/>
        </p:nvSpPr>
        <p:spPr>
          <a:xfrm>
            <a:off x="6263640" y="2606040"/>
            <a:ext cx="2194560" cy="64008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less time on a real coding task</a:t>
            </a:r>
            <a:endParaRPr lang="en-US" sz="1600" dirty="0"/>
          </a:p>
        </p:txBody>
      </p:sp>
      <p:sp>
        <p:nvSpPr>
          <p:cNvPr id="18" name="Text 15"/>
          <p:cNvSpPr txBox="1"/>
          <p:nvPr/>
        </p:nvSpPr>
        <p:spPr>
          <a:xfrm>
            <a:off x="6263640" y="3383280"/>
            <a:ext cx="2194560" cy="822960"/>
          </a:xfrm>
          <a:prstGeom prst="rect">
            <a:avLst/>
          </a:prstGeom>
          <a:noFill/>
          <a:ln/>
        </p:spPr>
        <p:txBody>
          <a:bodyPr wrap="square" lIns="0" tIns="0" rIns="0" bIns="0" rtlCol="0" anchor="t"/>
          <a:lstStyle/>
          <a:p>
            <a:pPr indent="0" marL="0">
              <a:buNone/>
            </a:pPr>
            <a:r>
              <a:rPr lang="en-US" sz="1300" dirty="0">
                <a:solidFill>
                  <a:srgbClr val="595959"/>
                </a:solidFill>
                <a:latin typeface="Arial" pitchFamily="34" charset="0"/>
                <a:ea typeface="Arial" pitchFamily="34" charset="-122"/>
                <a:cs typeface="Arial" pitchFamily="34" charset="-120"/>
              </a:rPr>
              <a:t>89.2 s → 55.4 s, same correct result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Result 2: it shares the GPU</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05 TEST</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19</a:t>
            </a:r>
            <a:endParaRPr lang="en-US" sz="1000" dirty="0"/>
          </a:p>
        </p:txBody>
      </p:sp>
      <p:graphicFrame>
        <p:nvGraphicFramePr>
          <p:cNvPr id="7" name="Chart 0" descr=""/>
          <p:cNvGraphicFramePr/>
          <p:nvPr/>
        </p:nvGraphicFramePr>
        <p:xfrm>
          <a:off x="365760" y="114300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5852160" y="1280160"/>
            <a:ext cx="2834640" cy="822960"/>
          </a:xfrm>
          <a:prstGeom prst="rect">
            <a:avLst/>
          </a:prstGeom>
          <a:noFill/>
          <a:ln/>
        </p:spPr>
        <p:txBody>
          <a:bodyPr wrap="square" lIns="0" tIns="0" rIns="0" bIns="0" rtlCol="0" anchor="ctr"/>
          <a:lstStyle/>
          <a:p>
            <a:pPr indent="0" marL="0">
              <a:buNone/>
            </a:pPr>
            <a:r>
              <a:rPr lang="en-US" sz="5200" b="1" dirty="0">
                <a:solidFill>
                  <a:srgbClr val="000000"/>
                </a:solidFill>
                <a:latin typeface="Arial" pitchFamily="34" charset="0"/>
                <a:ea typeface="Arial" pitchFamily="34" charset="-122"/>
                <a:cs typeface="Arial" pitchFamily="34" charset="-120"/>
              </a:rPr>
              <a:t>44%</a:t>
            </a:r>
            <a:endParaRPr lang="en-US" sz="5200" dirty="0"/>
          </a:p>
        </p:txBody>
      </p:sp>
      <p:sp>
        <p:nvSpPr>
          <p:cNvPr id="9" name="Text 5"/>
          <p:cNvSpPr txBox="1"/>
          <p:nvPr/>
        </p:nvSpPr>
        <p:spPr>
          <a:xfrm>
            <a:off x="5852160" y="2103120"/>
            <a:ext cx="2834640" cy="59436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less waiting with the Ramer scheduler</a:t>
            </a:r>
            <a:endParaRPr lang="en-US" sz="1500" dirty="0"/>
          </a:p>
        </p:txBody>
      </p:sp>
      <p:sp>
        <p:nvSpPr>
          <p:cNvPr id="10" name="Text 6"/>
          <p:cNvSpPr txBox="1"/>
          <p:nvPr/>
        </p:nvSpPr>
        <p:spPr>
          <a:xfrm>
            <a:off x="5852160" y="2834640"/>
            <a:ext cx="2834640" cy="1371600"/>
          </a:xfrm>
          <a:prstGeom prst="rect">
            <a:avLst/>
          </a:prstGeom>
          <a:noFill/>
          <a:ln/>
        </p:spPr>
        <p:txBody>
          <a:bodyPr wrap="square" lIns="0" tIns="0" rIns="0" bIns="0" rtlCol="0" anchor="t"/>
          <a:lstStyle/>
          <a:p>
            <a:pPr indent="0" marL="0">
              <a:buNone/>
            </a:pPr>
            <a:r>
              <a:rPr lang="en-US" sz="1300" dirty="0">
                <a:solidFill>
                  <a:srgbClr val="262626"/>
                </a:solidFill>
                <a:latin typeface="Arial" pitchFamily="34" charset="0"/>
                <a:ea typeface="Arial" pitchFamily="34" charset="-122"/>
                <a:cs typeface="Arial" pitchFamily="34" charset="-120"/>
              </a:rPr>
              <a:t>Keeping the busy model loaded (“sticky”) is what stops the thrashing: model swaps fell from 6.6 to 3.6 per run.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Result 3: where it does not help</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05 TEST</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20</a:t>
            </a:r>
            <a:endParaRPr lang="en-US" sz="1000" dirty="0"/>
          </a:p>
        </p:txBody>
      </p:sp>
      <p:sp>
        <p:nvSpPr>
          <p:cNvPr id="7" name="Shape 4"/>
          <p:cNvSpPr/>
          <p:nvPr/>
        </p:nvSpPr>
        <p:spPr>
          <a:xfrm>
            <a:off x="457200" y="1188720"/>
            <a:ext cx="4023360" cy="3291840"/>
          </a:xfrm>
          <a:prstGeom prst="rect">
            <a:avLst/>
          </a:prstGeom>
          <a:solidFill>
            <a:srgbClr val="000000"/>
          </a:solidFill>
          <a:ln w="19050">
            <a:solidFill>
              <a:srgbClr val="000000"/>
            </a:solidFill>
            <a:prstDash val="solid"/>
          </a:ln>
        </p:spPr>
      </p:sp>
      <p:sp>
        <p:nvSpPr>
          <p:cNvPr id="8" name="Shape 5"/>
          <p:cNvSpPr/>
          <p:nvPr/>
        </p:nvSpPr>
        <p:spPr>
          <a:xfrm>
            <a:off x="731520" y="1417320"/>
            <a:ext cx="548640" cy="548640"/>
          </a:xfrm>
          <a:prstGeom prst="ellipse">
            <a:avLst/>
          </a:prstGeom>
          <a:solidFill>
            <a:srgbClr val="FFFFFF"/>
          </a:solidFill>
          <a:ln w="12700">
            <a:solidFill>
              <a:srgbClr val="FFFFFF"/>
            </a:solidFill>
            <a:prstDash val="solid"/>
          </a:ln>
        </p:spPr>
      </p:sp>
      <p:pic>
        <p:nvPicPr>
          <p:cNvPr id="9" name="Image 0" descr="preencoded.png">    </p:cNvPr>
          <p:cNvPicPr>
            <a:picLocks noChangeAspect="1"/>
          </p:cNvPicPr>
          <p:nvPr/>
        </p:nvPicPr>
        <p:blipFill>
          <a:blip r:embed="rId1"/>
          <a:stretch>
            <a:fillRect/>
          </a:stretch>
        </p:blipFill>
        <p:spPr>
          <a:xfrm>
            <a:off x="874166" y="1559966"/>
            <a:ext cx="263347" cy="263347"/>
          </a:xfrm>
          <a:prstGeom prst="rect">
            <a:avLst/>
          </a:prstGeom>
        </p:spPr>
      </p:pic>
      <p:sp>
        <p:nvSpPr>
          <p:cNvPr id="10" name="Text 6"/>
          <p:cNvSpPr txBox="1"/>
          <p:nvPr/>
        </p:nvSpPr>
        <p:spPr>
          <a:xfrm>
            <a:off x="1463040" y="1417320"/>
            <a:ext cx="2834640" cy="54864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Where it helps</a:t>
            </a:r>
            <a:endParaRPr lang="en-US" sz="2000" dirty="0"/>
          </a:p>
        </p:txBody>
      </p:sp>
      <p:sp>
        <p:nvSpPr>
          <p:cNvPr id="11" name="Text 7"/>
          <p:cNvSpPr txBox="1"/>
          <p:nvPr/>
        </p:nvSpPr>
        <p:spPr>
          <a:xfrm>
            <a:off x="731520" y="2194560"/>
            <a:ext cx="352044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FFFFFF"/>
                </a:solidFill>
                <a:latin typeface="Arial" pitchFamily="34" charset="0"/>
                <a:ea typeface="Arial" pitchFamily="34" charset="-122"/>
                <a:cs typeface="Arial" pitchFamily="34" charset="-120"/>
              </a:rPr>
              <a:t>Decode-heavy work such as coding and long answers</a:t>
            </a:r>
            <a:endParaRPr lang="en-US" sz="1400" dirty="0"/>
          </a:p>
          <a:p>
            <a:pPr marL="342900" indent="-342900">
              <a:spcAft>
                <a:spcPts val="1000"/>
              </a:spcAft>
              <a:buSzPct val="100000"/>
              <a:buChar char="•"/>
            </a:pPr>
            <a:r>
              <a:rPr lang="en-US" sz="1400" dirty="0">
                <a:solidFill>
                  <a:srgbClr val="FFFFFF"/>
                </a:solidFill>
                <a:latin typeface="Arial" pitchFamily="34" charset="0"/>
                <a:ea typeface="Arial" pitchFamily="34" charset="-122"/>
                <a:cs typeface="Arial" pitchFamily="34" charset="-120"/>
              </a:rPr>
              <a:t>Several agents sharing one GPU</a:t>
            </a:r>
            <a:endParaRPr lang="en-US" sz="1400" dirty="0"/>
          </a:p>
          <a:p>
            <a:pPr marL="342900" indent="-342900">
              <a:spcAft>
                <a:spcPts val="1000"/>
              </a:spcAft>
              <a:buSzPct val="100000"/>
              <a:buChar char="•"/>
            </a:pPr>
            <a:r>
              <a:rPr lang="en-US" sz="1400" dirty="0">
                <a:solidFill>
                  <a:srgbClr val="FFFFFF"/>
                </a:solidFill>
                <a:latin typeface="Arial" pitchFamily="34" charset="0"/>
                <a:ea typeface="Arial" pitchFamily="34" charset="-122"/>
                <a:cs typeface="Arial" pitchFamily="34" charset="-120"/>
              </a:rPr>
              <a:t>Big models squeezed onto small cards</a:t>
            </a:r>
            <a:endParaRPr lang="en-US" sz="1400" dirty="0"/>
          </a:p>
        </p:txBody>
      </p:sp>
      <p:sp>
        <p:nvSpPr>
          <p:cNvPr id="12" name="Shape 8"/>
          <p:cNvSpPr/>
          <p:nvPr/>
        </p:nvSpPr>
        <p:spPr>
          <a:xfrm>
            <a:off x="4663440" y="1188720"/>
            <a:ext cx="4023360" cy="3291840"/>
          </a:xfrm>
          <a:prstGeom prst="rect">
            <a:avLst/>
          </a:prstGeom>
          <a:solidFill>
            <a:srgbClr val="FFFFFF"/>
          </a:solidFill>
          <a:ln w="19050">
            <a:solidFill>
              <a:srgbClr val="000000"/>
            </a:solidFill>
            <a:prstDash val="solid"/>
          </a:ln>
        </p:spPr>
      </p:sp>
      <p:sp>
        <p:nvSpPr>
          <p:cNvPr id="13" name="Shape 9"/>
          <p:cNvSpPr/>
          <p:nvPr/>
        </p:nvSpPr>
        <p:spPr>
          <a:xfrm>
            <a:off x="4937760" y="1417320"/>
            <a:ext cx="548640" cy="548640"/>
          </a:xfrm>
          <a:prstGeom prst="ellipse">
            <a:avLst/>
          </a:prstGeom>
          <a:solidFill>
            <a:srgbClr val="000000"/>
          </a:solidFill>
          <a:ln w="12700">
            <a:solidFill>
              <a:srgbClr val="000000"/>
            </a:solidFill>
            <a:prstDash val="solid"/>
          </a:ln>
        </p:spPr>
      </p:sp>
      <p:pic>
        <p:nvPicPr>
          <p:cNvPr id="14" name="Image 1" descr="preencoded.png">    </p:cNvPr>
          <p:cNvPicPr>
            <a:picLocks noChangeAspect="1"/>
          </p:cNvPicPr>
          <p:nvPr/>
        </p:nvPicPr>
        <p:blipFill>
          <a:blip r:embed="rId2"/>
          <a:stretch>
            <a:fillRect/>
          </a:stretch>
        </p:blipFill>
        <p:spPr>
          <a:xfrm>
            <a:off x="5080406" y="1559966"/>
            <a:ext cx="263347" cy="263347"/>
          </a:xfrm>
          <a:prstGeom prst="rect">
            <a:avLst/>
          </a:prstGeom>
        </p:spPr>
      </p:pic>
      <p:sp>
        <p:nvSpPr>
          <p:cNvPr id="15" name="Text 10"/>
          <p:cNvSpPr txBox="1"/>
          <p:nvPr/>
        </p:nvSpPr>
        <p:spPr>
          <a:xfrm>
            <a:off x="5669280" y="1417320"/>
            <a:ext cx="2834640" cy="548640"/>
          </a:xfrm>
          <a:prstGeom prst="rect">
            <a:avLst/>
          </a:prstGeom>
          <a:noFill/>
          <a:ln/>
        </p:spPr>
        <p:txBody>
          <a:bodyPr wrap="square" lIns="0" tIns="0" rIns="0" bIns="0" rtlCol="0" anchor="ctr"/>
          <a:lstStyle/>
          <a:p>
            <a:pPr indent="0" marL="0">
              <a:buNone/>
            </a:pPr>
            <a:r>
              <a:rPr lang="en-US" sz="2000" b="1" dirty="0">
                <a:solidFill>
                  <a:srgbClr val="000000"/>
                </a:solidFill>
                <a:latin typeface="Arial" pitchFamily="34" charset="0"/>
                <a:ea typeface="Arial" pitchFamily="34" charset="-122"/>
                <a:cs typeface="Arial" pitchFamily="34" charset="-120"/>
              </a:rPr>
              <a:t>Where it doesn't</a:t>
            </a:r>
            <a:endParaRPr lang="en-US" sz="2000" dirty="0"/>
          </a:p>
        </p:txBody>
      </p:sp>
      <p:sp>
        <p:nvSpPr>
          <p:cNvPr id="16" name="Text 11"/>
          <p:cNvSpPr txBox="1"/>
          <p:nvPr/>
        </p:nvSpPr>
        <p:spPr>
          <a:xfrm>
            <a:off x="4937760" y="2194560"/>
            <a:ext cx="352044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000000"/>
                </a:solidFill>
                <a:latin typeface="Arial" pitchFamily="34" charset="0"/>
                <a:ea typeface="Arial" pitchFamily="34" charset="-122"/>
                <a:cs typeface="Arial" pitchFamily="34" charset="-120"/>
              </a:rPr>
              <a:t>Research tasks that wait on the web: 19.8 s vs 19.9 s</a:t>
            </a:r>
            <a:endParaRPr lang="en-US" sz="1400" dirty="0"/>
          </a:p>
          <a:p>
            <a:pPr marL="342900" indent="-342900">
              <a:spcAft>
                <a:spcPts val="1000"/>
              </a:spcAft>
              <a:buSzPct val="100000"/>
              <a:buChar char="•"/>
            </a:pPr>
            <a:r>
              <a:rPr lang="en-US" sz="1400" dirty="0">
                <a:solidFill>
                  <a:srgbClr val="000000"/>
                </a:solidFill>
                <a:latin typeface="Arial" pitchFamily="34" charset="0"/>
                <a:ea typeface="Arial" pitchFamily="34" charset="-122"/>
                <a:cs typeface="Arial" pitchFamily="34" charset="-120"/>
              </a:rPr>
              <a:t>A model too weak for the job: the 32B-Q2 model failed with or without Ramer</a:t>
            </a:r>
            <a:endParaRPr lang="en-US" sz="1400" dirty="0"/>
          </a:p>
          <a:p>
            <a:pPr marL="342900" indent="-342900">
              <a:spcAft>
                <a:spcPts val="1000"/>
              </a:spcAft>
              <a:buSzPct val="100000"/>
              <a:buChar char="•"/>
            </a:pPr>
            <a:r>
              <a:rPr lang="en-US" sz="1400" dirty="0">
                <a:solidFill>
                  <a:srgbClr val="000000"/>
                </a:solidFill>
                <a:latin typeface="Arial" pitchFamily="34" charset="0"/>
                <a:ea typeface="Arial" pitchFamily="34" charset="-122"/>
                <a:cs typeface="Arial" pitchFamily="34" charset="-120"/>
              </a:rPr>
              <a:t>Apple Silicon Macs: no separate VRAM to optimize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6675120"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Back to the start: iterate</a:t>
            </a:r>
            <a:endParaRPr lang="en-US" sz="3000" dirty="0"/>
          </a:p>
        </p:txBody>
      </p:sp>
      <p:sp>
        <p:nvSpPr>
          <p:cNvPr id="3" name="Text 1"/>
          <p:cNvSpPr txBox="1"/>
          <p:nvPr/>
        </p:nvSpPr>
        <p:spPr>
          <a:xfrm>
            <a:off x="7132320" y="411480"/>
            <a:ext cx="1554480" cy="457200"/>
          </a:xfrm>
          <a:prstGeom prst="rect">
            <a:avLst/>
          </a:prstGeom>
          <a:noFill/>
          <a:ln/>
        </p:spPr>
        <p:txBody>
          <a:bodyPr wrap="square" lIns="0" tIns="0" rIns="0" bIns="0" rtlCol="0" anchor="ctr"/>
          <a:lstStyle/>
          <a:p>
            <a:pPr algn="r" indent="0" marL="0">
              <a:buNone/>
            </a:pPr>
            <a:r>
              <a:rPr lang="en-US" sz="1100" b="1" dirty="0">
                <a:solidFill>
                  <a:srgbClr val="8C8C8C"/>
                </a:solidFill>
                <a:latin typeface="Arial" pitchFamily="34" charset="0"/>
                <a:ea typeface="Arial" pitchFamily="34" charset="-122"/>
                <a:cs typeface="Arial" pitchFamily="34" charset="-120"/>
              </a:rPr>
              <a:t>THE LOOP</a:t>
            </a:r>
            <a:endParaRPr lang="en-US" sz="1100" dirty="0"/>
          </a:p>
        </p:txBody>
      </p:sp>
      <p:sp>
        <p:nvSpPr>
          <p:cNvPr id="4" name="Text 2"/>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spc="200" kern="0" dirty="0">
                <a:solidFill>
                  <a:srgbClr val="8C8C8C"/>
                </a:solidFill>
                <a:latin typeface="Arial" pitchFamily="34" charset="0"/>
                <a:ea typeface="Arial" pitchFamily="34" charset="-122"/>
                <a:cs typeface="Arial" pitchFamily="34" charset="-120"/>
              </a:rPr>
              <a:t>RAMER  ·  A DESIGN THINKING STORY</a:t>
            </a:r>
            <a:endParaRPr lang="en-US" sz="900" dirty="0"/>
          </a:p>
        </p:txBody>
      </p:sp>
      <p:sp>
        <p:nvSpPr>
          <p:cNvPr id="5" name="Text 3"/>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dirty="0">
                <a:solidFill>
                  <a:srgbClr val="8C8C8C"/>
                </a:solidFill>
                <a:latin typeface="Arial" pitchFamily="34" charset="0"/>
                <a:ea typeface="Arial" pitchFamily="34" charset="-122"/>
                <a:cs typeface="Arial" pitchFamily="34" charset="-120"/>
              </a:rPr>
              <a:t>21</a:t>
            </a:r>
            <a:endParaRPr lang="en-US" sz="1000" dirty="0"/>
          </a:p>
        </p:txBody>
      </p:sp>
      <p:sp>
        <p:nvSpPr>
          <p:cNvPr id="7" name="Shape 4"/>
          <p:cNvSpPr/>
          <p:nvPr/>
        </p:nvSpPr>
        <p:spPr>
          <a:xfrm>
            <a:off x="1051560" y="1554480"/>
            <a:ext cx="2560320" cy="2560320"/>
          </a:xfrm>
          <a:prstGeom prst="ellipse">
            <a:avLst/>
          </a:prstGeom>
          <a:solidFill>
            <a:srgbClr val="FFFFFF">
              <a:alpha val="0"/>
            </a:srgbClr>
          </a:solidFill>
          <a:ln w="19050">
            <a:solidFill>
              <a:srgbClr val="BFBFBF"/>
            </a:solidFill>
            <a:prstDash val="dash"/>
          </a:ln>
        </p:spPr>
      </p:sp>
      <p:sp>
        <p:nvSpPr>
          <p:cNvPr id="8" name="Shape 5"/>
          <p:cNvSpPr/>
          <p:nvPr/>
        </p:nvSpPr>
        <p:spPr>
          <a:xfrm>
            <a:off x="2011680" y="1234440"/>
            <a:ext cx="640080" cy="640080"/>
          </a:xfrm>
          <a:prstGeom prst="ellipse">
            <a:avLst/>
          </a:prstGeom>
          <a:solidFill>
            <a:srgbClr val="000000"/>
          </a:solidFill>
          <a:ln w="12700">
            <a:solidFill>
              <a:srgbClr val="000000"/>
            </a:solidFill>
            <a:prstDash val="solid"/>
          </a:ln>
        </p:spPr>
      </p:sp>
      <p:pic>
        <p:nvPicPr>
          <p:cNvPr id="9" name="Image 0" descr="preencoded.png">    </p:cNvPr>
          <p:cNvPicPr>
            <a:picLocks noChangeAspect="1"/>
          </p:cNvPicPr>
          <p:nvPr/>
        </p:nvPicPr>
        <p:blipFill>
          <a:blip r:embed="rId1"/>
          <a:stretch>
            <a:fillRect/>
          </a:stretch>
        </p:blipFill>
        <p:spPr>
          <a:xfrm>
            <a:off x="2178101" y="1400861"/>
            <a:ext cx="307238" cy="307238"/>
          </a:xfrm>
          <a:prstGeom prst="rect">
            <a:avLst/>
          </a:prstGeom>
        </p:spPr>
      </p:pic>
      <p:sp>
        <p:nvSpPr>
          <p:cNvPr id="10" name="Shape 6"/>
          <p:cNvSpPr/>
          <p:nvPr/>
        </p:nvSpPr>
        <p:spPr>
          <a:xfrm>
            <a:off x="3229185" y="2119009"/>
            <a:ext cx="640080" cy="640080"/>
          </a:xfrm>
          <a:prstGeom prst="ellipse">
            <a:avLst/>
          </a:prstGeom>
          <a:solidFill>
            <a:srgbClr val="000000"/>
          </a:solidFill>
          <a:ln w="12700">
            <a:solidFill>
              <a:srgbClr val="000000"/>
            </a:solidFill>
            <a:prstDash val="solid"/>
          </a:ln>
        </p:spPr>
      </p:sp>
      <p:pic>
        <p:nvPicPr>
          <p:cNvPr id="11" name="Image 1" descr="preencoded.png">    </p:cNvPr>
          <p:cNvPicPr>
            <a:picLocks noChangeAspect="1"/>
          </p:cNvPicPr>
          <p:nvPr/>
        </p:nvPicPr>
        <p:blipFill>
          <a:blip r:embed="rId2"/>
          <a:stretch>
            <a:fillRect/>
          </a:stretch>
        </p:blipFill>
        <p:spPr>
          <a:xfrm>
            <a:off x="3395605" y="2285430"/>
            <a:ext cx="307238" cy="307238"/>
          </a:xfrm>
          <a:prstGeom prst="rect">
            <a:avLst/>
          </a:prstGeom>
        </p:spPr>
      </p:pic>
      <p:sp>
        <p:nvSpPr>
          <p:cNvPr id="12" name="Shape 7"/>
          <p:cNvSpPr/>
          <p:nvPr/>
        </p:nvSpPr>
        <p:spPr>
          <a:xfrm>
            <a:off x="2764139" y="3550271"/>
            <a:ext cx="640080" cy="640080"/>
          </a:xfrm>
          <a:prstGeom prst="ellipse">
            <a:avLst/>
          </a:prstGeom>
          <a:solidFill>
            <a:srgbClr val="000000"/>
          </a:solidFill>
          <a:ln w="12700">
            <a:solidFill>
              <a:srgbClr val="000000"/>
            </a:solidFill>
            <a:prstDash val="solid"/>
          </a:ln>
        </p:spPr>
      </p:sp>
      <p:pic>
        <p:nvPicPr>
          <p:cNvPr id="13" name="Image 2" descr="preencoded.png">    </p:cNvPr>
          <p:cNvPicPr>
            <a:picLocks noChangeAspect="1"/>
          </p:cNvPicPr>
          <p:nvPr/>
        </p:nvPicPr>
        <p:blipFill>
          <a:blip r:embed="rId3"/>
          <a:stretch>
            <a:fillRect/>
          </a:stretch>
        </p:blipFill>
        <p:spPr>
          <a:xfrm>
            <a:off x="2930560" y="3716692"/>
            <a:ext cx="307238" cy="307238"/>
          </a:xfrm>
          <a:prstGeom prst="rect">
            <a:avLst/>
          </a:prstGeom>
        </p:spPr>
      </p:pic>
      <p:sp>
        <p:nvSpPr>
          <p:cNvPr id="14" name="Shape 8"/>
          <p:cNvSpPr/>
          <p:nvPr/>
        </p:nvSpPr>
        <p:spPr>
          <a:xfrm>
            <a:off x="1259221" y="3550271"/>
            <a:ext cx="640080" cy="640080"/>
          </a:xfrm>
          <a:prstGeom prst="ellipse">
            <a:avLst/>
          </a:prstGeom>
          <a:solidFill>
            <a:srgbClr val="000000"/>
          </a:solidFill>
          <a:ln w="12700">
            <a:solidFill>
              <a:srgbClr val="000000"/>
            </a:solidFill>
            <a:prstDash val="solid"/>
          </a:ln>
        </p:spPr>
      </p:sp>
      <p:pic>
        <p:nvPicPr>
          <p:cNvPr id="15" name="Image 3" descr="preencoded.png">    </p:cNvPr>
          <p:cNvPicPr>
            <a:picLocks noChangeAspect="1"/>
          </p:cNvPicPr>
          <p:nvPr/>
        </p:nvPicPr>
        <p:blipFill>
          <a:blip r:embed="rId4"/>
          <a:stretch>
            <a:fillRect/>
          </a:stretch>
        </p:blipFill>
        <p:spPr>
          <a:xfrm>
            <a:off x="1425642" y="3716692"/>
            <a:ext cx="307238" cy="307238"/>
          </a:xfrm>
          <a:prstGeom prst="rect">
            <a:avLst/>
          </a:prstGeom>
        </p:spPr>
      </p:pic>
      <p:sp>
        <p:nvSpPr>
          <p:cNvPr id="16" name="Shape 9"/>
          <p:cNvSpPr/>
          <p:nvPr/>
        </p:nvSpPr>
        <p:spPr>
          <a:xfrm>
            <a:off x="794175" y="2119009"/>
            <a:ext cx="640080" cy="640080"/>
          </a:xfrm>
          <a:prstGeom prst="ellipse">
            <a:avLst/>
          </a:prstGeom>
          <a:solidFill>
            <a:srgbClr val="000000"/>
          </a:solidFill>
          <a:ln w="12700">
            <a:solidFill>
              <a:srgbClr val="000000"/>
            </a:solidFill>
            <a:prstDash val="solid"/>
          </a:ln>
        </p:spPr>
      </p:sp>
      <p:pic>
        <p:nvPicPr>
          <p:cNvPr id="17" name="Image 4" descr="preencoded.png">    </p:cNvPr>
          <p:cNvPicPr>
            <a:picLocks noChangeAspect="1"/>
          </p:cNvPicPr>
          <p:nvPr/>
        </p:nvPicPr>
        <p:blipFill>
          <a:blip r:embed="rId5"/>
          <a:stretch>
            <a:fillRect/>
          </a:stretch>
        </p:blipFill>
        <p:spPr>
          <a:xfrm>
            <a:off x="960596" y="2285430"/>
            <a:ext cx="307238" cy="307238"/>
          </a:xfrm>
          <a:prstGeom prst="rect">
            <a:avLst/>
          </a:prstGeom>
        </p:spPr>
      </p:pic>
      <p:pic>
        <p:nvPicPr>
          <p:cNvPr id="18" name="Image 5" descr="preencoded.png">    </p:cNvPr>
          <p:cNvPicPr>
            <a:picLocks noChangeAspect="1"/>
          </p:cNvPicPr>
          <p:nvPr/>
        </p:nvPicPr>
        <p:blipFill>
          <a:blip r:embed="rId6"/>
          <a:stretch>
            <a:fillRect/>
          </a:stretch>
        </p:blipFill>
        <p:spPr>
          <a:xfrm>
            <a:off x="2057400" y="2423160"/>
            <a:ext cx="548640" cy="548640"/>
          </a:xfrm>
          <a:prstGeom prst="rect">
            <a:avLst/>
          </a:prstGeom>
        </p:spPr>
      </p:pic>
      <p:sp>
        <p:nvSpPr>
          <p:cNvPr id="19" name="Text 10"/>
          <p:cNvSpPr txBox="1"/>
          <p:nvPr/>
        </p:nvSpPr>
        <p:spPr>
          <a:xfrm>
            <a:off x="1691640" y="3017520"/>
            <a:ext cx="1280160" cy="274320"/>
          </a:xfrm>
          <a:prstGeom prst="rect">
            <a:avLst/>
          </a:prstGeom>
          <a:noFill/>
          <a:ln/>
        </p:spPr>
        <p:txBody>
          <a:bodyPr wrap="square" lIns="0" tIns="0" rIns="0" bIns="0" rtlCol="0" anchor="ctr"/>
          <a:lstStyle/>
          <a:p>
            <a:pPr algn="ctr" indent="0" marL="0">
              <a:buNone/>
            </a:pPr>
            <a:r>
              <a:rPr lang="en-US" sz="1200" b="1" dirty="0">
                <a:solidFill>
                  <a:srgbClr val="595959"/>
                </a:solidFill>
                <a:latin typeface="Arial" pitchFamily="34" charset="0"/>
                <a:ea typeface="Arial" pitchFamily="34" charset="-122"/>
                <a:cs typeface="Arial" pitchFamily="34" charset="-120"/>
              </a:rPr>
              <a:t>repeat</a:t>
            </a:r>
            <a:endParaRPr lang="en-US" sz="1200" dirty="0"/>
          </a:p>
        </p:txBody>
      </p:sp>
      <p:sp>
        <p:nvSpPr>
          <p:cNvPr id="20" name="Text 11"/>
          <p:cNvSpPr txBox="1"/>
          <p:nvPr/>
        </p:nvSpPr>
        <p:spPr>
          <a:xfrm>
            <a:off x="4480560" y="1280160"/>
            <a:ext cx="4206240" cy="82296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The build is done. The next step is Empathize again, this time face to face.</a:t>
            </a:r>
            <a:endParaRPr lang="en-US" sz="1700" dirty="0"/>
          </a:p>
        </p:txBody>
      </p:sp>
      <p:sp>
        <p:nvSpPr>
          <p:cNvPr id="21" name="Text 12"/>
          <p:cNvSpPr txBox="1"/>
          <p:nvPr/>
        </p:nvSpPr>
        <p:spPr>
          <a:xfrm>
            <a:off x="4480560" y="2286000"/>
            <a:ext cx="4206240" cy="21031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62626"/>
                </a:solidFill>
                <a:latin typeface="Arial" pitchFamily="34" charset="0"/>
                <a:ea typeface="Arial" pitchFamily="34" charset="-122"/>
                <a:cs typeface="Arial" pitchFamily="34" charset="-120"/>
              </a:rPr>
              <a:t>Interview real users of local AI</a:t>
            </a:r>
            <a:endParaRPr lang="en-US" sz="1500" dirty="0"/>
          </a:p>
          <a:p>
            <a:pPr marL="342900" indent="-342900">
              <a:spcAft>
                <a:spcPts val="1000"/>
              </a:spcAft>
              <a:buSzPct val="100000"/>
              <a:buChar char="•"/>
            </a:pPr>
            <a:r>
              <a:rPr lang="en-US" sz="1500" dirty="0">
                <a:solidFill>
                  <a:srgbClr val="262626"/>
                </a:solidFill>
                <a:latin typeface="Arial" pitchFamily="34" charset="0"/>
                <a:ea typeface="Arial" pitchFamily="34" charset="-122"/>
                <a:cs typeface="Arial" pitchFamily="34" charset="-120"/>
              </a:rPr>
              <a:t>First question: “What hardware are you running?”</a:t>
            </a:r>
            <a:endParaRPr lang="en-US" sz="1500" dirty="0"/>
          </a:p>
          <a:p>
            <a:pPr marL="342900" indent="-342900">
              <a:spcAft>
                <a:spcPts val="1000"/>
              </a:spcAft>
              <a:buSzPct val="100000"/>
              <a:buChar char="•"/>
            </a:pPr>
            <a:r>
              <a:rPr lang="en-US" sz="1500" dirty="0">
                <a:solidFill>
                  <a:srgbClr val="262626"/>
                </a:solidFill>
                <a:latin typeface="Arial" pitchFamily="34" charset="0"/>
                <a:ea typeface="Arial" pitchFamily="34" charset="-122"/>
                <a:cs typeface="Arial" pitchFamily="34" charset="-120"/>
              </a:rPr>
              <a:t>Ask them to try Ramer and tell us the truth</a:t>
            </a:r>
            <a:endParaRPr lang="en-US" sz="1500" dirty="0"/>
          </a:p>
          <a:p>
            <a:pPr marL="342900" indent="-342900">
              <a:spcAft>
                <a:spcPts val="1000"/>
              </a:spcAft>
              <a:buSzPct val="100000"/>
              <a:buChar char="•"/>
            </a:pPr>
            <a:r>
              <a:rPr lang="en-US" sz="1500" dirty="0">
                <a:solidFill>
                  <a:srgbClr val="262626"/>
                </a:solidFill>
                <a:latin typeface="Arial" pitchFamily="34" charset="0"/>
                <a:ea typeface="Arial" pitchFamily="34" charset="-122"/>
                <a:cs typeface="Arial" pitchFamily="34" charset="-120"/>
              </a:rPr>
              <a:t>Keep every claim as big as the evidence, no bigger</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3" name="Text 0"/>
          <p:cNvSpPr txBox="1"/>
          <p:nvPr/>
        </p:nvSpPr>
        <p:spPr>
          <a:xfrm>
            <a:off x="548640" y="1371600"/>
            <a:ext cx="8046720" cy="822960"/>
          </a:xfrm>
          <a:prstGeom prst="rect">
            <a:avLst/>
          </a:prstGeom>
          <a:noFill/>
          <a:ln/>
        </p:spPr>
        <p:txBody>
          <a:bodyPr wrap="square" lIns="0" tIns="0" rIns="0" bIns="0" rtlCol="0" anchor="b"/>
          <a:lstStyle/>
          <a:p>
            <a:pPr indent="0" marL="0">
              <a:buNone/>
            </a:pPr>
            <a:r>
              <a:rPr lang="en-US" sz="4400" b="1" dirty="0">
                <a:solidFill>
                  <a:srgbClr val="FFFFFF"/>
                </a:solidFill>
                <a:latin typeface="Arial" pitchFamily="34" charset="0"/>
                <a:ea typeface="Arial" pitchFamily="34" charset="-122"/>
                <a:cs typeface="Arial" pitchFamily="34" charset="-120"/>
              </a:rPr>
              <a:t>Faster where it matters.</a:t>
            </a:r>
            <a:endParaRPr lang="en-US" sz="4400" dirty="0"/>
          </a:p>
        </p:txBody>
      </p:sp>
      <p:sp>
        <p:nvSpPr>
          <p:cNvPr id="4" name="Text 1"/>
          <p:cNvSpPr txBox="1"/>
          <p:nvPr/>
        </p:nvSpPr>
        <p:spPr>
          <a:xfrm>
            <a:off x="548640" y="2240280"/>
            <a:ext cx="8046720" cy="731520"/>
          </a:xfrm>
          <a:prstGeom prst="rect">
            <a:avLst/>
          </a:prstGeom>
          <a:noFill/>
          <a:ln/>
        </p:spPr>
        <p:txBody>
          <a:bodyPr wrap="square" lIns="0" tIns="0" rIns="0" bIns="0" rtlCol="0" anchor="t"/>
          <a:lstStyle/>
          <a:p>
            <a:pPr indent="0" marL="0">
              <a:buNone/>
            </a:pPr>
            <a:r>
              <a:rPr lang="en-US" sz="4400" b="1" dirty="0">
                <a:solidFill>
                  <a:srgbClr val="8C8C8C"/>
                </a:solidFill>
                <a:latin typeface="Arial" pitchFamily="34" charset="0"/>
                <a:ea typeface="Arial" pitchFamily="34" charset="-122"/>
                <a:cs typeface="Arial" pitchFamily="34" charset="-120"/>
              </a:rPr>
              <a:t>Honest where it doesn't.</a:t>
            </a:r>
            <a:endParaRPr lang="en-US" sz="4400" dirty="0"/>
          </a:p>
        </p:txBody>
      </p:sp>
      <p:sp>
        <p:nvSpPr>
          <p:cNvPr id="5" name="Text 2"/>
          <p:cNvSpPr txBox="1"/>
          <p:nvPr/>
        </p:nvSpPr>
        <p:spPr>
          <a:xfrm>
            <a:off x="548640" y="4023360"/>
            <a:ext cx="365760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Ramer: A Design Thinking Story</dc:title>
  <dc:subject>PptxGenJS Presentation</dc:subject>
  <dc:creator>Ramer</dc:creator>
  <cp:lastModifiedBy>Ramer</cp:lastModifiedBy>
  <cp:revision>1</cp:revision>
  <dcterms:created xsi:type="dcterms:W3CDTF">2026-10-06T04:16:49Z</dcterms:created>
  <dcterms:modified xsi:type="dcterms:W3CDTF">2026-10-06T04:16:49Z</dcterms:modified>
</cp:coreProperties>
</file>