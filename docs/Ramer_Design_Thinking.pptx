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Seconds until each agent finished</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Research agent</c:v>
                  </c:pt>
                  <c:pt idx="1">
                    <c:v>Background agent</c:v>
                  </c:pt>
                  <c:pt idx="2">
                    <c:v>Coding agent</c:v>
                  </c:pt>
                  <c:pt idx="3">
                    <c:v>Assistant agent</c:v>
                  </c:pt>
                </c:lvl>
              </c:multiLvlStrCache>
            </c:multiLvlStrRef>
          </c:cat>
          <c:val>
            <c:numRef>
              <c:f>Sheet1!$B$2:$B$5</c:f>
              <c:numCache>
                <c:formatCode>General</c:formatCode>
                <c:ptCount val="4"/>
                <c:pt idx="0">
                  <c:v>51.5</c:v>
                </c:pt>
                <c:pt idx="1">
                  <c:v>103.9</c:v>
                </c:pt>
                <c:pt idx="2">
                  <c:v>205.2</c:v>
                </c:pt>
                <c:pt idx="3">
                  <c:v>215.5</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Median time for all 4 agents to finish (seconds)</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model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five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proxy. You point your coding or research agent at Ramer instead of Ollama. Nothing else changes for the user. Underneath, Ramer decides how a model is split between GPU and CPU and schedules several agents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You start with people, not technology. Each step has a clear question, and the whole thing is a loop: test results send you back to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is about understanding users. We did not start from a clever technical idea; we started from what real people were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comments from forums and Reddit. Models run out of memory, agent setups feel slow even when Ollama alone seems fine, and most people outside the enthusiast bubble do not even know what VRAM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the card is not used well. Mac users were ruled out early because Apple's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compresses research into a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has the user's constraint built in: they should not have to change how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 one: Ollama's default split between GPU and CPU is deliberately cautious, so a 14B model ran at only 12.4 tokens per second. Pain two: with four agents at once, Ollama swaps models in and out;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 not hold up in measurement, out of reach technically, or already solved. The two survivors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idea had to pass all three filters. Only the layer placement and scheduler ideas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real working tool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ways to use Ramer. The proxy is the product; the CLI and GUI are conveniences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Context-aware: the KV cache competes with model weights for VRAM, so a placement is only valid at the context length it was measured at. Headroom-aware: among ties, choose the smallest footprint. Self-healing: a pre-flight check falls back to Ollama's default if speed regresses. Scheduled: one scheduler keeps the busy model loaded and orders agents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was measured on one real machine, with outcomes checked independently rather than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of the tests. Same machine, same model, same task, and a checkable result. We also reported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on the same machine. The coding task ran through the third-party agent pi, and the result was verified with git diff and pytest, and was correct in both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that sticky residency does the heavy lifting; priority helps the urgent agents. 210.6 down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cannot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Ramer helps when local decoding is the bottleneck, and we say clearly when it does not.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005840"/>
            <a:ext cx="8046720" cy="1280160"/>
          </a:xfrm>
          <a:prstGeom prst="rect">
            <a:avLst/>
          </a:prstGeom>
          <a:noFill/>
          <a:ln/>
        </p:spPr>
        <p:txBody>
          <a:bodyPr wrap="square" lIns="0" tIns="0" rIns="0" bIns="0" rtlCol="0" anchor="b"/>
          <a:lstStyle/>
          <a:p>
            <a:pPr indent="0" marL="0">
              <a:buNone/>
            </a:pPr>
            <a:r>
              <a:rPr lang="en-US" sz="7200" b="1" dirty="0">
                <a:solidFill>
                  <a:srgbClr val="FFFFFF"/>
                </a:solidFill>
                <a:latin typeface="Arial" pitchFamily="34" charset="0"/>
                <a:ea typeface="Arial" pitchFamily="34" charset="-122"/>
                <a:cs typeface="Arial" pitchFamily="34" charset="-120"/>
              </a:rPr>
              <a:t>RAMER</a:t>
            </a:r>
            <a:endParaRPr lang="en-US" sz="7200" dirty="0"/>
          </a:p>
        </p:txBody>
      </p:sp>
      <p:sp>
        <p:nvSpPr>
          <p:cNvPr id="4" name="Text 1"/>
          <p:cNvSpPr txBox="1"/>
          <p:nvPr/>
        </p:nvSpPr>
        <p:spPr>
          <a:xfrm>
            <a:off x="548640" y="237744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Getting more out of the GPU you already own</a:t>
            </a:r>
            <a:endParaRPr lang="en-US" sz="2400" dirty="0"/>
          </a:p>
        </p:txBody>
      </p:sp>
      <p:sp>
        <p:nvSpPr>
          <p:cNvPr id="5"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sp>
        <p:nvSpPr>
          <p:cNvPr id="6" name="Text 3"/>
          <p:cNvSpPr txBox="1"/>
          <p:nvPr/>
        </p:nvSpPr>
        <p:spPr>
          <a:xfrm>
            <a:off x="548640" y="4114800"/>
            <a:ext cx="8046720" cy="320040"/>
          </a:xfrm>
          <a:prstGeom prst="rect">
            <a:avLst/>
          </a:prstGeom>
          <a:noFill/>
          <a:ln/>
        </p:spPr>
        <p:txBody>
          <a:bodyPr wrap="square" lIns="0" tIns="0" rIns="0" bIns="0" rtlCol="0" anchor="ctr"/>
          <a:lstStyle/>
          <a:p>
            <a:pPr indent="0" marL="0">
              <a:buNone/>
            </a:pPr>
            <a:r>
              <a:rPr lang="en-US" sz="1300" b="1" spc="200" kern="0" dirty="0">
                <a:solidFill>
                  <a:srgbClr val="8C8C8C"/>
                </a:solidFill>
                <a:latin typeface="Arial" pitchFamily="34" charset="0"/>
                <a:ea typeface="Arial" pitchFamily="34" charset="-122"/>
                <a:cs typeface="Arial" pitchFamily="34" charset="-120"/>
              </a:rPr>
              <a:t>EMPATHIZE   ·   DEFINE   ·   IDEATE   ·   PROTOTYPE   ·   TEST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project in one minute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OVERVIEW</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a:t>
            </a:r>
            <a:endParaRPr lang="en-US" sz="1000" dirty="0"/>
          </a:p>
        </p:txBody>
      </p:sp>
      <p:sp>
        <p:nvSpPr>
          <p:cNvPr id="7" name="Shape 4"/>
          <p:cNvSpPr/>
          <p:nvPr/>
        </p:nvSpPr>
        <p:spPr>
          <a:xfrm>
            <a:off x="457200" y="1188720"/>
            <a:ext cx="1783080" cy="1280160"/>
          </a:xfrm>
          <a:prstGeom prst="rect">
            <a:avLst/>
          </a:prstGeom>
          <a:solidFill>
            <a:srgbClr val="FFFFFF"/>
          </a:solidFill>
          <a:ln w="19050">
            <a:solidFill>
              <a:srgbClr val="000000"/>
            </a:solidFill>
            <a:prstDash val="solid"/>
          </a:ln>
        </p:spPr>
      </p:sp>
      <p:sp>
        <p:nvSpPr>
          <p:cNvPr id="8" name="Text 5"/>
          <p:cNvSpPr txBox="1"/>
          <p:nvPr/>
        </p:nvSpPr>
        <p:spPr>
          <a:xfrm>
            <a:off x="59436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agent</a:t>
            </a:r>
            <a:endParaRPr lang="en-US" sz="1800" dirty="0"/>
          </a:p>
        </p:txBody>
      </p:sp>
      <p:sp>
        <p:nvSpPr>
          <p:cNvPr id="9" name="Text 6"/>
          <p:cNvSpPr txBox="1"/>
          <p:nvPr/>
        </p:nvSpPr>
        <p:spPr>
          <a:xfrm>
            <a:off x="59436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Claude Code, aider, pi</a:t>
            </a:r>
            <a:endParaRPr lang="en-US" sz="1200" dirty="0"/>
          </a:p>
        </p:txBody>
      </p:sp>
      <p:sp>
        <p:nvSpPr>
          <p:cNvPr id="10" name="Text 7"/>
          <p:cNvSpPr txBox="1"/>
          <p:nvPr/>
        </p:nvSpPr>
        <p:spPr>
          <a:xfrm>
            <a:off x="224028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2606040" y="1188720"/>
            <a:ext cx="1783080" cy="1280160"/>
          </a:xfrm>
          <a:prstGeom prst="rect">
            <a:avLst/>
          </a:prstGeom>
          <a:solidFill>
            <a:srgbClr val="000000"/>
          </a:solidFill>
          <a:ln w="19050">
            <a:solidFill>
              <a:srgbClr val="000000"/>
            </a:solidFill>
            <a:prstDash val="solid"/>
          </a:ln>
        </p:spPr>
      </p:sp>
      <p:sp>
        <p:nvSpPr>
          <p:cNvPr id="12" name="Text 9"/>
          <p:cNvSpPr txBox="1"/>
          <p:nvPr/>
        </p:nvSpPr>
        <p:spPr>
          <a:xfrm>
            <a:off x="2743200" y="1417320"/>
            <a:ext cx="1508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Ramer</a:t>
            </a:r>
            <a:endParaRPr lang="en-US" sz="1800" dirty="0"/>
          </a:p>
        </p:txBody>
      </p:sp>
      <p:sp>
        <p:nvSpPr>
          <p:cNvPr id="13" name="Text 10"/>
          <p:cNvSpPr txBox="1"/>
          <p:nvPr/>
        </p:nvSpPr>
        <p:spPr>
          <a:xfrm>
            <a:off x="2743200" y="1828800"/>
            <a:ext cx="1508760" cy="457200"/>
          </a:xfrm>
          <a:prstGeom prst="rect">
            <a:avLst/>
          </a:prstGeom>
          <a:noFill/>
          <a:ln/>
        </p:spPr>
        <p:txBody>
          <a:bodyPr wrap="square" lIns="0" tIns="0" rIns="0" bIns="0" rtlCol="0" anchor="t"/>
          <a:lstStyle/>
          <a:p>
            <a:pPr algn="ctr" indent="0" marL="0">
              <a:buNone/>
            </a:pPr>
            <a:r>
              <a:rPr lang="en-US" sz="1200" dirty="0">
                <a:solidFill>
                  <a:srgbClr val="BFBFBF"/>
                </a:solidFill>
                <a:latin typeface="Arial" pitchFamily="34" charset="0"/>
                <a:ea typeface="Arial" pitchFamily="34" charset="-122"/>
                <a:cs typeface="Arial" pitchFamily="34" charset="-120"/>
              </a:rPr>
              <a:t>the new middle layer</a:t>
            </a:r>
            <a:endParaRPr lang="en-US" sz="1200" dirty="0"/>
          </a:p>
        </p:txBody>
      </p:sp>
      <p:sp>
        <p:nvSpPr>
          <p:cNvPr id="14" name="Text 11"/>
          <p:cNvSpPr txBox="1"/>
          <p:nvPr/>
        </p:nvSpPr>
        <p:spPr>
          <a:xfrm>
            <a:off x="438912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5" name="Shape 12"/>
          <p:cNvSpPr/>
          <p:nvPr/>
        </p:nvSpPr>
        <p:spPr>
          <a:xfrm>
            <a:off x="4754880" y="1188720"/>
            <a:ext cx="1783080" cy="1280160"/>
          </a:xfrm>
          <a:prstGeom prst="rect">
            <a:avLst/>
          </a:prstGeom>
          <a:solidFill>
            <a:srgbClr val="FFFFFF"/>
          </a:solidFill>
          <a:ln w="19050">
            <a:solidFill>
              <a:srgbClr val="000000"/>
            </a:solidFill>
            <a:prstDash val="solid"/>
          </a:ln>
        </p:spPr>
      </p:sp>
      <p:sp>
        <p:nvSpPr>
          <p:cNvPr id="16" name="Text 13"/>
          <p:cNvSpPr txBox="1"/>
          <p:nvPr/>
        </p:nvSpPr>
        <p:spPr>
          <a:xfrm>
            <a:off x="489204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Ollama</a:t>
            </a:r>
            <a:endParaRPr lang="en-US" sz="1800" dirty="0"/>
          </a:p>
        </p:txBody>
      </p:sp>
      <p:sp>
        <p:nvSpPr>
          <p:cNvPr id="17" name="Text 14"/>
          <p:cNvSpPr txBox="1"/>
          <p:nvPr/>
        </p:nvSpPr>
        <p:spPr>
          <a:xfrm>
            <a:off x="489204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runs the model</a:t>
            </a:r>
            <a:endParaRPr lang="en-US" sz="1200" dirty="0"/>
          </a:p>
        </p:txBody>
      </p:sp>
      <p:sp>
        <p:nvSpPr>
          <p:cNvPr id="18" name="Text 15"/>
          <p:cNvSpPr txBox="1"/>
          <p:nvPr/>
        </p:nvSpPr>
        <p:spPr>
          <a:xfrm>
            <a:off x="653796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9" name="Shape 16"/>
          <p:cNvSpPr/>
          <p:nvPr/>
        </p:nvSpPr>
        <p:spPr>
          <a:xfrm>
            <a:off x="6903720" y="1188720"/>
            <a:ext cx="1783080" cy="1280160"/>
          </a:xfrm>
          <a:prstGeom prst="rect">
            <a:avLst/>
          </a:prstGeom>
          <a:solidFill>
            <a:srgbClr val="FFFFFF"/>
          </a:solidFill>
          <a:ln w="19050">
            <a:solidFill>
              <a:srgbClr val="000000"/>
            </a:solidFill>
            <a:prstDash val="solid"/>
          </a:ln>
        </p:spPr>
      </p:sp>
      <p:sp>
        <p:nvSpPr>
          <p:cNvPr id="20" name="Text 17"/>
          <p:cNvSpPr txBox="1"/>
          <p:nvPr/>
        </p:nvSpPr>
        <p:spPr>
          <a:xfrm>
            <a:off x="704088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GPU</a:t>
            </a:r>
            <a:endParaRPr lang="en-US" sz="1800" dirty="0"/>
          </a:p>
        </p:txBody>
      </p:sp>
      <p:sp>
        <p:nvSpPr>
          <p:cNvPr id="21" name="Text 18"/>
          <p:cNvSpPr txBox="1"/>
          <p:nvPr/>
        </p:nvSpPr>
        <p:spPr>
          <a:xfrm>
            <a:off x="704088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used far better</a:t>
            </a:r>
            <a:endParaRPr lang="en-US" sz="1200" dirty="0"/>
          </a:p>
        </p:txBody>
      </p:sp>
      <p:sp>
        <p:nvSpPr>
          <p:cNvPr id="22" name="Shape 19"/>
          <p:cNvSpPr/>
          <p:nvPr/>
        </p:nvSpPr>
        <p:spPr>
          <a:xfrm>
            <a:off x="457200" y="3063240"/>
            <a:ext cx="2606040" cy="1508760"/>
          </a:xfrm>
          <a:prstGeom prst="rect">
            <a:avLst/>
          </a:prstGeom>
          <a:solidFill>
            <a:srgbClr val="F2F2F2"/>
          </a:solidFill>
          <a:ln w="12700">
            <a:solidFill>
              <a:srgbClr val="F2F2F2"/>
            </a:solidFill>
            <a:prstDash val="solid"/>
          </a:ln>
        </p:spPr>
      </p:sp>
      <p:sp>
        <p:nvSpPr>
          <p:cNvPr id="23" name="Text 20"/>
          <p:cNvSpPr txBox="1"/>
          <p:nvPr/>
        </p:nvSpPr>
        <p:spPr>
          <a:xfrm>
            <a:off x="64008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Finds the best split</a:t>
            </a:r>
            <a:endParaRPr lang="en-US" sz="1400" dirty="0"/>
          </a:p>
        </p:txBody>
      </p:sp>
      <p:sp>
        <p:nvSpPr>
          <p:cNvPr id="24" name="Text 21"/>
          <p:cNvSpPr txBox="1"/>
          <p:nvPr/>
        </p:nvSpPr>
        <p:spPr>
          <a:xfrm>
            <a:off x="64008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Decides how much of a model sits on the GPU and how much on the CPU, instead of Ollama's cautious default.</a:t>
            </a:r>
            <a:endParaRPr lang="en-US" sz="1200" dirty="0"/>
          </a:p>
        </p:txBody>
      </p:sp>
      <p:sp>
        <p:nvSpPr>
          <p:cNvPr id="25" name="Shape 22"/>
          <p:cNvSpPr/>
          <p:nvPr/>
        </p:nvSpPr>
        <p:spPr>
          <a:xfrm>
            <a:off x="3246120" y="3063240"/>
            <a:ext cx="2606040" cy="1508760"/>
          </a:xfrm>
          <a:prstGeom prst="rect">
            <a:avLst/>
          </a:prstGeom>
          <a:solidFill>
            <a:srgbClr val="F2F2F2"/>
          </a:solidFill>
          <a:ln w="12700">
            <a:solidFill>
              <a:srgbClr val="F2F2F2"/>
            </a:solidFill>
            <a:prstDash val="solid"/>
          </a:ln>
        </p:spPr>
      </p:sp>
      <p:sp>
        <p:nvSpPr>
          <p:cNvPr id="26" name="Text 23"/>
          <p:cNvSpPr txBox="1"/>
          <p:nvPr/>
        </p:nvSpPr>
        <p:spPr>
          <a:xfrm>
            <a:off x="342900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Shares the GPU fairly</a:t>
            </a:r>
            <a:endParaRPr lang="en-US" sz="1400" dirty="0"/>
          </a:p>
        </p:txBody>
      </p:sp>
      <p:sp>
        <p:nvSpPr>
          <p:cNvPr id="27" name="Text 24"/>
          <p:cNvSpPr txBox="1"/>
          <p:nvPr/>
        </p:nvSpPr>
        <p:spPr>
          <a:xfrm>
            <a:off x="342900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When several agents want the GPU at once, Ramer lines them up so models are not constantly swapped out.</a:t>
            </a:r>
            <a:endParaRPr lang="en-US" sz="1200" dirty="0"/>
          </a:p>
        </p:txBody>
      </p:sp>
      <p:sp>
        <p:nvSpPr>
          <p:cNvPr id="28" name="Shape 25"/>
          <p:cNvSpPr/>
          <p:nvPr/>
        </p:nvSpPr>
        <p:spPr>
          <a:xfrm>
            <a:off x="6035040" y="3063240"/>
            <a:ext cx="2606040" cy="1508760"/>
          </a:xfrm>
          <a:prstGeom prst="rect">
            <a:avLst/>
          </a:prstGeom>
          <a:solidFill>
            <a:srgbClr val="F2F2F2"/>
          </a:solidFill>
          <a:ln w="12700">
            <a:solidFill>
              <a:srgbClr val="F2F2F2"/>
            </a:solidFill>
            <a:prstDash val="solid"/>
          </a:ln>
        </p:spPr>
      </p:sp>
      <p:sp>
        <p:nvSpPr>
          <p:cNvPr id="29" name="Text 26"/>
          <p:cNvSpPr txBox="1"/>
          <p:nvPr/>
        </p:nvSpPr>
        <p:spPr>
          <a:xfrm>
            <a:off x="621792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no changes</a:t>
            </a:r>
            <a:endParaRPr lang="en-US" sz="1400" dirty="0"/>
          </a:p>
        </p:txBody>
      </p:sp>
      <p:sp>
        <p:nvSpPr>
          <p:cNvPr id="30" name="Text 27"/>
          <p:cNvSpPr txBox="1"/>
          <p:nvPr/>
        </p:nvSpPr>
        <p:spPr>
          <a:xfrm>
            <a:off x="621792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Just change the agent's server address from port 11434 to 11435.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Design thinking in five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METHOD</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18288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01</a:t>
            </a:r>
            <a:endParaRPr lang="en-US" sz="4400" dirty="0"/>
          </a:p>
        </p:txBody>
      </p:sp>
      <p:sp>
        <p:nvSpPr>
          <p:cNvPr id="8" name="Text 5"/>
          <p:cNvSpPr txBox="1"/>
          <p:nvPr/>
        </p:nvSpPr>
        <p:spPr>
          <a:xfrm>
            <a:off x="18288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Empathize</a:t>
            </a:r>
            <a:endParaRPr lang="en-US" sz="1800" dirty="0"/>
          </a:p>
        </p:txBody>
      </p:sp>
      <p:sp>
        <p:nvSpPr>
          <p:cNvPr id="9" name="Text 6"/>
          <p:cNvSpPr txBox="1"/>
          <p:nvPr/>
        </p:nvSpPr>
        <p:spPr>
          <a:xfrm>
            <a:off x="22860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Who is struggling, and how does it feel?</a:t>
            </a:r>
            <a:endParaRPr lang="en-US" sz="1200" dirty="0"/>
          </a:p>
        </p:txBody>
      </p:sp>
      <p:sp>
        <p:nvSpPr>
          <p:cNvPr id="10" name="Text 7"/>
          <p:cNvSpPr txBox="1"/>
          <p:nvPr/>
        </p:nvSpPr>
        <p:spPr>
          <a:xfrm>
            <a:off x="196596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02</a:t>
            </a:r>
            <a:endParaRPr lang="en-US" sz="4400" dirty="0"/>
          </a:p>
        </p:txBody>
      </p:sp>
      <p:sp>
        <p:nvSpPr>
          <p:cNvPr id="11" name="Text 8"/>
          <p:cNvSpPr txBox="1"/>
          <p:nvPr/>
        </p:nvSpPr>
        <p:spPr>
          <a:xfrm>
            <a:off x="196596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Define</a:t>
            </a:r>
            <a:endParaRPr lang="en-US" sz="1800" dirty="0"/>
          </a:p>
        </p:txBody>
      </p:sp>
      <p:sp>
        <p:nvSpPr>
          <p:cNvPr id="12" name="Text 9"/>
          <p:cNvSpPr txBox="1"/>
          <p:nvPr/>
        </p:nvSpPr>
        <p:spPr>
          <a:xfrm>
            <a:off x="201168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exactly is the problem?</a:t>
            </a:r>
            <a:endParaRPr lang="en-US" sz="1200" dirty="0"/>
          </a:p>
        </p:txBody>
      </p:sp>
      <p:sp>
        <p:nvSpPr>
          <p:cNvPr id="13" name="Text 10"/>
          <p:cNvSpPr txBox="1"/>
          <p:nvPr/>
        </p:nvSpPr>
        <p:spPr>
          <a:xfrm>
            <a:off x="374904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03</a:t>
            </a:r>
            <a:endParaRPr lang="en-US" sz="4400" dirty="0"/>
          </a:p>
        </p:txBody>
      </p:sp>
      <p:sp>
        <p:nvSpPr>
          <p:cNvPr id="14" name="Text 11"/>
          <p:cNvSpPr txBox="1"/>
          <p:nvPr/>
        </p:nvSpPr>
        <p:spPr>
          <a:xfrm>
            <a:off x="374904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Ideate</a:t>
            </a:r>
            <a:endParaRPr lang="en-US" sz="1800" dirty="0"/>
          </a:p>
        </p:txBody>
      </p:sp>
      <p:sp>
        <p:nvSpPr>
          <p:cNvPr id="15" name="Text 12"/>
          <p:cNvSpPr txBox="1"/>
          <p:nvPr/>
        </p:nvSpPr>
        <p:spPr>
          <a:xfrm>
            <a:off x="379476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could we do about it?</a:t>
            </a:r>
            <a:endParaRPr lang="en-US" sz="1200" dirty="0"/>
          </a:p>
        </p:txBody>
      </p:sp>
      <p:sp>
        <p:nvSpPr>
          <p:cNvPr id="16" name="Text 13"/>
          <p:cNvSpPr txBox="1"/>
          <p:nvPr/>
        </p:nvSpPr>
        <p:spPr>
          <a:xfrm>
            <a:off x="553212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04</a:t>
            </a:r>
            <a:endParaRPr lang="en-US" sz="4400" dirty="0"/>
          </a:p>
        </p:txBody>
      </p:sp>
      <p:sp>
        <p:nvSpPr>
          <p:cNvPr id="17" name="Text 14"/>
          <p:cNvSpPr txBox="1"/>
          <p:nvPr/>
        </p:nvSpPr>
        <p:spPr>
          <a:xfrm>
            <a:off x="553212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Prototype</a:t>
            </a:r>
            <a:endParaRPr lang="en-US" sz="1800" dirty="0"/>
          </a:p>
        </p:txBody>
      </p:sp>
      <p:sp>
        <p:nvSpPr>
          <p:cNvPr id="18" name="Text 15"/>
          <p:cNvSpPr txBox="1"/>
          <p:nvPr/>
        </p:nvSpPr>
        <p:spPr>
          <a:xfrm>
            <a:off x="557784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Can we build a quick version?</a:t>
            </a:r>
            <a:endParaRPr lang="en-US" sz="1200" dirty="0"/>
          </a:p>
        </p:txBody>
      </p:sp>
      <p:sp>
        <p:nvSpPr>
          <p:cNvPr id="19" name="Text 16"/>
          <p:cNvSpPr txBox="1"/>
          <p:nvPr/>
        </p:nvSpPr>
        <p:spPr>
          <a:xfrm>
            <a:off x="731520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05</a:t>
            </a:r>
            <a:endParaRPr lang="en-US" sz="4400" dirty="0"/>
          </a:p>
        </p:txBody>
      </p:sp>
      <p:sp>
        <p:nvSpPr>
          <p:cNvPr id="20" name="Text 17"/>
          <p:cNvSpPr txBox="1"/>
          <p:nvPr/>
        </p:nvSpPr>
        <p:spPr>
          <a:xfrm>
            <a:off x="731520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Test</a:t>
            </a:r>
            <a:endParaRPr lang="en-US" sz="1800" dirty="0"/>
          </a:p>
        </p:txBody>
      </p:sp>
      <p:sp>
        <p:nvSpPr>
          <p:cNvPr id="21" name="Text 18"/>
          <p:cNvSpPr txBox="1"/>
          <p:nvPr/>
        </p:nvSpPr>
        <p:spPr>
          <a:xfrm>
            <a:off x="736092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Does it really work?</a:t>
            </a:r>
            <a:endParaRPr lang="en-US" sz="1200" dirty="0"/>
          </a:p>
        </p:txBody>
      </p:sp>
      <p:sp>
        <p:nvSpPr>
          <p:cNvPr id="22" name="Shape 19"/>
          <p:cNvSpPr/>
          <p:nvPr/>
        </p:nvSpPr>
        <p:spPr>
          <a:xfrm>
            <a:off x="457200" y="3931920"/>
            <a:ext cx="8229600" cy="640080"/>
          </a:xfrm>
          <a:prstGeom prst="rect">
            <a:avLst/>
          </a:prstGeom>
          <a:solidFill>
            <a:srgbClr val="000000"/>
          </a:solidFill>
          <a:ln w="12700">
            <a:solidFill>
              <a:srgbClr val="000000"/>
            </a:solidFill>
            <a:prstDash val="solid"/>
          </a:ln>
        </p:spPr>
      </p:sp>
      <p:sp>
        <p:nvSpPr>
          <p:cNvPr id="23" name="Text 20"/>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loop, not a line: what we learn while testing sends us back to the people.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Empathize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Start with people, not technology.</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Get to know the people who have the problem. Listen to what they say and watch what they do, before thinking about any solution.</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Who is struggling, and what is frustrating them?</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read real forum threads, GitHub issues and Reddit posts, and ran local AI on a normal 8 GB gaming GPU ourselves.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heard from real users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457200" y="1188720"/>
            <a:ext cx="2606040" cy="2514600"/>
          </a:xfrm>
          <a:prstGeom prst="rect">
            <a:avLst/>
          </a:prstGeom>
          <a:solidFill>
            <a:srgbClr val="FFFFFF"/>
          </a:solidFill>
          <a:ln w="19050">
            <a:solidFill>
              <a:srgbClr val="000000"/>
            </a:solidFill>
            <a:prstDash val="solid"/>
          </a:ln>
        </p:spPr>
      </p:sp>
      <p:sp>
        <p:nvSpPr>
          <p:cNvPr id="8" name="Text 5"/>
          <p:cNvSpPr txBox="1"/>
          <p:nvPr/>
        </p:nvSpPr>
        <p:spPr>
          <a:xfrm>
            <a:off x="68580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“Still OOM Memory!”</a:t>
            </a:r>
            <a:endParaRPr lang="en-US" sz="1800" dirty="0"/>
          </a:p>
        </p:txBody>
      </p:sp>
      <p:sp>
        <p:nvSpPr>
          <p:cNvPr id="9" name="Text 6"/>
          <p:cNvSpPr txBox="1"/>
          <p:nvPr/>
        </p:nvSpPr>
        <p:spPr>
          <a:xfrm>
            <a:off x="68580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user trying to run a big model, after trying every suggested fix</a:t>
            </a:r>
            <a:endParaRPr lang="en-US" sz="1200" dirty="0"/>
          </a:p>
        </p:txBody>
      </p:sp>
      <p:sp>
        <p:nvSpPr>
          <p:cNvPr id="10" name="Shape 7"/>
          <p:cNvSpPr/>
          <p:nvPr/>
        </p:nvSpPr>
        <p:spPr>
          <a:xfrm>
            <a:off x="3246120" y="1188720"/>
            <a:ext cx="2606040" cy="2514600"/>
          </a:xfrm>
          <a:prstGeom prst="rect">
            <a:avLst/>
          </a:prstGeom>
          <a:solidFill>
            <a:srgbClr val="000000"/>
          </a:solidFill>
          <a:ln w="19050">
            <a:solidFill>
              <a:srgbClr val="000000"/>
            </a:solidFill>
            <a:prstDash val="solid"/>
          </a:ln>
        </p:spPr>
      </p:sp>
      <p:sp>
        <p:nvSpPr>
          <p:cNvPr id="11" name="Text 8"/>
          <p:cNvSpPr txBox="1"/>
          <p:nvPr/>
        </p:nvSpPr>
        <p:spPr>
          <a:xfrm>
            <a:off x="3474720" y="1463040"/>
            <a:ext cx="2148840" cy="13716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“Ollama works fine directly, but the agent framework is slow.”</a:t>
            </a:r>
            <a:endParaRPr lang="en-US" sz="1800" dirty="0"/>
          </a:p>
        </p:txBody>
      </p:sp>
      <p:sp>
        <p:nvSpPr>
          <p:cNvPr id="12" name="Text 9"/>
          <p:cNvSpPr txBox="1"/>
          <p:nvPr/>
        </p:nvSpPr>
        <p:spPr>
          <a:xfrm>
            <a:off x="3474720" y="2971800"/>
            <a:ext cx="2148840" cy="6400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People running several local agents at the same time</a:t>
            </a:r>
            <a:endParaRPr lang="en-US" sz="1200" dirty="0"/>
          </a:p>
        </p:txBody>
      </p:sp>
      <p:sp>
        <p:nvSpPr>
          <p:cNvPr id="13" name="Shape 10"/>
          <p:cNvSpPr/>
          <p:nvPr/>
        </p:nvSpPr>
        <p:spPr>
          <a:xfrm>
            <a:off x="6035040" y="1188720"/>
            <a:ext cx="2606040" cy="2514600"/>
          </a:xfrm>
          <a:prstGeom prst="rect">
            <a:avLst/>
          </a:prstGeom>
          <a:solidFill>
            <a:srgbClr val="FFFFFF"/>
          </a:solidFill>
          <a:ln w="19050">
            <a:solidFill>
              <a:srgbClr val="000000"/>
            </a:solidFill>
            <a:prstDash val="solid"/>
          </a:ln>
        </p:spPr>
      </p:sp>
      <p:sp>
        <p:nvSpPr>
          <p:cNvPr id="14" name="Text 11"/>
          <p:cNvSpPr txBox="1"/>
          <p:nvPr/>
        </p:nvSpPr>
        <p:spPr>
          <a:xfrm>
            <a:off x="626364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“99% wouldn't know what VRAM is.”</a:t>
            </a:r>
            <a:endParaRPr lang="en-US" sz="1800" dirty="0"/>
          </a:p>
        </p:txBody>
      </p:sp>
      <p:sp>
        <p:nvSpPr>
          <p:cNvPr id="15" name="Text 12"/>
          <p:cNvSpPr txBox="1"/>
          <p:nvPr/>
        </p:nvSpPr>
        <p:spPr>
          <a:xfrm>
            <a:off x="626364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Reddit commenter on r/LocalLLaMA</a:t>
            </a:r>
            <a:endParaRPr lang="en-US" sz="1200" dirty="0"/>
          </a:p>
        </p:txBody>
      </p:sp>
      <p:sp>
        <p:nvSpPr>
          <p:cNvPr id="16" name="Shape 13"/>
          <p:cNvSpPr/>
          <p:nvPr/>
        </p:nvSpPr>
        <p:spPr>
          <a:xfrm>
            <a:off x="457200" y="3931920"/>
            <a:ext cx="8229600" cy="640080"/>
          </a:xfrm>
          <a:prstGeom prst="rect">
            <a:avLst/>
          </a:prstGeom>
          <a:solidFill>
            <a:srgbClr val="F2F2F2"/>
          </a:solidFill>
          <a:ln w="12700">
            <a:solidFill>
              <a:srgbClr val="F2F2F2"/>
            </a:solidFill>
            <a:prstDash val="solid"/>
          </a:ln>
        </p:spPr>
      </p:sp>
      <p:sp>
        <p:nvSpPr>
          <p:cNvPr id="17" name="Text 14"/>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What we learned: </a:t>
            </a:r>
            <a:pPr indent="0" marL="0">
              <a:buNone/>
            </a:pPr>
            <a:r>
              <a:rPr lang="en-US" sz="1500" dirty="0">
                <a:solidFill>
                  <a:srgbClr val="000000"/>
                </a:solidFill>
                <a:latin typeface="Arial" pitchFamily="34" charset="0"/>
                <a:ea typeface="Arial" pitchFamily="34" charset="-122"/>
                <a:cs typeface="Arial" pitchFamily="34" charset="-120"/>
              </a:rPr>
              <a:t>the pain is real, and people bring it up without being asked.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Meet our user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457200" y="1188720"/>
            <a:ext cx="2743200" cy="3291840"/>
          </a:xfrm>
          <a:prstGeom prst="rect">
            <a:avLst/>
          </a:prstGeom>
          <a:solidFill>
            <a:srgbClr val="000000"/>
          </a:solidFill>
          <a:ln w="19050">
            <a:solidFill>
              <a:srgbClr val="000000"/>
            </a:solidFill>
            <a:prstDash val="solid"/>
          </a:ln>
        </p:spPr>
      </p:sp>
      <p:sp>
        <p:nvSpPr>
          <p:cNvPr id="8" name="Text 5"/>
          <p:cNvSpPr txBox="1"/>
          <p:nvPr/>
        </p:nvSpPr>
        <p:spPr>
          <a:xfrm>
            <a:off x="640080" y="1828800"/>
            <a:ext cx="23774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The local AI builder</a:t>
            </a:r>
            <a:endParaRPr lang="en-US" sz="2000" dirty="0"/>
          </a:p>
        </p:txBody>
      </p:sp>
      <p:sp>
        <p:nvSpPr>
          <p:cNvPr id="9" name="Text 6"/>
          <p:cNvSpPr txBox="1"/>
          <p:nvPr/>
        </p:nvSpPr>
        <p:spPr>
          <a:xfrm>
            <a:off x="685800" y="2514600"/>
            <a:ext cx="2286000" cy="1280160"/>
          </a:xfrm>
          <a:prstGeom prst="rect">
            <a:avLst/>
          </a:prstGeom>
          <a:noFill/>
          <a:ln/>
        </p:spPr>
        <p:txBody>
          <a:bodyPr wrap="square" lIns="0" tIns="0" rIns="0" bIns="0" rtlCol="0" anchor="t"/>
          <a:lstStyle/>
          <a:p>
            <a:pPr algn="ctr" indent="0" marL="0">
              <a:buNone/>
            </a:pPr>
            <a:r>
              <a:rPr lang="en-US" sz="1800" i="1" dirty="0">
                <a:solidFill>
                  <a:srgbClr val="BFBFBF"/>
                </a:solidFill>
                <a:latin typeface="Arial" pitchFamily="34" charset="0"/>
                <a:ea typeface="Arial" pitchFamily="34" charset="-122"/>
                <a:cs typeface="Arial" pitchFamily="34" charset="-120"/>
              </a:rPr>
              <a:t>“I paid for this GPU. Why is my AI so slow?”</a:t>
            </a:r>
            <a:endParaRPr lang="en-US" sz="1800" dirty="0"/>
          </a:p>
        </p:txBody>
      </p:sp>
      <p:sp>
        <p:nvSpPr>
          <p:cNvPr id="10" name="Text 7"/>
          <p:cNvSpPr txBox="1"/>
          <p:nvPr/>
        </p:nvSpPr>
        <p:spPr>
          <a:xfrm>
            <a:off x="3566160" y="123444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HARDWARE</a:t>
            </a:r>
            <a:endParaRPr lang="en-US" sz="1100" dirty="0"/>
          </a:p>
        </p:txBody>
      </p:sp>
      <p:sp>
        <p:nvSpPr>
          <p:cNvPr id="11" name="Text 8"/>
          <p:cNvSpPr txBox="1"/>
          <p:nvPr/>
        </p:nvSpPr>
        <p:spPr>
          <a:xfrm>
            <a:off x="3566160" y="150876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 normal 8 to 16 GB gaming GPU (RTX 3060, 4060, 5060)</a:t>
            </a:r>
            <a:endParaRPr lang="en-US" sz="1500" dirty="0"/>
          </a:p>
        </p:txBody>
      </p:sp>
      <p:sp>
        <p:nvSpPr>
          <p:cNvPr id="12" name="Text 9"/>
          <p:cNvSpPr txBox="1"/>
          <p:nvPr/>
        </p:nvSpPr>
        <p:spPr>
          <a:xfrm>
            <a:off x="3566160" y="205740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DAILY WORK</a:t>
            </a:r>
            <a:endParaRPr lang="en-US" sz="1100" dirty="0"/>
          </a:p>
        </p:txBody>
      </p:sp>
      <p:sp>
        <p:nvSpPr>
          <p:cNvPr id="13" name="Text 10"/>
          <p:cNvSpPr txBox="1"/>
          <p:nvPr/>
        </p:nvSpPr>
        <p:spPr>
          <a:xfrm>
            <a:off x="3566160" y="233172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Runs local coding and research agents through Ollama</a:t>
            </a:r>
            <a:endParaRPr lang="en-US" sz="1500" dirty="0"/>
          </a:p>
        </p:txBody>
      </p:sp>
      <p:sp>
        <p:nvSpPr>
          <p:cNvPr id="14" name="Text 11"/>
          <p:cNvSpPr txBox="1"/>
          <p:nvPr/>
        </p:nvSpPr>
        <p:spPr>
          <a:xfrm>
            <a:off x="3566160" y="288036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HABIT</a:t>
            </a:r>
            <a:endParaRPr lang="en-US" sz="1100" dirty="0"/>
          </a:p>
        </p:txBody>
      </p:sp>
      <p:sp>
        <p:nvSpPr>
          <p:cNvPr id="15" name="Text 12"/>
          <p:cNvSpPr txBox="1"/>
          <p:nvPr/>
        </p:nvSpPr>
        <p:spPr>
          <a:xfrm>
            <a:off x="3566160" y="315468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Uses local AI when possible and the cloud when needed</a:t>
            </a:r>
            <a:endParaRPr lang="en-US" sz="1500" dirty="0"/>
          </a:p>
        </p:txBody>
      </p:sp>
      <p:sp>
        <p:nvSpPr>
          <p:cNvPr id="16" name="Text 13"/>
          <p:cNvSpPr txBox="1"/>
          <p:nvPr/>
        </p:nvSpPr>
        <p:spPr>
          <a:xfrm>
            <a:off x="3566160" y="370332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NOT OUR USER</a:t>
            </a:r>
            <a:endParaRPr lang="en-US" sz="1100" dirty="0"/>
          </a:p>
        </p:txBody>
      </p:sp>
      <p:sp>
        <p:nvSpPr>
          <p:cNvPr id="17" name="Text 14"/>
          <p:cNvSpPr txBox="1"/>
          <p:nvPr/>
        </p:nvSpPr>
        <p:spPr>
          <a:xfrm>
            <a:off x="3566160" y="397764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Apple Silicon Mac owners: shared memory, nothing to split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Define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A clear problem is half the solution.</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Turn everything you learned into one short, clear problem statement that the whole team agrees on.</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is the real problem we are trying to solve?</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boiled the research down to a single “How might we” question and two measurable pains.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problem, in one sentence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8</a:t>
            </a:r>
            <a:endParaRPr lang="en-US" sz="1000" dirty="0"/>
          </a:p>
        </p:txBody>
      </p:sp>
      <p:sp>
        <p:nvSpPr>
          <p:cNvPr id="7" name="Shape 4"/>
          <p:cNvSpPr/>
          <p:nvPr/>
        </p:nvSpPr>
        <p:spPr>
          <a:xfrm>
            <a:off x="457200" y="1188720"/>
            <a:ext cx="8229600" cy="1371600"/>
          </a:xfrm>
          <a:prstGeom prst="rect">
            <a:avLst/>
          </a:prstGeom>
          <a:solidFill>
            <a:srgbClr val="000000"/>
          </a:solidFill>
          <a:ln w="19050">
            <a:solidFill>
              <a:srgbClr val="000000"/>
            </a:solidFill>
            <a:prstDash val="solid"/>
          </a:ln>
        </p:spPr>
      </p:sp>
      <p:sp>
        <p:nvSpPr>
          <p:cNvPr id="8" name="Text 5"/>
          <p:cNvSpPr txBox="1"/>
          <p:nvPr/>
        </p:nvSpPr>
        <p:spPr>
          <a:xfrm>
            <a:off x="777240" y="1188720"/>
            <a:ext cx="7589520" cy="13716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How might we </a:t>
            </a:r>
            <a:pPr indent="0" marL="0">
              <a:buNone/>
            </a:pPr>
            <a:r>
              <a:rPr lang="en-US" sz="22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2200" dirty="0"/>
          </a:p>
        </p:txBody>
      </p:sp>
      <p:sp>
        <p:nvSpPr>
          <p:cNvPr id="9" name="Shape 6"/>
          <p:cNvSpPr/>
          <p:nvPr/>
        </p:nvSpPr>
        <p:spPr>
          <a:xfrm>
            <a:off x="457200" y="2834640"/>
            <a:ext cx="2606040" cy="1691640"/>
          </a:xfrm>
          <a:prstGeom prst="rect">
            <a:avLst/>
          </a:prstGeom>
          <a:solidFill>
            <a:srgbClr val="F2F2F2"/>
          </a:solidFill>
          <a:ln w="12700">
            <a:solidFill>
              <a:srgbClr val="F2F2F2"/>
            </a:solidFill>
            <a:prstDash val="solid"/>
          </a:ln>
        </p:spPr>
      </p:sp>
      <p:sp>
        <p:nvSpPr>
          <p:cNvPr id="10" name="Text 7"/>
          <p:cNvSpPr txBox="1"/>
          <p:nvPr/>
        </p:nvSpPr>
        <p:spPr>
          <a:xfrm>
            <a:off x="68580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1" name="Text 8"/>
          <p:cNvSpPr txBox="1"/>
          <p:nvPr/>
        </p:nvSpPr>
        <p:spPr>
          <a:xfrm>
            <a:off x="68580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A new model</a:t>
            </a:r>
            <a:endParaRPr lang="en-US" sz="1700" dirty="0"/>
          </a:p>
        </p:txBody>
      </p:sp>
      <p:sp>
        <p:nvSpPr>
          <p:cNvPr id="12" name="Text 9"/>
          <p:cNvSpPr txBox="1"/>
          <p:nvPr/>
        </p:nvSpPr>
        <p:spPr>
          <a:xfrm>
            <a:off x="68580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We do not train or ship an AI model.</a:t>
            </a:r>
            <a:endParaRPr lang="en-US" sz="1200" dirty="0"/>
          </a:p>
        </p:txBody>
      </p:sp>
      <p:sp>
        <p:nvSpPr>
          <p:cNvPr id="13" name="Shape 10"/>
          <p:cNvSpPr/>
          <p:nvPr/>
        </p:nvSpPr>
        <p:spPr>
          <a:xfrm>
            <a:off x="3246120" y="2834640"/>
            <a:ext cx="2606040" cy="1691640"/>
          </a:xfrm>
          <a:prstGeom prst="rect">
            <a:avLst/>
          </a:prstGeom>
          <a:solidFill>
            <a:srgbClr val="F2F2F2"/>
          </a:solidFill>
          <a:ln w="12700">
            <a:solidFill>
              <a:srgbClr val="F2F2F2"/>
            </a:solidFill>
            <a:prstDash val="solid"/>
          </a:ln>
        </p:spPr>
      </p:sp>
      <p:sp>
        <p:nvSpPr>
          <p:cNvPr id="14" name="Text 11"/>
          <p:cNvSpPr txBox="1"/>
          <p:nvPr/>
        </p:nvSpPr>
        <p:spPr>
          <a:xfrm>
            <a:off x="347472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5" name="Text 12"/>
          <p:cNvSpPr txBox="1"/>
          <p:nvPr/>
        </p:nvSpPr>
        <p:spPr>
          <a:xfrm>
            <a:off x="347472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New hardware</a:t>
            </a:r>
            <a:endParaRPr lang="en-US" sz="1700" dirty="0"/>
          </a:p>
        </p:txBody>
      </p:sp>
      <p:sp>
        <p:nvSpPr>
          <p:cNvPr id="16" name="Text 13"/>
          <p:cNvSpPr txBox="1"/>
          <p:nvPr/>
        </p:nvSpPr>
        <p:spPr>
          <a:xfrm>
            <a:off x="347472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The answer cannot be “buy a bigger GPU”.</a:t>
            </a:r>
            <a:endParaRPr lang="en-US" sz="1200" dirty="0"/>
          </a:p>
        </p:txBody>
      </p:sp>
      <p:sp>
        <p:nvSpPr>
          <p:cNvPr id="17" name="Shape 14"/>
          <p:cNvSpPr/>
          <p:nvPr/>
        </p:nvSpPr>
        <p:spPr>
          <a:xfrm>
            <a:off x="6035040" y="2834640"/>
            <a:ext cx="2606040" cy="1691640"/>
          </a:xfrm>
          <a:prstGeom prst="rect">
            <a:avLst/>
          </a:prstGeom>
          <a:solidFill>
            <a:srgbClr val="F2F2F2"/>
          </a:solidFill>
          <a:ln w="12700">
            <a:solidFill>
              <a:srgbClr val="F2F2F2"/>
            </a:solidFill>
            <a:prstDash val="solid"/>
          </a:ln>
        </p:spPr>
      </p:sp>
      <p:sp>
        <p:nvSpPr>
          <p:cNvPr id="18" name="Text 15"/>
          <p:cNvSpPr txBox="1"/>
          <p:nvPr/>
        </p:nvSpPr>
        <p:spPr>
          <a:xfrm>
            <a:off x="626364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MUST</a:t>
            </a:r>
            <a:endParaRPr lang="en-US" sz="1200" dirty="0"/>
          </a:p>
        </p:txBody>
      </p:sp>
      <p:sp>
        <p:nvSpPr>
          <p:cNvPr id="19" name="Text 16"/>
          <p:cNvSpPr txBox="1"/>
          <p:nvPr/>
        </p:nvSpPr>
        <p:spPr>
          <a:xfrm>
            <a:off x="626364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Keep the workflow</a:t>
            </a:r>
            <a:endParaRPr lang="en-US" sz="1700" dirty="0"/>
          </a:p>
        </p:txBody>
      </p:sp>
      <p:sp>
        <p:nvSpPr>
          <p:cNvPr id="20" name="Text 17"/>
          <p:cNvSpPr txBox="1"/>
          <p:nvPr/>
        </p:nvSpPr>
        <p:spPr>
          <a:xfrm>
            <a:off x="626364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Existing agent tools must keep working untouched.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Two pains, with numbers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9</a:t>
            </a:r>
            <a:endParaRPr lang="en-US" sz="1000" dirty="0"/>
          </a:p>
        </p:txBody>
      </p:sp>
      <p:sp>
        <p:nvSpPr>
          <p:cNvPr id="7" name="Shape 4"/>
          <p:cNvSpPr/>
          <p:nvPr/>
        </p:nvSpPr>
        <p:spPr>
          <a:xfrm>
            <a:off x="457200" y="1188720"/>
            <a:ext cx="3291840" cy="3291840"/>
          </a:xfrm>
          <a:prstGeom prst="rect">
            <a:avLst/>
          </a:prstGeom>
          <a:solidFill>
            <a:srgbClr val="FFFFFF"/>
          </a:solidFill>
          <a:ln w="19050">
            <a:solidFill>
              <a:srgbClr val="000000"/>
            </a:solidFill>
            <a:prstDash val="solid"/>
          </a:ln>
        </p:spPr>
      </p:sp>
      <p:sp>
        <p:nvSpPr>
          <p:cNvPr id="8" name="Text 5"/>
          <p:cNvSpPr txBox="1"/>
          <p:nvPr/>
        </p:nvSpPr>
        <p:spPr>
          <a:xfrm>
            <a:off x="731520" y="1371600"/>
            <a:ext cx="27432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PAIN 1</a:t>
            </a:r>
            <a:endParaRPr lang="en-US" sz="1100" dirty="0"/>
          </a:p>
        </p:txBody>
      </p:sp>
      <p:sp>
        <p:nvSpPr>
          <p:cNvPr id="9" name="Text 6"/>
          <p:cNvSpPr txBox="1"/>
          <p:nvPr/>
        </p:nvSpPr>
        <p:spPr>
          <a:xfrm>
            <a:off x="731520" y="1645920"/>
            <a:ext cx="2743200" cy="36576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 wasted GPU</a:t>
            </a:r>
            <a:endParaRPr lang="en-US" sz="2000" dirty="0"/>
          </a:p>
        </p:txBody>
      </p:sp>
      <p:sp>
        <p:nvSpPr>
          <p:cNvPr id="10" name="Text 7"/>
          <p:cNvSpPr txBox="1"/>
          <p:nvPr/>
        </p:nvSpPr>
        <p:spPr>
          <a:xfrm>
            <a:off x="731520" y="2148840"/>
            <a:ext cx="2743200" cy="822960"/>
          </a:xfrm>
          <a:prstGeom prst="rect">
            <a:avLst/>
          </a:prstGeom>
          <a:noFill/>
          <a:ln/>
        </p:spPr>
        <p:txBody>
          <a:bodyPr wrap="square" lIns="0" tIns="0" rIns="0" bIns="0" rtlCol="0" anchor="ctr"/>
          <a:lstStyle/>
          <a:p>
            <a:pPr indent="0" marL="0">
              <a:buNone/>
            </a:pPr>
            <a:r>
              <a:rPr lang="en-US" sz="5400" b="1" dirty="0">
                <a:solidFill>
                  <a:srgbClr val="000000"/>
                </a:solidFill>
                <a:latin typeface="Arial" pitchFamily="34" charset="0"/>
                <a:ea typeface="Arial" pitchFamily="34" charset="-122"/>
                <a:cs typeface="Arial" pitchFamily="34" charset="-120"/>
              </a:rPr>
              <a:t>12.4</a:t>
            </a:r>
            <a:endParaRPr lang="en-US" sz="5400" dirty="0"/>
          </a:p>
        </p:txBody>
      </p:sp>
      <p:sp>
        <p:nvSpPr>
          <p:cNvPr id="11" name="Text 8"/>
          <p:cNvSpPr txBox="1"/>
          <p:nvPr/>
        </p:nvSpPr>
        <p:spPr>
          <a:xfrm>
            <a:off x="731520" y="3017520"/>
            <a:ext cx="274320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tokens per second with Ollama's default on a 14B model</a:t>
            </a:r>
            <a:endParaRPr lang="en-US" sz="1300" dirty="0"/>
          </a:p>
        </p:txBody>
      </p:sp>
      <p:sp>
        <p:nvSpPr>
          <p:cNvPr id="12" name="Text 9"/>
          <p:cNvSpPr txBox="1"/>
          <p:nvPr/>
        </p:nvSpPr>
        <p:spPr>
          <a:xfrm>
            <a:off x="731520" y="3749040"/>
            <a:ext cx="2743200" cy="54864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The default placement is safe, not fast.</a:t>
            </a:r>
            <a:endParaRPr lang="en-US" sz="1200" dirty="0"/>
          </a:p>
        </p:txBody>
      </p:sp>
      <p:sp>
        <p:nvSpPr>
          <p:cNvPr id="13" name="Text 10"/>
          <p:cNvSpPr txBox="1"/>
          <p:nvPr/>
        </p:nvSpPr>
        <p:spPr>
          <a:xfrm>
            <a:off x="4023360" y="1234440"/>
            <a:ext cx="4663440" cy="228600"/>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PAIN 2 · FOUR AGENTS AT ONCE, NO COORDINATION</a:t>
            </a:r>
            <a:endParaRPr lang="en-US" sz="1100" dirty="0"/>
          </a:p>
        </p:txBody>
      </p:sp>
      <p:graphicFrame>
        <p:nvGraphicFramePr>
          <p:cNvPr id="14" name="Chart 0" descr=""/>
          <p:cNvGraphicFramePr/>
          <p:nvPr/>
        </p:nvGraphicFramePr>
        <p:xfrm>
          <a:off x="3931920" y="1463040"/>
          <a:ext cx="4846320" cy="3017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Ideate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Go wide first, then choose.</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Come up with as many possible solutions as you can, even bad ones. Only after that, pick the best.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are all the ways we could solve this?</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listed six different ideas, tested the promising ones, and dropped four with honest reasons.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Six ideas, two winners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11</a:t>
            </a:r>
            <a:endParaRPr lang="en-US" sz="1000" dirty="0"/>
          </a:p>
        </p:txBody>
      </p:sp>
      <p:sp>
        <p:nvSpPr>
          <p:cNvPr id="7" name="Shape 4"/>
          <p:cNvSpPr/>
          <p:nvPr/>
        </p:nvSpPr>
        <p:spPr>
          <a:xfrm>
            <a:off x="457200" y="1188720"/>
            <a:ext cx="2606040" cy="1554480"/>
          </a:xfrm>
          <a:prstGeom prst="rect">
            <a:avLst/>
          </a:prstGeom>
          <a:solidFill>
            <a:srgbClr val="FFFFFF"/>
          </a:solidFill>
          <a:ln w="19050">
            <a:solidFill>
              <a:srgbClr val="BFBFBF"/>
            </a:solidFill>
            <a:prstDash val="solid"/>
          </a:ln>
        </p:spPr>
      </p:sp>
      <p:sp>
        <p:nvSpPr>
          <p:cNvPr id="8" name="Text 5"/>
          <p:cNvSpPr txBox="1"/>
          <p:nvPr/>
        </p:nvSpPr>
        <p:spPr>
          <a:xfrm>
            <a:off x="68580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9" name="Text 6"/>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Buy a bigger GPU</a:t>
            </a:r>
            <a:endParaRPr lang="en-US" sz="1500" dirty="0"/>
          </a:p>
        </p:txBody>
      </p:sp>
      <p:sp>
        <p:nvSpPr>
          <p:cNvPr id="10" name="Text 7"/>
          <p:cNvSpPr txBox="1"/>
          <p:nvPr/>
        </p:nvSpPr>
        <p:spPr>
          <a:xfrm>
            <a:off x="68580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Costs money. Users want to use what they already own.</a:t>
            </a:r>
            <a:endParaRPr lang="en-US" sz="1200" dirty="0"/>
          </a:p>
        </p:txBody>
      </p:sp>
      <p:sp>
        <p:nvSpPr>
          <p:cNvPr id="11" name="Shape 8"/>
          <p:cNvSpPr/>
          <p:nvPr/>
        </p:nvSpPr>
        <p:spPr>
          <a:xfrm>
            <a:off x="3246120" y="1188720"/>
            <a:ext cx="2606040" cy="1554480"/>
          </a:xfrm>
          <a:prstGeom prst="rect">
            <a:avLst/>
          </a:prstGeom>
          <a:solidFill>
            <a:srgbClr val="FFFFFF"/>
          </a:solidFill>
          <a:ln w="19050">
            <a:solidFill>
              <a:srgbClr val="BFBFBF"/>
            </a:solidFill>
            <a:prstDash val="solid"/>
          </a:ln>
        </p:spPr>
      </p:sp>
      <p:sp>
        <p:nvSpPr>
          <p:cNvPr id="12" name="Text 9"/>
          <p:cNvSpPr txBox="1"/>
          <p:nvPr/>
        </p:nvSpPr>
        <p:spPr>
          <a:xfrm>
            <a:off x="347472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3" name="Text 10"/>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Memory tiering</a:t>
            </a:r>
            <a:endParaRPr lang="en-US" sz="1500" dirty="0"/>
          </a:p>
        </p:txBody>
      </p:sp>
      <p:sp>
        <p:nvSpPr>
          <p:cNvPr id="14" name="Text 11"/>
          <p:cNvSpPr txBox="1"/>
          <p:nvPr/>
        </p:nvSpPr>
        <p:spPr>
          <a:xfrm>
            <a:off x="347472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10-phase research project. The gains did not hold up.</a:t>
            </a:r>
            <a:endParaRPr lang="en-US" sz="1200" dirty="0"/>
          </a:p>
        </p:txBody>
      </p:sp>
      <p:sp>
        <p:nvSpPr>
          <p:cNvPr id="15" name="Shape 12"/>
          <p:cNvSpPr/>
          <p:nvPr/>
        </p:nvSpPr>
        <p:spPr>
          <a:xfrm>
            <a:off x="6035040" y="1188720"/>
            <a:ext cx="2606040" cy="1554480"/>
          </a:xfrm>
          <a:prstGeom prst="rect">
            <a:avLst/>
          </a:prstGeom>
          <a:solidFill>
            <a:srgbClr val="FFFFFF"/>
          </a:solidFill>
          <a:ln w="19050">
            <a:solidFill>
              <a:srgbClr val="BFBFBF"/>
            </a:solidFill>
            <a:prstDash val="solid"/>
          </a:ln>
        </p:spPr>
      </p:sp>
      <p:sp>
        <p:nvSpPr>
          <p:cNvPr id="16" name="Text 13"/>
          <p:cNvSpPr txBox="1"/>
          <p:nvPr/>
        </p:nvSpPr>
        <p:spPr>
          <a:xfrm>
            <a:off x="626364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7" name="Text 14"/>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MoE expert placement</a:t>
            </a:r>
            <a:endParaRPr lang="en-US" sz="1500" dirty="0"/>
          </a:p>
        </p:txBody>
      </p:sp>
      <p:sp>
        <p:nvSpPr>
          <p:cNvPr id="18" name="Text 15"/>
          <p:cNvSpPr txBox="1"/>
          <p:nvPr/>
        </p:nvSpPr>
        <p:spPr>
          <a:xfrm>
            <a:off x="626364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Real win, but Ollama's API cannot reach it.</a:t>
            </a:r>
            <a:endParaRPr lang="en-US" sz="1200" dirty="0"/>
          </a:p>
        </p:txBody>
      </p:sp>
      <p:sp>
        <p:nvSpPr>
          <p:cNvPr id="19" name="Shape 16"/>
          <p:cNvSpPr/>
          <p:nvPr/>
        </p:nvSpPr>
        <p:spPr>
          <a:xfrm>
            <a:off x="457200" y="2880360"/>
            <a:ext cx="2606040" cy="1554480"/>
          </a:xfrm>
          <a:prstGeom prst="rect">
            <a:avLst/>
          </a:prstGeom>
          <a:solidFill>
            <a:srgbClr val="FFFFFF"/>
          </a:solidFill>
          <a:ln w="19050">
            <a:solidFill>
              <a:srgbClr val="BFBFBF"/>
            </a:solidFill>
            <a:prstDash val="solid"/>
          </a:ln>
        </p:spPr>
      </p:sp>
      <p:sp>
        <p:nvSpPr>
          <p:cNvPr id="20" name="Text 17"/>
          <p:cNvSpPr txBox="1"/>
          <p:nvPr/>
        </p:nvSpPr>
        <p:spPr>
          <a:xfrm>
            <a:off x="685800" y="306324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1" name="Text 18"/>
          <p:cNvSpPr txBox="1"/>
          <p:nvPr/>
        </p:nvSpPr>
        <p:spPr>
          <a:xfrm>
            <a:off x="685800" y="347472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Shared model memory</a:t>
            </a:r>
            <a:endParaRPr lang="en-US" sz="1500" dirty="0"/>
          </a:p>
        </p:txBody>
      </p:sp>
      <p:sp>
        <p:nvSpPr>
          <p:cNvPr id="22" name="Text 19"/>
          <p:cNvSpPr txBox="1"/>
          <p:nvPr/>
        </p:nvSpPr>
        <p:spPr>
          <a:xfrm>
            <a:off x="685800" y="379476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Ollama already handles this well enough.</a:t>
            </a:r>
            <a:endParaRPr lang="en-US" sz="1200" dirty="0"/>
          </a:p>
        </p:txBody>
      </p:sp>
      <p:sp>
        <p:nvSpPr>
          <p:cNvPr id="23" name="Shape 20"/>
          <p:cNvSpPr/>
          <p:nvPr/>
        </p:nvSpPr>
        <p:spPr>
          <a:xfrm>
            <a:off x="3246120" y="2880360"/>
            <a:ext cx="2606040" cy="1554480"/>
          </a:xfrm>
          <a:prstGeom prst="rect">
            <a:avLst/>
          </a:prstGeom>
          <a:solidFill>
            <a:srgbClr val="000000"/>
          </a:solidFill>
          <a:ln w="19050">
            <a:solidFill>
              <a:srgbClr val="000000"/>
            </a:solidFill>
            <a:prstDash val="solid"/>
          </a:ln>
        </p:spPr>
      </p:sp>
      <p:sp>
        <p:nvSpPr>
          <p:cNvPr id="24" name="Text 21"/>
          <p:cNvSpPr txBox="1"/>
          <p:nvPr/>
        </p:nvSpPr>
        <p:spPr>
          <a:xfrm>
            <a:off x="347472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5" name="Text 22"/>
          <p:cNvSpPr txBox="1"/>
          <p:nvPr/>
        </p:nvSpPr>
        <p:spPr>
          <a:xfrm>
            <a:off x="347472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Smart layer placement</a:t>
            </a:r>
            <a:endParaRPr lang="en-US" sz="1500" dirty="0"/>
          </a:p>
        </p:txBody>
      </p:sp>
      <p:sp>
        <p:nvSpPr>
          <p:cNvPr id="26" name="Text 23"/>
          <p:cNvSpPr txBox="1"/>
          <p:nvPr/>
        </p:nvSpPr>
        <p:spPr>
          <a:xfrm>
            <a:off x="347472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Find the best GPU and CPU split per model and context.</a:t>
            </a:r>
            <a:endParaRPr lang="en-US" sz="1200" dirty="0"/>
          </a:p>
        </p:txBody>
      </p:sp>
      <p:sp>
        <p:nvSpPr>
          <p:cNvPr id="27" name="Shape 24"/>
          <p:cNvSpPr/>
          <p:nvPr/>
        </p:nvSpPr>
        <p:spPr>
          <a:xfrm>
            <a:off x="6035040" y="2880360"/>
            <a:ext cx="2606040" cy="1554480"/>
          </a:xfrm>
          <a:prstGeom prst="rect">
            <a:avLst/>
          </a:prstGeom>
          <a:solidFill>
            <a:srgbClr val="000000"/>
          </a:solidFill>
          <a:ln w="19050">
            <a:solidFill>
              <a:srgbClr val="000000"/>
            </a:solidFill>
            <a:prstDash val="solid"/>
          </a:ln>
        </p:spPr>
      </p:sp>
      <p:sp>
        <p:nvSpPr>
          <p:cNvPr id="28" name="Text 25"/>
          <p:cNvSpPr txBox="1"/>
          <p:nvPr/>
        </p:nvSpPr>
        <p:spPr>
          <a:xfrm>
            <a:off x="626364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9" name="Text 26"/>
          <p:cNvSpPr txBox="1"/>
          <p:nvPr/>
        </p:nvSpPr>
        <p:spPr>
          <a:xfrm>
            <a:off x="626364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Multi-agent scheduler</a:t>
            </a:r>
            <a:endParaRPr lang="en-US" sz="1500" dirty="0"/>
          </a:p>
        </p:txBody>
      </p:sp>
      <p:sp>
        <p:nvSpPr>
          <p:cNvPr id="30" name="Text 27"/>
          <p:cNvSpPr txBox="1"/>
          <p:nvPr/>
        </p:nvSpPr>
        <p:spPr>
          <a:xfrm>
            <a:off x="626364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Stop agents from kicking each other off the GPU.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picked: three filters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12</a:t>
            </a:r>
            <a:endParaRPr lang="en-US" sz="1000" dirty="0"/>
          </a:p>
        </p:txBody>
      </p:sp>
      <p:sp>
        <p:nvSpPr>
          <p:cNvPr id="7" name="Shape 4"/>
          <p:cNvSpPr/>
          <p:nvPr/>
        </p:nvSpPr>
        <p:spPr>
          <a:xfrm>
            <a:off x="457200" y="1188720"/>
            <a:ext cx="2606040" cy="2286000"/>
          </a:xfrm>
          <a:prstGeom prst="rect">
            <a:avLst/>
          </a:prstGeom>
          <a:solidFill>
            <a:srgbClr val="FFFFFF"/>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the pain real?</a:t>
            </a:r>
            <a:endParaRPr lang="en-US" sz="1700" dirty="0"/>
          </a:p>
        </p:txBody>
      </p:sp>
      <p:sp>
        <p:nvSpPr>
          <p:cNvPr id="10" name="Text 7"/>
          <p:cNvSpPr txBox="1"/>
          <p:nvPr/>
        </p:nvSpPr>
        <p:spPr>
          <a:xfrm>
            <a:off x="68580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Did real users complain about it without being asked?</a:t>
            </a:r>
            <a:endParaRPr lang="en-US" sz="1300" dirty="0"/>
          </a:p>
        </p:txBody>
      </p:sp>
      <p:sp>
        <p:nvSpPr>
          <p:cNvPr id="11" name="Shape 8"/>
          <p:cNvSpPr/>
          <p:nvPr/>
        </p:nvSpPr>
        <p:spPr>
          <a:xfrm>
            <a:off x="3246120" y="1188720"/>
            <a:ext cx="2606040" cy="228600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it still unsolved?</a:t>
            </a:r>
            <a:endParaRPr lang="en-US" sz="1700" dirty="0"/>
          </a:p>
        </p:txBody>
      </p:sp>
      <p:sp>
        <p:nvSpPr>
          <p:cNvPr id="14" name="Text 11"/>
          <p:cNvSpPr txBox="1"/>
          <p:nvPr/>
        </p:nvSpPr>
        <p:spPr>
          <a:xfrm>
            <a:off x="347472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Does Ollama or another tool already do this well?</a:t>
            </a:r>
            <a:endParaRPr lang="en-US" sz="1300" dirty="0"/>
          </a:p>
        </p:txBody>
      </p:sp>
      <p:sp>
        <p:nvSpPr>
          <p:cNvPr id="15" name="Shape 12"/>
          <p:cNvSpPr/>
          <p:nvPr/>
        </p:nvSpPr>
        <p:spPr>
          <a:xfrm>
            <a:off x="6035040" y="1188720"/>
            <a:ext cx="2606040" cy="228600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Can we measure it?</a:t>
            </a:r>
            <a:endParaRPr lang="en-US" sz="1700" dirty="0"/>
          </a:p>
        </p:txBody>
      </p:sp>
      <p:sp>
        <p:nvSpPr>
          <p:cNvPr id="18" name="Text 15"/>
          <p:cNvSpPr txBox="1"/>
          <p:nvPr/>
        </p:nvSpPr>
        <p:spPr>
          <a:xfrm>
            <a:off x="626364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Can we prove a win with numbers on a real machine?</a:t>
            </a:r>
            <a:endParaRPr lang="en-US" sz="1300" dirty="0"/>
          </a:p>
        </p:txBody>
      </p:sp>
      <p:sp>
        <p:nvSpPr>
          <p:cNvPr id="19" name="Shape 16"/>
          <p:cNvSpPr/>
          <p:nvPr/>
        </p:nvSpPr>
        <p:spPr>
          <a:xfrm>
            <a:off x="457200" y="3794760"/>
            <a:ext cx="8229600" cy="731520"/>
          </a:xfrm>
          <a:prstGeom prst="rect">
            <a:avLst/>
          </a:prstGeom>
          <a:solidFill>
            <a:srgbClr val="000000"/>
          </a:solidFill>
          <a:ln w="12700">
            <a:solidFill>
              <a:srgbClr val="000000"/>
            </a:solidFill>
            <a:prstDash val="solid"/>
          </a:ln>
        </p:spPr>
      </p:sp>
      <p:sp>
        <p:nvSpPr>
          <p:cNvPr id="20" name="Text 17"/>
          <p:cNvSpPr txBox="1"/>
          <p:nvPr/>
        </p:nvSpPr>
        <p:spPr>
          <a:xfrm>
            <a:off x="731520" y="3794760"/>
            <a:ext cx="768096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Result: smart layer placement and a multi-agent scheduler. Both pass all three.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Prototype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Build it fast, build it real.</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Make the idea into something people can actually use, quickly and cheaply, so you can learn from it.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Can we build a working version to try?</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built a working proxy, a command line tool and a desktop app, not just a mock-up.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built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14</a:t>
            </a:r>
            <a:endParaRPr lang="en-US" sz="1000" dirty="0"/>
          </a:p>
        </p:txBody>
      </p:sp>
      <p:sp>
        <p:nvSpPr>
          <p:cNvPr id="7" name="Shape 4"/>
          <p:cNvSpPr/>
          <p:nvPr/>
        </p:nvSpPr>
        <p:spPr>
          <a:xfrm>
            <a:off x="457200" y="1188720"/>
            <a:ext cx="2606040" cy="2423160"/>
          </a:xfrm>
          <a:prstGeom prst="rect">
            <a:avLst/>
          </a:prstGeom>
          <a:solidFill>
            <a:srgbClr val="000000"/>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Proxy server</a:t>
            </a:r>
            <a:endParaRPr lang="en-US" sz="1700" dirty="0"/>
          </a:p>
        </p:txBody>
      </p:sp>
      <p:sp>
        <p:nvSpPr>
          <p:cNvPr id="10" name="Text 7"/>
          <p:cNvSpPr txBox="1"/>
          <p:nvPr/>
        </p:nvSpPr>
        <p:spPr>
          <a:xfrm>
            <a:off x="685800" y="2651760"/>
            <a:ext cx="219456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Agents point at port 11435 instead of Ollama's 11434. Speaks Ollama and OpenAI-style APIs.</a:t>
            </a:r>
            <a:endParaRPr lang="en-US" sz="1200" dirty="0"/>
          </a:p>
        </p:txBody>
      </p:sp>
      <p:sp>
        <p:nvSpPr>
          <p:cNvPr id="11" name="Shape 8"/>
          <p:cNvSpPr/>
          <p:nvPr/>
        </p:nvSpPr>
        <p:spPr>
          <a:xfrm>
            <a:off x="3246120" y="1188720"/>
            <a:ext cx="2606040" cy="242316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Command line</a:t>
            </a:r>
            <a:endParaRPr lang="en-US" sz="1700" dirty="0"/>
          </a:p>
        </p:txBody>
      </p:sp>
      <p:sp>
        <p:nvSpPr>
          <p:cNvPr id="14" name="Text 11"/>
          <p:cNvSpPr txBox="1"/>
          <p:nvPr/>
        </p:nvSpPr>
        <p:spPr>
          <a:xfrm>
            <a:off x="347472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serve, doctor and benchmark commands to start Ramer and check your hardware.</a:t>
            </a:r>
            <a:endParaRPr lang="en-US" sz="1200" dirty="0"/>
          </a:p>
        </p:txBody>
      </p:sp>
      <p:sp>
        <p:nvSpPr>
          <p:cNvPr id="15" name="Shape 12"/>
          <p:cNvSpPr/>
          <p:nvPr/>
        </p:nvSpPr>
        <p:spPr>
          <a:xfrm>
            <a:off x="6035040" y="1188720"/>
            <a:ext cx="2606040" cy="242316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Desktop app</a:t>
            </a:r>
            <a:endParaRPr lang="en-US" sz="1700" dirty="0"/>
          </a:p>
        </p:txBody>
      </p:sp>
      <p:sp>
        <p:nvSpPr>
          <p:cNvPr id="18" name="Text 15"/>
          <p:cNvSpPr txBox="1"/>
          <p:nvPr/>
        </p:nvSpPr>
        <p:spPr>
          <a:xfrm>
            <a:off x="626364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 simple window for setup, plus a built-in coding agent.</a:t>
            </a:r>
            <a:endParaRPr lang="en-US" sz="1200" dirty="0"/>
          </a:p>
        </p:txBody>
      </p:sp>
      <p:sp>
        <p:nvSpPr>
          <p:cNvPr id="19" name="Shape 16"/>
          <p:cNvSpPr/>
          <p:nvPr/>
        </p:nvSpPr>
        <p:spPr>
          <a:xfrm>
            <a:off x="457200" y="3840480"/>
            <a:ext cx="8229600" cy="685800"/>
          </a:xfrm>
          <a:prstGeom prst="rect">
            <a:avLst/>
          </a:prstGeom>
          <a:solidFill>
            <a:srgbClr val="F2F2F2"/>
          </a:solidFill>
          <a:ln w="12700">
            <a:solidFill>
              <a:srgbClr val="F2F2F2"/>
            </a:solidFill>
            <a:prstDash val="solid"/>
          </a:ln>
        </p:spPr>
      </p:sp>
      <p:sp>
        <p:nvSpPr>
          <p:cNvPr id="20" name="Text 17"/>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Tested with: </a:t>
            </a:r>
            <a:pPr indent="0" marL="0">
              <a:buNone/>
            </a:pPr>
            <a:r>
              <a:rPr lang="en-US" sz="1500" dirty="0">
                <a:solidFill>
                  <a:srgbClr val="000000"/>
                </a:solidFill>
                <a:latin typeface="Arial" pitchFamily="34" charset="0"/>
                <a:ea typeface="Arial" pitchFamily="34" charset="-122"/>
                <a:cs typeface="Arial" pitchFamily="34" charset="-120"/>
              </a:rPr>
              <a:t>aider and the pi CLI, two third-party tools we did not write.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Four rules keep it honest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15</a:t>
            </a:r>
            <a:endParaRPr lang="en-US" sz="1000" dirty="0"/>
          </a:p>
        </p:txBody>
      </p:sp>
      <p:sp>
        <p:nvSpPr>
          <p:cNvPr id="7" name="Shape 4"/>
          <p:cNvSpPr/>
          <p:nvPr/>
        </p:nvSpPr>
        <p:spPr>
          <a:xfrm>
            <a:off x="457200" y="1188720"/>
            <a:ext cx="4023360" cy="1554480"/>
          </a:xfrm>
          <a:prstGeom prst="rect">
            <a:avLst/>
          </a:prstGeom>
          <a:solidFill>
            <a:srgbClr val="F2F2F2"/>
          </a:solidFill>
          <a:ln w="12700">
            <a:solidFill>
              <a:srgbClr val="F2F2F2"/>
            </a:solidFill>
            <a:prstDash val="solid"/>
          </a:ln>
        </p:spPr>
      </p:sp>
      <p:sp>
        <p:nvSpPr>
          <p:cNvPr id="8" name="Text 5"/>
          <p:cNvSpPr txBox="1"/>
          <p:nvPr/>
        </p:nvSpPr>
        <p:spPr>
          <a:xfrm>
            <a:off x="68580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1</a:t>
            </a:r>
            <a:endParaRPr lang="en-US" sz="3600" dirty="0"/>
          </a:p>
        </p:txBody>
      </p:sp>
      <p:sp>
        <p:nvSpPr>
          <p:cNvPr id="9" name="Text 6"/>
          <p:cNvSpPr txBox="1"/>
          <p:nvPr/>
        </p:nvSpPr>
        <p:spPr>
          <a:xfrm>
            <a:off x="132588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Context-aware</a:t>
            </a:r>
            <a:endParaRPr lang="en-US" sz="1800" dirty="0"/>
          </a:p>
        </p:txBody>
      </p:sp>
      <p:sp>
        <p:nvSpPr>
          <p:cNvPr id="10" name="Text 7"/>
          <p:cNvSpPr txBox="1"/>
          <p:nvPr/>
        </p:nvSpPr>
        <p:spPr>
          <a:xfrm>
            <a:off x="132588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placement is only trusted at the context length it was measured at, and cached per model.</a:t>
            </a:r>
            <a:endParaRPr lang="en-US" sz="1300" dirty="0"/>
          </a:p>
        </p:txBody>
      </p:sp>
      <p:sp>
        <p:nvSpPr>
          <p:cNvPr id="11" name="Shape 8"/>
          <p:cNvSpPr/>
          <p:nvPr/>
        </p:nvSpPr>
        <p:spPr>
          <a:xfrm>
            <a:off x="4663440" y="1188720"/>
            <a:ext cx="4023360" cy="1554480"/>
          </a:xfrm>
          <a:prstGeom prst="rect">
            <a:avLst/>
          </a:prstGeom>
          <a:solidFill>
            <a:srgbClr val="F2F2F2"/>
          </a:solidFill>
          <a:ln w="12700">
            <a:solidFill>
              <a:srgbClr val="F2F2F2"/>
            </a:solidFill>
            <a:prstDash val="solid"/>
          </a:ln>
        </p:spPr>
      </p:sp>
      <p:sp>
        <p:nvSpPr>
          <p:cNvPr id="12" name="Text 9"/>
          <p:cNvSpPr txBox="1"/>
          <p:nvPr/>
        </p:nvSpPr>
        <p:spPr>
          <a:xfrm>
            <a:off x="489204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2</a:t>
            </a:r>
            <a:endParaRPr lang="en-US" sz="3600" dirty="0"/>
          </a:p>
        </p:txBody>
      </p:sp>
      <p:sp>
        <p:nvSpPr>
          <p:cNvPr id="13" name="Text 10"/>
          <p:cNvSpPr txBox="1"/>
          <p:nvPr/>
        </p:nvSpPr>
        <p:spPr>
          <a:xfrm>
            <a:off x="553212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Headroom-aware</a:t>
            </a:r>
            <a:endParaRPr lang="en-US" sz="1800" dirty="0"/>
          </a:p>
        </p:txBody>
      </p:sp>
      <p:sp>
        <p:nvSpPr>
          <p:cNvPr id="14" name="Text 11"/>
          <p:cNvSpPr txBox="1"/>
          <p:nvPr/>
        </p:nvSpPr>
        <p:spPr>
          <a:xfrm>
            <a:off x="553212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If two options are equally fast, pick the one that leaves spare memory.</a:t>
            </a:r>
            <a:endParaRPr lang="en-US" sz="1300" dirty="0"/>
          </a:p>
        </p:txBody>
      </p:sp>
      <p:sp>
        <p:nvSpPr>
          <p:cNvPr id="15" name="Shape 12"/>
          <p:cNvSpPr/>
          <p:nvPr/>
        </p:nvSpPr>
        <p:spPr>
          <a:xfrm>
            <a:off x="457200" y="2880360"/>
            <a:ext cx="4023360" cy="1554480"/>
          </a:xfrm>
          <a:prstGeom prst="rect">
            <a:avLst/>
          </a:prstGeom>
          <a:solidFill>
            <a:srgbClr val="F2F2F2"/>
          </a:solidFill>
          <a:ln w="12700">
            <a:solidFill>
              <a:srgbClr val="F2F2F2"/>
            </a:solidFill>
            <a:prstDash val="solid"/>
          </a:ln>
        </p:spPr>
      </p:sp>
      <p:sp>
        <p:nvSpPr>
          <p:cNvPr id="16" name="Text 13"/>
          <p:cNvSpPr txBox="1"/>
          <p:nvPr/>
        </p:nvSpPr>
        <p:spPr>
          <a:xfrm>
            <a:off x="68580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3</a:t>
            </a:r>
            <a:endParaRPr lang="en-US" sz="3600" dirty="0"/>
          </a:p>
        </p:txBody>
      </p:sp>
      <p:sp>
        <p:nvSpPr>
          <p:cNvPr id="17" name="Text 14"/>
          <p:cNvSpPr txBox="1"/>
          <p:nvPr/>
        </p:nvSpPr>
        <p:spPr>
          <a:xfrm>
            <a:off x="132588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Self-healing</a:t>
            </a:r>
            <a:endParaRPr lang="en-US" sz="1800" dirty="0"/>
          </a:p>
        </p:txBody>
      </p:sp>
      <p:sp>
        <p:nvSpPr>
          <p:cNvPr id="18" name="Text 15"/>
          <p:cNvSpPr txBox="1"/>
          <p:nvPr/>
        </p:nvSpPr>
        <p:spPr>
          <a:xfrm>
            <a:off x="132588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Each run checks speed first. If it dropped, fall back to Ollama's safe default.</a:t>
            </a:r>
            <a:endParaRPr lang="en-US" sz="1300" dirty="0"/>
          </a:p>
        </p:txBody>
      </p:sp>
      <p:sp>
        <p:nvSpPr>
          <p:cNvPr id="19" name="Shape 16"/>
          <p:cNvSpPr/>
          <p:nvPr/>
        </p:nvSpPr>
        <p:spPr>
          <a:xfrm>
            <a:off x="4663440" y="2880360"/>
            <a:ext cx="4023360" cy="1554480"/>
          </a:xfrm>
          <a:prstGeom prst="rect">
            <a:avLst/>
          </a:prstGeom>
          <a:solidFill>
            <a:srgbClr val="F2F2F2"/>
          </a:solidFill>
          <a:ln w="12700">
            <a:solidFill>
              <a:srgbClr val="F2F2F2"/>
            </a:solidFill>
            <a:prstDash val="solid"/>
          </a:ln>
        </p:spPr>
      </p:sp>
      <p:sp>
        <p:nvSpPr>
          <p:cNvPr id="20" name="Text 17"/>
          <p:cNvSpPr txBox="1"/>
          <p:nvPr/>
        </p:nvSpPr>
        <p:spPr>
          <a:xfrm>
            <a:off x="489204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4</a:t>
            </a:r>
            <a:endParaRPr lang="en-US" sz="3600" dirty="0"/>
          </a:p>
        </p:txBody>
      </p:sp>
      <p:sp>
        <p:nvSpPr>
          <p:cNvPr id="21" name="Text 18"/>
          <p:cNvSpPr txBox="1"/>
          <p:nvPr/>
        </p:nvSpPr>
        <p:spPr>
          <a:xfrm>
            <a:off x="553212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Scheduled</a:t>
            </a:r>
            <a:endParaRPr lang="en-US" sz="1800" dirty="0"/>
          </a:p>
        </p:txBody>
      </p:sp>
      <p:sp>
        <p:nvSpPr>
          <p:cNvPr id="22" name="Text 19"/>
          <p:cNvSpPr txBox="1"/>
          <p:nvPr/>
        </p:nvSpPr>
        <p:spPr>
          <a:xfrm>
            <a:off x="553212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One scheduler keeps the busy model loaded and lets urgent agents go first.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Test</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Measure honestly, even the bad news.</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Try the prototype in the real world and measure what happens. Learn what works and what does not.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Does it actually solve the problem?</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compared Ramer against Ollama's default on a real 8 GB RTX 5060, and checked results with git diff and pytest.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tested fairly</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17</a:t>
            </a:r>
            <a:endParaRPr lang="en-US" sz="1000" dirty="0"/>
          </a:p>
        </p:txBody>
      </p:sp>
      <p:sp>
        <p:nvSpPr>
          <p:cNvPr id="7" name="Shape 4"/>
          <p:cNvSpPr/>
          <p:nvPr/>
        </p:nvSpPr>
        <p:spPr>
          <a:xfrm>
            <a:off x="457200" y="1188720"/>
            <a:ext cx="1938528" cy="2514600"/>
          </a:xfrm>
          <a:prstGeom prst="rect">
            <a:avLst/>
          </a:prstGeom>
          <a:solidFill>
            <a:srgbClr val="FFFFFF"/>
          </a:solidFill>
          <a:ln w="19050">
            <a:solidFill>
              <a:srgbClr val="000000"/>
            </a:solidFill>
            <a:prstDash val="solid"/>
          </a:ln>
        </p:spPr>
      </p:sp>
      <p:sp>
        <p:nvSpPr>
          <p:cNvPr id="8" name="Text 5"/>
          <p:cNvSpPr txBox="1"/>
          <p:nvPr/>
        </p:nvSpPr>
        <p:spPr>
          <a:xfrm>
            <a:off x="640080"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a:t>
            </a:r>
            <a:endParaRPr lang="en-US" sz="4000" dirty="0"/>
          </a:p>
        </p:txBody>
      </p:sp>
      <p:sp>
        <p:nvSpPr>
          <p:cNvPr id="9" name="Text 6"/>
          <p:cNvSpPr txBox="1"/>
          <p:nvPr/>
        </p:nvSpPr>
        <p:spPr>
          <a:xfrm>
            <a:off x="640080"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Same machine</a:t>
            </a:r>
            <a:endParaRPr lang="en-US" sz="1600" dirty="0"/>
          </a:p>
        </p:txBody>
      </p:sp>
      <p:sp>
        <p:nvSpPr>
          <p:cNvPr id="10" name="Text 7"/>
          <p:cNvSpPr txBox="1"/>
          <p:nvPr/>
        </p:nvSpPr>
        <p:spPr>
          <a:xfrm>
            <a:off x="640080"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One real PC: RTX 5060 with 8 GB VRAM.</a:t>
            </a:r>
            <a:endParaRPr lang="en-US" sz="1200" dirty="0"/>
          </a:p>
        </p:txBody>
      </p:sp>
      <p:sp>
        <p:nvSpPr>
          <p:cNvPr id="11" name="Shape 8"/>
          <p:cNvSpPr/>
          <p:nvPr/>
        </p:nvSpPr>
        <p:spPr>
          <a:xfrm>
            <a:off x="2542032" y="1188720"/>
            <a:ext cx="1938528" cy="2514600"/>
          </a:xfrm>
          <a:prstGeom prst="rect">
            <a:avLst/>
          </a:prstGeom>
          <a:solidFill>
            <a:srgbClr val="FFFFFF"/>
          </a:solidFill>
          <a:ln w="19050">
            <a:solidFill>
              <a:srgbClr val="000000"/>
            </a:solidFill>
            <a:prstDash val="solid"/>
          </a:ln>
        </p:spPr>
      </p:sp>
      <p:sp>
        <p:nvSpPr>
          <p:cNvPr id="12" name="Text 9"/>
          <p:cNvSpPr txBox="1"/>
          <p:nvPr/>
        </p:nvSpPr>
        <p:spPr>
          <a:xfrm>
            <a:off x="2724912"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2</a:t>
            </a:r>
            <a:endParaRPr lang="en-US" sz="4000" dirty="0"/>
          </a:p>
        </p:txBody>
      </p:sp>
      <p:sp>
        <p:nvSpPr>
          <p:cNvPr id="13" name="Text 10"/>
          <p:cNvSpPr txBox="1"/>
          <p:nvPr/>
        </p:nvSpPr>
        <p:spPr>
          <a:xfrm>
            <a:off x="2724912"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Fair comparison</a:t>
            </a:r>
            <a:endParaRPr lang="en-US" sz="1600" dirty="0"/>
          </a:p>
        </p:txBody>
      </p:sp>
      <p:sp>
        <p:nvSpPr>
          <p:cNvPr id="14" name="Text 11"/>
          <p:cNvSpPr txBox="1"/>
          <p:nvPr/>
        </p:nvSpPr>
        <p:spPr>
          <a:xfrm>
            <a:off x="2724912"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Always against Ollama's own default placement.</a:t>
            </a:r>
            <a:endParaRPr lang="en-US" sz="1200" dirty="0"/>
          </a:p>
        </p:txBody>
      </p:sp>
      <p:sp>
        <p:nvSpPr>
          <p:cNvPr id="15" name="Shape 12"/>
          <p:cNvSpPr/>
          <p:nvPr/>
        </p:nvSpPr>
        <p:spPr>
          <a:xfrm>
            <a:off x="4626864" y="1188720"/>
            <a:ext cx="1938528" cy="2514600"/>
          </a:xfrm>
          <a:prstGeom prst="rect">
            <a:avLst/>
          </a:prstGeom>
          <a:solidFill>
            <a:srgbClr val="FFFFFF"/>
          </a:solidFill>
          <a:ln w="19050">
            <a:solidFill>
              <a:srgbClr val="000000"/>
            </a:solidFill>
            <a:prstDash val="solid"/>
          </a:ln>
        </p:spPr>
      </p:sp>
      <p:sp>
        <p:nvSpPr>
          <p:cNvPr id="16" name="Text 13"/>
          <p:cNvSpPr txBox="1"/>
          <p:nvPr/>
        </p:nvSpPr>
        <p:spPr>
          <a:xfrm>
            <a:off x="4809744"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a:t>
            </a:r>
            <a:endParaRPr lang="en-US" sz="4000" dirty="0"/>
          </a:p>
        </p:txBody>
      </p:sp>
      <p:sp>
        <p:nvSpPr>
          <p:cNvPr id="17" name="Text 14"/>
          <p:cNvSpPr txBox="1"/>
          <p:nvPr/>
        </p:nvSpPr>
        <p:spPr>
          <a:xfrm>
            <a:off x="4809744"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Checked outcomes</a:t>
            </a:r>
            <a:endParaRPr lang="en-US" sz="1600" dirty="0"/>
          </a:p>
        </p:txBody>
      </p:sp>
      <p:sp>
        <p:nvSpPr>
          <p:cNvPr id="18" name="Text 15"/>
          <p:cNvSpPr txBox="1"/>
          <p:nvPr/>
        </p:nvSpPr>
        <p:spPr>
          <a:xfrm>
            <a:off x="4809744"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Task results verified by git diff and pytest, not by the model.</a:t>
            </a:r>
            <a:endParaRPr lang="en-US" sz="1200" dirty="0"/>
          </a:p>
        </p:txBody>
      </p:sp>
      <p:sp>
        <p:nvSpPr>
          <p:cNvPr id="19" name="Shape 16"/>
          <p:cNvSpPr/>
          <p:nvPr/>
        </p:nvSpPr>
        <p:spPr>
          <a:xfrm>
            <a:off x="6711696" y="1188720"/>
            <a:ext cx="1938528" cy="2514600"/>
          </a:xfrm>
          <a:prstGeom prst="rect">
            <a:avLst/>
          </a:prstGeom>
          <a:solidFill>
            <a:srgbClr val="000000"/>
          </a:solidFill>
          <a:ln w="19050">
            <a:solidFill>
              <a:srgbClr val="000000"/>
            </a:solidFill>
            <a:prstDash val="solid"/>
          </a:ln>
        </p:spPr>
      </p:sp>
      <p:sp>
        <p:nvSpPr>
          <p:cNvPr id="20" name="Text 17"/>
          <p:cNvSpPr txBox="1"/>
          <p:nvPr/>
        </p:nvSpPr>
        <p:spPr>
          <a:xfrm>
            <a:off x="6894576" y="1371600"/>
            <a:ext cx="9144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a:t>
            </a:r>
            <a:endParaRPr lang="en-US" sz="4000" dirty="0"/>
          </a:p>
        </p:txBody>
      </p:sp>
      <p:sp>
        <p:nvSpPr>
          <p:cNvPr id="21" name="Text 18"/>
          <p:cNvSpPr txBox="1"/>
          <p:nvPr/>
        </p:nvSpPr>
        <p:spPr>
          <a:xfrm>
            <a:off x="6894576" y="2194560"/>
            <a:ext cx="16002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Bad news included</a:t>
            </a:r>
            <a:endParaRPr lang="en-US" sz="1600" dirty="0"/>
          </a:p>
        </p:txBody>
      </p:sp>
      <p:sp>
        <p:nvSpPr>
          <p:cNvPr id="22" name="Text 19"/>
          <p:cNvSpPr txBox="1"/>
          <p:nvPr/>
        </p:nvSpPr>
        <p:spPr>
          <a:xfrm>
            <a:off x="6894576" y="2743200"/>
            <a:ext cx="160020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Negative results are reported, not hidden.</a:t>
            </a:r>
            <a:endParaRPr lang="en-US" sz="1200" dirty="0"/>
          </a:p>
        </p:txBody>
      </p:sp>
      <p:sp>
        <p:nvSpPr>
          <p:cNvPr id="23" name="Shape 20"/>
          <p:cNvSpPr/>
          <p:nvPr/>
        </p:nvSpPr>
        <p:spPr>
          <a:xfrm>
            <a:off x="457200" y="3886200"/>
            <a:ext cx="8229600" cy="685800"/>
          </a:xfrm>
          <a:prstGeom prst="rect">
            <a:avLst/>
          </a:prstGeom>
          <a:solidFill>
            <a:srgbClr val="F2F2F2"/>
          </a:solidFill>
          <a:ln w="12700">
            <a:solidFill>
              <a:srgbClr val="F2F2F2"/>
            </a:solidFill>
            <a:prstDash val="solid"/>
          </a:ln>
        </p:spPr>
      </p:sp>
      <p:sp>
        <p:nvSpPr>
          <p:cNvPr id="24" name="Text 21"/>
          <p:cNvSpPr txBox="1"/>
          <p:nvPr/>
        </p:nvSpPr>
        <p:spPr>
          <a:xfrm>
            <a:off x="731520" y="3886200"/>
            <a:ext cx="7680960" cy="6858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Not a benchmark suite and not a general guarantee: real measurements on one real machine.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1: it makes models faster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18</a:t>
            </a:r>
            <a:endParaRPr lang="en-US" sz="1000" dirty="0"/>
          </a:p>
        </p:txBody>
      </p:sp>
      <p:sp>
        <p:nvSpPr>
          <p:cNvPr id="7" name="Shape 4"/>
          <p:cNvSpPr/>
          <p:nvPr/>
        </p:nvSpPr>
        <p:spPr>
          <a:xfrm>
            <a:off x="457200" y="1188720"/>
            <a:ext cx="2606040" cy="2697480"/>
          </a:xfrm>
          <a:prstGeom prst="rect">
            <a:avLst/>
          </a:prstGeom>
          <a:solidFill>
            <a:srgbClr val="FFFFFF"/>
          </a:solidFill>
          <a:ln w="19050">
            <a:solidFill>
              <a:srgbClr val="000000"/>
            </a:solidFill>
            <a:prstDash val="solid"/>
          </a:ln>
        </p:spPr>
      </p:sp>
      <p:sp>
        <p:nvSpPr>
          <p:cNvPr id="8" name="Text 5"/>
          <p:cNvSpPr txBox="1"/>
          <p:nvPr/>
        </p:nvSpPr>
        <p:spPr>
          <a:xfrm>
            <a:off x="68580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+61%</a:t>
            </a:r>
            <a:endParaRPr lang="en-US" sz="4600" dirty="0"/>
          </a:p>
        </p:txBody>
      </p:sp>
      <p:sp>
        <p:nvSpPr>
          <p:cNvPr id="9" name="Text 6"/>
          <p:cNvSpPr txBox="1"/>
          <p:nvPr/>
        </p:nvSpPr>
        <p:spPr>
          <a:xfrm>
            <a:off x="68580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Qwen2.5-14B</a:t>
            </a:r>
            <a:endParaRPr lang="en-US" sz="1600" dirty="0"/>
          </a:p>
        </p:txBody>
      </p:sp>
      <p:sp>
        <p:nvSpPr>
          <p:cNvPr id="10" name="Text 7"/>
          <p:cNvSpPr txBox="1"/>
          <p:nvPr/>
        </p:nvSpPr>
        <p:spPr>
          <a:xfrm>
            <a:off x="68580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12.4 → 19.6 tokens per second</a:t>
            </a:r>
            <a:endParaRPr lang="en-US" sz="1300" dirty="0"/>
          </a:p>
        </p:txBody>
      </p:sp>
      <p:sp>
        <p:nvSpPr>
          <p:cNvPr id="11" name="Shape 8"/>
          <p:cNvSpPr/>
          <p:nvPr/>
        </p:nvSpPr>
        <p:spPr>
          <a:xfrm>
            <a:off x="3246120" y="1188720"/>
            <a:ext cx="2606040" cy="2697480"/>
          </a:xfrm>
          <a:prstGeom prst="rect">
            <a:avLst/>
          </a:prstGeom>
          <a:solidFill>
            <a:srgbClr val="000000"/>
          </a:solidFill>
          <a:ln w="19050">
            <a:solidFill>
              <a:srgbClr val="000000"/>
            </a:solidFill>
            <a:prstDash val="solid"/>
          </a:ln>
        </p:spPr>
      </p:sp>
      <p:sp>
        <p:nvSpPr>
          <p:cNvPr id="12" name="Text 9"/>
          <p:cNvSpPr txBox="1"/>
          <p:nvPr/>
        </p:nvSpPr>
        <p:spPr>
          <a:xfrm>
            <a:off x="3474720" y="1371600"/>
            <a:ext cx="219456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+402%</a:t>
            </a:r>
            <a:endParaRPr lang="en-US" sz="4600" dirty="0"/>
          </a:p>
        </p:txBody>
      </p:sp>
      <p:sp>
        <p:nvSpPr>
          <p:cNvPr id="13" name="Text 10"/>
          <p:cNvSpPr txBox="1"/>
          <p:nvPr/>
        </p:nvSpPr>
        <p:spPr>
          <a:xfrm>
            <a:off x="3474720" y="2423160"/>
            <a:ext cx="219456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Qwen3.8-27B</a:t>
            </a:r>
            <a:endParaRPr lang="en-US" sz="1600" dirty="0"/>
          </a:p>
        </p:txBody>
      </p:sp>
      <p:sp>
        <p:nvSpPr>
          <p:cNvPr id="14" name="Text 11"/>
          <p:cNvSpPr txBox="1"/>
          <p:nvPr/>
        </p:nvSpPr>
        <p:spPr>
          <a:xfrm>
            <a:off x="3474720" y="3108960"/>
            <a:ext cx="2194560" cy="640080"/>
          </a:xfrm>
          <a:prstGeom prst="rect">
            <a:avLst/>
          </a:prstGeom>
          <a:noFill/>
          <a:ln/>
        </p:spPr>
        <p:txBody>
          <a:bodyPr wrap="square" lIns="0" tIns="0" rIns="0" bIns="0" rtlCol="0" anchor="t"/>
          <a:lstStyle/>
          <a:p>
            <a:pPr indent="0" marL="0">
              <a:buNone/>
            </a:pPr>
            <a:r>
              <a:rPr lang="en-US" sz="1300" dirty="0">
                <a:solidFill>
                  <a:srgbClr val="BFBFBF"/>
                </a:solidFill>
                <a:latin typeface="Arial" pitchFamily="34" charset="0"/>
                <a:ea typeface="Arial" pitchFamily="34" charset="-122"/>
                <a:cs typeface="Arial" pitchFamily="34" charset="-120"/>
              </a:rPr>
              <a:t>5.9 → 29.6 tokens per second</a:t>
            </a:r>
            <a:endParaRPr lang="en-US" sz="1300" dirty="0"/>
          </a:p>
        </p:txBody>
      </p:sp>
      <p:sp>
        <p:nvSpPr>
          <p:cNvPr id="15" name="Shape 12"/>
          <p:cNvSpPr/>
          <p:nvPr/>
        </p:nvSpPr>
        <p:spPr>
          <a:xfrm>
            <a:off x="6035040" y="1188720"/>
            <a:ext cx="2606040" cy="2697480"/>
          </a:xfrm>
          <a:prstGeom prst="rect">
            <a:avLst/>
          </a:prstGeom>
          <a:solidFill>
            <a:srgbClr val="FFFFFF"/>
          </a:solidFill>
          <a:ln w="19050">
            <a:solidFill>
              <a:srgbClr val="000000"/>
            </a:solidFill>
            <a:prstDash val="solid"/>
          </a:ln>
        </p:spPr>
      </p:sp>
      <p:sp>
        <p:nvSpPr>
          <p:cNvPr id="16" name="Text 13"/>
          <p:cNvSpPr txBox="1"/>
          <p:nvPr/>
        </p:nvSpPr>
        <p:spPr>
          <a:xfrm>
            <a:off x="626364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38%</a:t>
            </a:r>
            <a:endParaRPr lang="en-US" sz="4600" dirty="0"/>
          </a:p>
        </p:txBody>
      </p:sp>
      <p:sp>
        <p:nvSpPr>
          <p:cNvPr id="17" name="Text 14"/>
          <p:cNvSpPr txBox="1"/>
          <p:nvPr/>
        </p:nvSpPr>
        <p:spPr>
          <a:xfrm>
            <a:off x="626364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less time on a real coding task</a:t>
            </a:r>
            <a:endParaRPr lang="en-US" sz="1600" dirty="0"/>
          </a:p>
        </p:txBody>
      </p:sp>
      <p:sp>
        <p:nvSpPr>
          <p:cNvPr id="18" name="Text 15"/>
          <p:cNvSpPr txBox="1"/>
          <p:nvPr/>
        </p:nvSpPr>
        <p:spPr>
          <a:xfrm>
            <a:off x="626364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89.2 s → 55.4 s, same correct result</a:t>
            </a:r>
            <a:endParaRPr lang="en-US" sz="1300" dirty="0"/>
          </a:p>
        </p:txBody>
      </p:sp>
      <p:sp>
        <p:nvSpPr>
          <p:cNvPr id="19" name="Shape 16"/>
          <p:cNvSpPr/>
          <p:nvPr/>
        </p:nvSpPr>
        <p:spPr>
          <a:xfrm>
            <a:off x="457200" y="4023360"/>
            <a:ext cx="8229600" cy="548640"/>
          </a:xfrm>
          <a:prstGeom prst="rect">
            <a:avLst/>
          </a:prstGeom>
          <a:solidFill>
            <a:srgbClr val="F2F2F2"/>
          </a:solidFill>
          <a:ln w="12700">
            <a:solidFill>
              <a:srgbClr val="F2F2F2"/>
            </a:solidFill>
            <a:prstDash val="solid"/>
          </a:ln>
        </p:spPr>
      </p:sp>
      <p:sp>
        <p:nvSpPr>
          <p:cNvPr id="20" name="Text 17"/>
          <p:cNvSpPr txBox="1"/>
          <p:nvPr/>
        </p:nvSpPr>
        <p:spPr>
          <a:xfrm>
            <a:off x="731520" y="4023360"/>
            <a:ext cx="7680960" cy="54864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All compared with Ollama's default placement, on the same machine, with the result checked.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2: it shares the GPU</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19</a:t>
            </a:r>
            <a:endParaRPr lang="en-US" sz="1000" dirty="0"/>
          </a:p>
        </p:txBody>
      </p:sp>
      <p:graphicFrame>
        <p:nvGraphicFramePr>
          <p:cNvPr id="7"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1188720"/>
            <a:ext cx="2834640" cy="822960"/>
          </a:xfrm>
          <a:prstGeom prst="rect">
            <a:avLst/>
          </a:prstGeom>
          <a:noFill/>
          <a:ln/>
        </p:spPr>
        <p:txBody>
          <a:bodyPr wrap="square" lIns="0" tIns="0" rIns="0" bIns="0" rtlCol="0" anchor="ctr"/>
          <a:lstStyle/>
          <a:p>
            <a:pPr indent="0" marL="0">
              <a:buNone/>
            </a:pPr>
            <a:r>
              <a:rPr lang="en-US" sz="5200" b="1" dirty="0">
                <a:solidFill>
                  <a:srgbClr val="000000"/>
                </a:solidFill>
                <a:latin typeface="Arial" pitchFamily="34" charset="0"/>
                <a:ea typeface="Arial" pitchFamily="34" charset="-122"/>
                <a:cs typeface="Arial" pitchFamily="34" charset="-120"/>
              </a:rPr>
              <a:t>44%</a:t>
            </a:r>
            <a:endParaRPr lang="en-US" sz="5200" dirty="0"/>
          </a:p>
        </p:txBody>
      </p:sp>
      <p:sp>
        <p:nvSpPr>
          <p:cNvPr id="9" name="Text 5"/>
          <p:cNvSpPr txBox="1"/>
          <p:nvPr/>
        </p:nvSpPr>
        <p:spPr>
          <a:xfrm>
            <a:off x="5852160" y="2011680"/>
            <a:ext cx="2834640" cy="54864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less waiting with the Ramer scheduler</a:t>
            </a:r>
            <a:endParaRPr lang="en-US" sz="1500" dirty="0"/>
          </a:p>
        </p:txBody>
      </p:sp>
      <p:sp>
        <p:nvSpPr>
          <p:cNvPr id="10" name="Text 6"/>
          <p:cNvSpPr txBox="1"/>
          <p:nvPr/>
        </p:nvSpPr>
        <p:spPr>
          <a:xfrm>
            <a:off x="5852160" y="2743200"/>
            <a:ext cx="2834640" cy="64008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6.6 → 3.6</a:t>
            </a:r>
            <a:endParaRPr lang="en-US" sz="3600" dirty="0"/>
          </a:p>
        </p:txBody>
      </p:sp>
      <p:sp>
        <p:nvSpPr>
          <p:cNvPr id="11" name="Text 7"/>
          <p:cNvSpPr txBox="1"/>
          <p:nvPr/>
        </p:nvSpPr>
        <p:spPr>
          <a:xfrm>
            <a:off x="5852160" y="3429000"/>
            <a:ext cx="2834640" cy="100584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model swaps per run. Keeping the busy model loaded (“sticky”) is what stops the thrashing.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3: where it does not help</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20</a:t>
            </a:r>
            <a:endParaRPr lang="en-US" sz="1000" dirty="0"/>
          </a:p>
        </p:txBody>
      </p:sp>
      <p:sp>
        <p:nvSpPr>
          <p:cNvPr id="7" name="Shape 4"/>
          <p:cNvSpPr/>
          <p:nvPr/>
        </p:nvSpPr>
        <p:spPr>
          <a:xfrm>
            <a:off x="457200" y="1188720"/>
            <a:ext cx="4023360" cy="2788920"/>
          </a:xfrm>
          <a:prstGeom prst="rect">
            <a:avLst/>
          </a:prstGeom>
          <a:solidFill>
            <a:srgbClr val="000000"/>
          </a:solidFill>
          <a:ln w="19050">
            <a:solidFill>
              <a:srgbClr val="000000"/>
            </a:solidFill>
            <a:prstDash val="solid"/>
          </a:ln>
        </p:spPr>
      </p:sp>
      <p:sp>
        <p:nvSpPr>
          <p:cNvPr id="8" name="Text 5"/>
          <p:cNvSpPr txBox="1"/>
          <p:nvPr/>
        </p:nvSpPr>
        <p:spPr>
          <a:xfrm>
            <a:off x="73152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Where it helps</a:t>
            </a:r>
            <a:endParaRPr lang="en-US" sz="2000" dirty="0"/>
          </a:p>
        </p:txBody>
      </p:sp>
      <p:sp>
        <p:nvSpPr>
          <p:cNvPr id="9" name="Text 6"/>
          <p:cNvSpPr txBox="1"/>
          <p:nvPr/>
        </p:nvSpPr>
        <p:spPr>
          <a:xfrm>
            <a:off x="73152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Decode-heavy work such as coding and long answers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Several agents sharing one GPU</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Big models squeezed onto small cards</a:t>
            </a:r>
            <a:endParaRPr lang="en-US" sz="1400" dirty="0"/>
          </a:p>
        </p:txBody>
      </p:sp>
      <p:sp>
        <p:nvSpPr>
          <p:cNvPr id="10" name="Shape 7"/>
          <p:cNvSpPr/>
          <p:nvPr/>
        </p:nvSpPr>
        <p:spPr>
          <a:xfrm>
            <a:off x="4663440" y="1188720"/>
            <a:ext cx="4023360" cy="2788920"/>
          </a:xfrm>
          <a:prstGeom prst="rect">
            <a:avLst/>
          </a:prstGeom>
          <a:solidFill>
            <a:srgbClr val="FFFFFF"/>
          </a:solidFill>
          <a:ln w="19050">
            <a:solidFill>
              <a:srgbClr val="000000"/>
            </a:solidFill>
            <a:prstDash val="solid"/>
          </a:ln>
        </p:spPr>
      </p:sp>
      <p:sp>
        <p:nvSpPr>
          <p:cNvPr id="11" name="Text 8"/>
          <p:cNvSpPr txBox="1"/>
          <p:nvPr/>
        </p:nvSpPr>
        <p:spPr>
          <a:xfrm>
            <a:off x="493776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Where it doesn't</a:t>
            </a:r>
            <a:endParaRPr lang="en-US" sz="2000" dirty="0"/>
          </a:p>
        </p:txBody>
      </p:sp>
      <p:sp>
        <p:nvSpPr>
          <p:cNvPr id="12" name="Text 9"/>
          <p:cNvSpPr txBox="1"/>
          <p:nvPr/>
        </p:nvSpPr>
        <p:spPr>
          <a:xfrm>
            <a:off x="493776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Research tasks that wait on the web: 19.8 s vs 19.9 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 model too weak for the job: the 32B-Q2 model failed with or without Ramer</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Apple Silicon Macs: no separate VRAM to optimize</a:t>
            </a:r>
            <a:endParaRPr lang="en-US" sz="1400" dirty="0"/>
          </a:p>
        </p:txBody>
      </p:sp>
      <p:sp>
        <p:nvSpPr>
          <p:cNvPr id="13" name="Shape 10"/>
          <p:cNvSpPr/>
          <p:nvPr/>
        </p:nvSpPr>
        <p:spPr>
          <a:xfrm>
            <a:off x="457200" y="4114800"/>
            <a:ext cx="8229600" cy="457200"/>
          </a:xfrm>
          <a:prstGeom prst="rect">
            <a:avLst/>
          </a:prstGeom>
          <a:solidFill>
            <a:srgbClr val="000000"/>
          </a:solidFill>
          <a:ln w="12700">
            <a:solidFill>
              <a:srgbClr val="000000"/>
            </a:solidFill>
            <a:prstDash val="solid"/>
          </a:ln>
        </p:spPr>
      </p:sp>
      <p:sp>
        <p:nvSpPr>
          <p:cNvPr id="14" name="Text 11"/>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honest thesis: the benefit grows with how much of the work is local decoding.</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Back to the start: iterate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LOOP</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21</a:t>
            </a:r>
            <a:endParaRPr lang="en-US" sz="1000" dirty="0"/>
          </a:p>
        </p:txBody>
      </p:sp>
      <p:sp>
        <p:nvSpPr>
          <p:cNvPr id="7" name="Text 4"/>
          <p:cNvSpPr txBox="1"/>
          <p:nvPr/>
        </p:nvSpPr>
        <p:spPr>
          <a:xfrm>
            <a:off x="457200" y="123444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1005840" y="123444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Empathize</a:t>
            </a:r>
            <a:endParaRPr lang="en-US" sz="2000" dirty="0"/>
          </a:p>
        </p:txBody>
      </p:sp>
      <p:sp>
        <p:nvSpPr>
          <p:cNvPr id="9" name="Text 6"/>
          <p:cNvSpPr txBox="1"/>
          <p:nvPr/>
        </p:nvSpPr>
        <p:spPr>
          <a:xfrm>
            <a:off x="457200" y="178308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02</a:t>
            </a:r>
            <a:endParaRPr lang="en-US" sz="1400" dirty="0"/>
          </a:p>
        </p:txBody>
      </p:sp>
      <p:sp>
        <p:nvSpPr>
          <p:cNvPr id="10" name="Text 7"/>
          <p:cNvSpPr txBox="1"/>
          <p:nvPr/>
        </p:nvSpPr>
        <p:spPr>
          <a:xfrm>
            <a:off x="1005840" y="178308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Define</a:t>
            </a:r>
            <a:endParaRPr lang="en-US" sz="2000" dirty="0"/>
          </a:p>
        </p:txBody>
      </p:sp>
      <p:sp>
        <p:nvSpPr>
          <p:cNvPr id="11" name="Text 8"/>
          <p:cNvSpPr txBox="1"/>
          <p:nvPr/>
        </p:nvSpPr>
        <p:spPr>
          <a:xfrm>
            <a:off x="457200" y="233172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03</a:t>
            </a:r>
            <a:endParaRPr lang="en-US" sz="1400" dirty="0"/>
          </a:p>
        </p:txBody>
      </p:sp>
      <p:sp>
        <p:nvSpPr>
          <p:cNvPr id="12" name="Text 9"/>
          <p:cNvSpPr txBox="1"/>
          <p:nvPr/>
        </p:nvSpPr>
        <p:spPr>
          <a:xfrm>
            <a:off x="1005840" y="233172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Ideate</a:t>
            </a:r>
            <a:endParaRPr lang="en-US" sz="2000" dirty="0"/>
          </a:p>
        </p:txBody>
      </p:sp>
      <p:sp>
        <p:nvSpPr>
          <p:cNvPr id="13" name="Text 10"/>
          <p:cNvSpPr txBox="1"/>
          <p:nvPr/>
        </p:nvSpPr>
        <p:spPr>
          <a:xfrm>
            <a:off x="457200" y="288036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04</a:t>
            </a:r>
            <a:endParaRPr lang="en-US" sz="1400" dirty="0"/>
          </a:p>
        </p:txBody>
      </p:sp>
      <p:sp>
        <p:nvSpPr>
          <p:cNvPr id="14" name="Text 11"/>
          <p:cNvSpPr txBox="1"/>
          <p:nvPr/>
        </p:nvSpPr>
        <p:spPr>
          <a:xfrm>
            <a:off x="1005840" y="288036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Prototype</a:t>
            </a:r>
            <a:endParaRPr lang="en-US" sz="2000" dirty="0"/>
          </a:p>
        </p:txBody>
      </p:sp>
      <p:sp>
        <p:nvSpPr>
          <p:cNvPr id="15" name="Text 12"/>
          <p:cNvSpPr txBox="1"/>
          <p:nvPr/>
        </p:nvSpPr>
        <p:spPr>
          <a:xfrm>
            <a:off x="457200" y="342900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05</a:t>
            </a:r>
            <a:endParaRPr lang="en-US" sz="1400" dirty="0"/>
          </a:p>
        </p:txBody>
      </p:sp>
      <p:sp>
        <p:nvSpPr>
          <p:cNvPr id="16" name="Text 13"/>
          <p:cNvSpPr txBox="1"/>
          <p:nvPr/>
        </p:nvSpPr>
        <p:spPr>
          <a:xfrm>
            <a:off x="1005840" y="342900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Test</a:t>
            </a:r>
            <a:endParaRPr lang="en-US" sz="2000" dirty="0"/>
          </a:p>
        </p:txBody>
      </p:sp>
      <p:sp>
        <p:nvSpPr>
          <p:cNvPr id="17" name="Text 14"/>
          <p:cNvSpPr txBox="1"/>
          <p:nvPr/>
        </p:nvSpPr>
        <p:spPr>
          <a:xfrm>
            <a:off x="1005840" y="4069080"/>
            <a:ext cx="2743200" cy="320040"/>
          </a:xfrm>
          <a:prstGeom prst="rect">
            <a:avLst/>
          </a:prstGeom>
          <a:noFill/>
          <a:ln/>
        </p:spPr>
        <p:txBody>
          <a:bodyPr wrap="square" lIns="0" tIns="0" rIns="0" bIns="0" rtlCol="0" anchor="ctr"/>
          <a:lstStyle/>
          <a:p>
            <a:pPr indent="0" marL="0">
              <a:buNone/>
            </a:pPr>
            <a:r>
              <a:rPr lang="en-US" sz="1400" i="1" dirty="0">
                <a:solidFill>
                  <a:srgbClr val="595959"/>
                </a:solidFill>
                <a:latin typeface="Arial" pitchFamily="34" charset="0"/>
                <a:ea typeface="Arial" pitchFamily="34" charset="-122"/>
                <a:cs typeface="Arial" pitchFamily="34" charset="-120"/>
              </a:rPr>
              <a:t>…and back to 01</a:t>
            </a:r>
            <a:endParaRPr lang="en-US" sz="1400" dirty="0"/>
          </a:p>
        </p:txBody>
      </p:sp>
      <p:sp>
        <p:nvSpPr>
          <p:cNvPr id="18" name="Text 15"/>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The build is done. The next step is Empathize again, this time face to face.</a:t>
            </a:r>
            <a:endParaRPr lang="en-US" sz="1700" dirty="0"/>
          </a:p>
        </p:txBody>
      </p:sp>
      <p:sp>
        <p:nvSpPr>
          <p:cNvPr id="19" name="Text 16"/>
          <p:cNvSpPr txBox="1"/>
          <p:nvPr/>
        </p:nvSpPr>
        <p:spPr>
          <a:xfrm>
            <a:off x="4480560" y="2286000"/>
            <a:ext cx="4206240" cy="2103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Interview real users of local AI</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First question: “What hardware are you running?”</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Ask them to try Ramer and tell us the truth</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Keep every claim as big as the evidence, no bigger</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371600"/>
            <a:ext cx="8046720" cy="822960"/>
          </a:xfrm>
          <a:prstGeom prst="rect">
            <a:avLst/>
          </a:prstGeom>
          <a:noFill/>
          <a:ln/>
        </p:spPr>
        <p:txBody>
          <a:bodyPr wrap="square" lIns="0" tIns="0" rIns="0" bIns="0" rtlCol="0" anchor="b"/>
          <a:lstStyle/>
          <a:p>
            <a:pPr indent="0" marL="0">
              <a:buNone/>
            </a:pPr>
            <a:r>
              <a:rPr lang="en-US" sz="4400" b="1" dirty="0">
                <a:solidFill>
                  <a:srgbClr val="FFFFFF"/>
                </a:solidFill>
                <a:latin typeface="Arial" pitchFamily="34" charset="0"/>
                <a:ea typeface="Arial" pitchFamily="34" charset="-122"/>
                <a:cs typeface="Arial" pitchFamily="34" charset="-120"/>
              </a:rPr>
              <a:t>Faster where it matters.</a:t>
            </a:r>
            <a:endParaRPr lang="en-US" sz="4400" dirty="0"/>
          </a:p>
        </p:txBody>
      </p:sp>
      <p:sp>
        <p:nvSpPr>
          <p:cNvPr id="4" name="Text 1"/>
          <p:cNvSpPr txBox="1"/>
          <p:nvPr/>
        </p:nvSpPr>
        <p:spPr>
          <a:xfrm>
            <a:off x="548640" y="2240280"/>
            <a:ext cx="8046720" cy="731520"/>
          </a:xfrm>
          <a:prstGeom prst="rect">
            <a:avLst/>
          </a:prstGeom>
          <a:noFill/>
          <a:ln/>
        </p:spPr>
        <p:txBody>
          <a:bodyPr wrap="square" lIns="0" tIns="0" rIns="0" bIns="0" rtlCol="0" anchor="t"/>
          <a:lstStyle/>
          <a:p>
            <a:pPr indent="0" marL="0">
              <a:buNone/>
            </a:pPr>
            <a:r>
              <a:rPr lang="en-US" sz="4400" b="1" dirty="0">
                <a:solidFill>
                  <a:srgbClr val="8C8C8C"/>
                </a:solidFill>
                <a:latin typeface="Arial" pitchFamily="34" charset="0"/>
                <a:ea typeface="Arial" pitchFamily="34" charset="-122"/>
                <a:cs typeface="Arial" pitchFamily="34" charset="-120"/>
              </a:rPr>
              <a:t>Honest where it doesn't.</a:t>
            </a:r>
            <a:endParaRPr lang="en-US" sz="4400" dirty="0"/>
          </a:p>
        </p:txBody>
      </p:sp>
      <p:sp>
        <p:nvSpPr>
          <p:cNvPr id="5" name="Text 2"/>
          <p:cNvSpPr txBox="1"/>
          <p:nvPr/>
        </p:nvSpPr>
        <p:spPr>
          <a:xfrm>
            <a:off x="548640" y="4023360"/>
            <a:ext cx="365760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Thank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Ramer: A Design Thinking Story</dc:title>
  <dc:subject>PptxGenJS Presentation</dc:subject>
  <dc:creator>Ramer</dc:creator>
  <cp:lastModifiedBy>Ramer</cp:lastModifiedBy>
  <cp:revision>1</cp:revision>
  <dcterms:created xsi:type="dcterms:W3CDTF">2026-10-06T08:21:39Z</dcterms:created>
  <dcterms:modified xsi:type="dcterms:W3CDTF">2026-10-06T08:21:39Z</dcterms:modified>
</cp:coreProperties>
</file>