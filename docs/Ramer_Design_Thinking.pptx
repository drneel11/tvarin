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5880d3a-7c33-a6ef-f513-1bc8676d9e13}">
          <p14:sldIdLst>
            <p14:sldId id="256"/>
            <p14:sldId id="257"/>
          </p14:sldIdLst>
        </p14:section>
        <p14:section name="Empathize" id="{8b6126e1-3868-9961-5809-b563fb3b6bfa}">
          <p14:sldIdLst>
            <p14:sldId id="258"/>
            <p14:sldId id="259"/>
            <p14:sldId id="260"/>
          </p14:sldIdLst>
        </p14:section>
        <p14:section name="Define" id="{e151c372-7b46-5bfc-0f45-eebbb3068e05}">
          <p14:sldIdLst>
            <p14:sldId id="261"/>
            <p14:sldId id="262"/>
          </p14:sldIdLst>
        </p14:section>
        <p14:section name="Ideate" id="{b10fb467-25db-c010-f0e0-18ff1dcd0f37}">
          <p14:sldIdLst>
            <p14:sldId id="263"/>
            <p14:sldId id="264"/>
          </p14:sldIdLst>
        </p14:section>
        <p14:section name="Prototype" id="{ef026f65-3533-4c27-aa71-01cf46caccbe}">
          <p14:sldIdLst>
            <p14:sldId id="265"/>
            <p14:sldId id="266"/>
          </p14:sldIdLst>
        </p14:section>
        <p14:section name="Test" id="{7205388d-8762-5f39-c1b9-cf82371a88a7}">
          <p14:sldIdLst>
            <p14:sldId id="267"/>
            <p14:sldId id="268"/>
            <p14:sldId id="269"/>
            <p14:sldId id="270"/>
          </p14:sldIdLst>
        </p14:section>
        <p14:section name="Next" id="{00c8c2da-608b-bf74-95fd-62c0de08ddc0}">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00000"/>
                </a:solidFill>
                <a:latin typeface="+mn-lt"/>
              </a:defRPr>
            </a:pPr>
            <a:r>
              <a:rPr sz="1200" b="0" i="0" u="none" strike="noStrike">
                <a:solidFill>
                  <a:srgbClr val="000000"/>
                </a:solidFill>
                <a:latin typeface="+mn-lt"/>
              </a:rPr>
              <a:t>Median time to finish all 4 agents (seconds)</a:t>
            </a:r>
          </a:p>
        </c:rich>
      </c:tx>
      <c:layout/>
      <c:overlay val="0"/>
    </c:title>
    <c:autoTitleDeleted val="0"/>
    <c:plotArea>
      <c:layout/>
      <c:barChart>
        <c:barDir val="bar"/>
        <c:grouping val="clustered"/>
        <c:varyColors val="0"/>
        <c:ser>
          <c:idx val="0"/>
          <c:order val="0"/>
          <c:tx>
            <c:strRef>
              <c:f>Sheet1!$B$1</c:f>
              <c:strCache>
                <c:ptCount val="1"/>
                <c:pt idx="0">
                  <c:v>Median wall time (s)</c:v>
                </c:pt>
              </c:strCache>
            </c:strRef>
          </c:tx>
          <c:spPr>
            <a:solidFill>
              <a:srgbClr val="8C8C8C"/>
            </a:solidFill>
            <a:effectLst/>
          </c:spPr>
          <c:invertIfNegative val="0"/>
          <c:dLbls>
            <c:numFmt formatCode="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dPt>
            <c:idx val="0"/>
            <c:invertIfNegative val="0"/>
            <c:bubble3D val="0"/>
            <c:spPr>
              <a:solidFill>
                <a:srgbClr val="8C8C8C"/>
              </a:solidFill>
              <a:effectLst/>
            </c:spPr>
          </c:dPt>
          <c:dPt>
            <c:idx val="1"/>
            <c:invertIfNegative val="0"/>
            <c:bubble3D val="0"/>
            <c:spPr>
              <a:solidFill>
                <a:srgbClr val="8C8C8C"/>
              </a:solidFill>
              <a:effectLst/>
            </c:spPr>
          </c:dPt>
          <c:dPt>
            <c:idx val="2"/>
            <c:invertIfNegative val="0"/>
            <c:bubble3D val="0"/>
            <c:spPr>
              <a:solidFill>
                <a:srgbClr val="8C8C8C"/>
              </a:solidFill>
              <a:effectLst/>
            </c:spPr>
          </c:dPt>
          <c:dPt>
            <c:idx val="3"/>
            <c:invertIfNegative val="0"/>
            <c:bubble3D val="0"/>
            <c:spPr>
              <a:solidFill>
                <a:srgbClr val="000000"/>
              </a:solidFill>
              <a:effectLst/>
            </c:spPr>
          </c:dPt>
          <c:cat>
            <c:multiLvlStrRef>
              <c:f>Sheet1!$A$2:$A$5</c:f>
              <c:multiLvlStrCache>
                <c:ptCount val="4"/>
                <c:lvl>
                  <c:pt idx="0">
                    <c:v>No coordination</c:v>
                  </c:pt>
                  <c:pt idx="1">
                    <c:v>Priority only</c:v>
                  </c:pt>
                  <c:pt idx="2">
                    <c:v>Sticky only</c:v>
                  </c:pt>
                  <c:pt idx="3">
                    <c:v>Sticky + priority</c:v>
                  </c:pt>
                </c:lvl>
              </c:multiLvlStrCache>
            </c:multiLvlStrRef>
          </c:cat>
          <c:val>
            <c:numRef>
              <c:f>Sheet1!$B$2:$B$5</c:f>
              <c:numCache>
                <c:formatCode>General</c:formatCode>
                <c:ptCount val="4"/>
                <c:pt idx="0">
                  <c:v>210.6</c:v>
                </c:pt>
                <c:pt idx="1">
                  <c:v>195.2</c:v>
                </c:pt>
                <c:pt idx="2">
                  <c:v>137.7</c:v>
                </c:pt>
                <c:pt idx="3">
                  <c:v>117.6</c:v>
                </c:pt>
              </c:numCache>
            </c:numRef>
          </c:val>
        </c:ser>
        <c:dLbls>
          <c:numFmt formatCode="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25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Ramer is a small tool that sits between your local AI agent and Ollama and makes your GPU work harder. This deck tells the story of how it was built using the five design thinking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thinking is a human-centered way to solve problems. Empathize with users, define the problem, ideate solutions, build a prototype, then test it. The results feed back into the next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Empathize means stepping into the user's shoes. We did not start from a solution; we started from what people running local AI were actually complaining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quotes from forum threads and Reddit. People run out of memory, and agent setups feel slow even when Ollama alone seems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persona already runs local AI on a mid-range NVIDIA card and is bothered that it feels slow. Mac users were ruled out early because unified memory has no separate VRAM to optimize.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Define we compress our research into one sharp problem statement, usually written as a How Might We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concrete pains came out of the research: the GPU is under-used for one model, and multiple agents make it thrash. The How Might We statement keeps the user's workflow unchanged as a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Ideate is about quantity first, then selection. We explored several big ideas and dropped most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ideas were dropped for honest reasons: too expensive, didn't work, or already solved. The two survivors directly attack the two pains from the Define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Prototype means making the idea tangible. Ramer was built as a working tool, not a mock-up, so it could be tested with real third-party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change for the user is pointing their agent's base URL at Ramer instead of Ollama. Underneath, Ramer chooses the layer split and schedules agents, following four design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means checking the prototype against real use. Every claim here was measured on one real 8 GB RTX 5060 machine, with outcomes checked by tests and diffs, not by the model's own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Compared with Ollama's default placement on the same machine. The coding task ran through a real third-party agent, pi, and the result was verified with git diff and pytest.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agents launched at once, five trials per setup. The ablation showed sticky residency does the heavy lifting; priority helps the urgent agents finish first. 210.6 to 117.6 seconds is about 44 percent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thesis: Ramer's benefit is proportional to how much of the work is local decoding. It does not make a weak model smart, and it can't help when the agent is waiting on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thinking never really ends. The technical validation is closed; the next input the project needs is real customer interviews, which restarts the cycle at Empathize.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Ramer helps when local decoding is the bottleneck, and we say clearly when it doesn't.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188720"/>
            <a:ext cx="8046720" cy="1188720"/>
          </a:xfrm>
          <a:prstGeom prst="rect">
            <a:avLst/>
          </a:prstGeom>
          <a:noFill/>
          <a:ln/>
        </p:spPr>
        <p:txBody>
          <a:bodyPr wrap="square" rtlCol="0"/>
          <a:lstStyle>
            <a:lvl1pPr algn="l" indent="0" marL="0">
              <a:buNone/>
              <a:defRPr lang="en-US" sz="6600" b="1" dirty="0">
                <a:solidFill>
                  <a:schemeClr val="bg1"/>
                </a:solidFill>
              </a:defRPr>
            </a:lvl1pPr>
          </a:lstStyle>
          <a:p>
            <a:pPr algn="l" indent="0" marL="0">
              <a:buNone/>
            </a:pPr>
            <a:endParaRPr lang="en-US" sz="6600" dirty="0"/>
          </a:p>
        </p:txBody>
      </p:sp>
      <p:sp>
        <p:nvSpPr>
          <p:cNvPr id="3" name="Text 0"/>
          <p:cNvSpPr/>
          <p:nvPr>
            <p:ph idx="101" type="body" hasCustomPrompt="1"/>
          </p:nvPr>
        </p:nvSpPr>
        <p:spPr>
          <a:xfrm>
            <a:off x="548640" y="2514600"/>
            <a:ext cx="8046720" cy="731520"/>
          </a:xfrm>
          <a:prstGeom prst="rect">
            <a:avLst/>
          </a:prstGeom>
          <a:noFill/>
          <a:ln/>
        </p:spPr>
        <p:txBody>
          <a:bodyPr wrap="square" rtlCol="0"/>
          <a:lstStyle>
            <a:lvl1pPr algn="l" indent="0" marL="0">
              <a:buNone/>
              <a:defRPr lang="en-US" sz="2200" dirty="0">
                <a:solidFill>
                  <a:schemeClr val="bg1"/>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822960"/>
            <a:ext cx="2926080" cy="2011680"/>
          </a:xfrm>
          <a:prstGeom prst="rect">
            <a:avLst/>
          </a:prstGeom>
          <a:noFill/>
          <a:ln/>
        </p:spPr>
        <p:txBody>
          <a:bodyPr wrap="square" rtlCol="0"/>
          <a:lstStyle>
            <a:lvl1pPr algn="l" indent="0" marL="0">
              <a:buNone/>
              <a:defRPr lang="en-US" sz="14000" b="1" dirty="0">
                <a:solidFill>
                  <a:schemeClr val="bg1"/>
                </a:solidFill>
              </a:defRPr>
            </a:lvl1pPr>
          </a:lstStyle>
          <a:p>
            <a:pPr algn="l" indent="0" marL="0">
              <a:buNone/>
            </a:pPr>
            <a:endParaRPr lang="en-US" sz="14000" dirty="0"/>
          </a:p>
        </p:txBody>
      </p:sp>
      <p:sp>
        <p:nvSpPr>
          <p:cNvPr id="3" name="Text 0"/>
          <p:cNvSpPr/>
          <p:nvPr>
            <p:ph idx="101" type="title" hasCustomPrompt="1"/>
          </p:nvPr>
        </p:nvSpPr>
        <p:spPr>
          <a:xfrm>
            <a:off x="548640" y="2834640"/>
            <a:ext cx="5029200" cy="73152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548640" y="3611880"/>
            <a:ext cx="5120640" cy="1005840"/>
          </a:xfrm>
          <a:prstGeom prst="rect">
            <a:avLst/>
          </a:prstGeom>
          <a:noFill/>
          <a:ln/>
        </p:spPr>
        <p:txBody>
          <a:bodyPr wrap="square" rtlCol="0"/>
          <a:lstStyle>
            <a:lvl1pPr algn="l" indent="0" marL="0">
              <a:buNone/>
              <a:defRPr lang="en-US" sz="1600" dirty="0">
                <a:solidFill>
                  <a:schemeClr val="bg1"/>
                </a:solidFill>
              </a:defRPr>
            </a:lvl1pPr>
          </a:lstStyle>
          <a:p>
            <a:pPr algn="l" indent="0" marL="0">
              <a:buNone/>
            </a:pPr>
            <a:endParaRPr lang="en-US" sz="16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6766560"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ph idx="101" type="body" hasCustomPrompt="1"/>
          </p:nvPr>
        </p:nvSpPr>
        <p:spPr>
          <a:xfrm>
            <a:off x="7223760" y="411480"/>
            <a:ext cx="1463040" cy="365760"/>
          </a:xfrm>
          <a:prstGeom prst="rect">
            <a:avLst/>
          </a:prstGeom>
          <a:noFill/>
          <a:ln/>
        </p:spPr>
        <p:txBody>
          <a:bodyPr wrap="square" rtlCol="0"/>
          <a:lstStyle>
            <a:lvl1pPr algn="r" indent="0" marL="0">
              <a:buNone/>
              <a:defRPr lang="en-US" sz="1100" b="1" dirty="0">
                <a:solidFill>
                  <a:schemeClr val="accent3"/>
                </a:solidFill>
              </a:defRPr>
            </a:lvl1pPr>
          </a:lstStyle>
          <a:p>
            <a:pPr algn="r" indent="0" marL="0">
              <a:buNone/>
            </a:pPr>
            <a:endParaRPr lang="en-US" sz="1100" dirty="0"/>
          </a:p>
        </p:txBody>
      </p:sp>
      <p:sp>
        <p:nvSpPr>
          <p:cNvPr id="4" name="Text 0"/>
          <p:cNvSpPr/>
          <p:nvPr/>
        </p:nvSpPr>
        <p:spPr>
          <a:xfrm>
            <a:off x="457200" y="4709160"/>
            <a:ext cx="3657600" cy="274320"/>
          </a:xfrm>
          <a:prstGeom prst="rect">
            <a:avLst/>
          </a:prstGeom>
          <a:noFill/>
          <a:ln/>
        </p:spPr>
        <p:txBody>
          <a:bodyPr wrap="square" lIns="0" tIns="0" rIns="0" bIns="0" rtlCol="0" anchor="ctr"/>
          <a:lstStyle/>
          <a:p>
            <a:pPr indent="0" marL="0">
              <a:buNone/>
            </a:pPr>
            <a:r>
              <a:rPr lang="en-US" sz="900" spc="200" kern="0" dirty="0">
                <a:solidFill>
                  <a:srgbClr val="8C8C8C"/>
                </a:solidFill>
              </a:rPr>
              <a:t>RAMER  ·  DESIGN THINKING</a:t>
            </a:r>
            <a:endParaRPr lang="en-US" sz="9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4.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4.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4.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4.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4.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188720"/>
            <a:ext cx="8046720" cy="1188720"/>
          </a:xfrm>
          <a:prstGeom prst="rect">
            <a:avLst/>
          </a:prstGeom>
          <a:noFill/>
          <a:ln/>
        </p:spPr>
        <p:txBody>
          <a:bodyPr wrap="square" lIns="0" tIns="0" rIns="0" bIns="0" rtlCol="0" anchor="b"/>
          <a:lstStyle/>
          <a:p>
            <a:pPr algn="l" indent="0" marL="0">
              <a:buNone/>
            </a:pPr>
            <a:r>
              <a:rPr lang="en-US" sz="6600" b="1" dirty="0">
                <a:solidFill>
                  <a:schemeClr val="bg1"/>
                </a:solidFill>
              </a:rPr>
              <a:t>RAMER</a:t>
            </a:r>
            <a:endParaRPr lang="en-US" sz="6600" dirty="0"/>
          </a:p>
        </p:txBody>
      </p:sp>
      <p:sp>
        <p:nvSpPr>
          <p:cNvPr id="3" name="Text 0"/>
          <p:cNvSpPr/>
          <p:nvPr>
            <p:ph idx="101" type="body" hasCustomPrompt="1"/>
          </p:nvPr>
        </p:nvSpPr>
        <p:spPr>
          <a:xfrm>
            <a:off x="548640" y="2514600"/>
            <a:ext cx="8046720" cy="731520"/>
          </a:xfrm>
          <a:prstGeom prst="rect">
            <a:avLst/>
          </a:prstGeom>
          <a:noFill/>
          <a:ln/>
        </p:spPr>
        <p:txBody>
          <a:bodyPr wrap="square" lIns="0" tIns="0" rIns="0" bIns="0" rtlCol="0" anchor="t"/>
          <a:lstStyle/>
          <a:p>
            <a:pPr algn="l" indent="0" marL="0">
              <a:buNone/>
            </a:pPr>
            <a:r>
              <a:rPr lang="en-US" sz="2200" dirty="0">
                <a:solidFill>
                  <a:schemeClr val="bg1"/>
                </a:solidFill>
              </a:rPr>
              <a:t>Getting more out of the GPU you already own</a:t>
            </a:r>
            <a:endParaRPr lang="en-US" sz="2200" dirty="0"/>
          </a:p>
        </p:txBody>
      </p:sp>
      <p:sp>
        <p:nvSpPr>
          <p:cNvPr id="4" name="Text 2"/>
          <p:cNvSpPr txBox="1"/>
          <p:nvPr/>
        </p:nvSpPr>
        <p:spPr>
          <a:xfrm>
            <a:off x="548640" y="3291840"/>
            <a:ext cx="5486400" cy="320040"/>
          </a:xfrm>
          <a:prstGeom prst="rect">
            <a:avLst/>
          </a:prstGeom>
          <a:noFill/>
          <a:ln/>
        </p:spPr>
        <p:txBody>
          <a:bodyPr wrap="square" lIns="0" tIns="0" rIns="0" bIns="0" rtlCol="0" anchor="ctr"/>
          <a:lstStyle/>
          <a:p>
            <a:pPr indent="0" marL="0">
              <a:buNone/>
            </a:pPr>
            <a:r>
              <a:rPr lang="en-US" sz="1400" i="1" dirty="0">
                <a:solidFill>
                  <a:srgbClr val="BFBFBF"/>
                </a:solidFill>
              </a:rPr>
              <a:t>A design thinking walkthrough</a:t>
            </a:r>
            <a:endParaRPr lang="en-US" sz="1400" dirty="0"/>
          </a:p>
        </p:txBody>
      </p:sp>
      <p:sp>
        <p:nvSpPr>
          <p:cNvPr id="5" name="Shape 3"/>
          <p:cNvSpPr/>
          <p:nvPr/>
        </p:nvSpPr>
        <p:spPr>
          <a:xfrm>
            <a:off x="548640" y="4069080"/>
            <a:ext cx="548640" cy="548640"/>
          </a:xfrm>
          <a:prstGeom prst="ellipse">
            <a:avLst/>
          </a:prstGeom>
          <a:solidFill>
            <a:schemeClr val="tx1"/>
          </a:solidFill>
          <a:ln w="19050">
            <a:solidFill>
              <a:schemeClr val="bg1"/>
            </a:solidFill>
            <a:prstDash val="solid"/>
          </a:ln>
        </p:spPr>
      </p:sp>
      <p:pic>
        <p:nvPicPr>
          <p:cNvPr id="6" name="Image 0" descr="preencoded.png">    </p:cNvPr>
          <p:cNvPicPr>
            <a:picLocks noChangeAspect="1"/>
          </p:cNvPicPr>
          <p:nvPr/>
        </p:nvPicPr>
        <p:blipFill>
          <a:blip r:embed="rId1"/>
          <a:stretch>
            <a:fillRect/>
          </a:stretch>
        </p:blipFill>
        <p:spPr>
          <a:xfrm>
            <a:off x="704088" y="4224528"/>
            <a:ext cx="237744" cy="237744"/>
          </a:xfrm>
          <a:prstGeom prst="rect">
            <a:avLst/>
          </a:prstGeom>
        </p:spPr>
      </p:pic>
      <p:sp>
        <p:nvSpPr>
          <p:cNvPr id="7" name="Shape 4"/>
          <p:cNvSpPr/>
          <p:nvPr/>
        </p:nvSpPr>
        <p:spPr>
          <a:xfrm>
            <a:off x="1463040" y="4069080"/>
            <a:ext cx="548640" cy="548640"/>
          </a:xfrm>
          <a:prstGeom prst="ellipse">
            <a:avLst/>
          </a:prstGeom>
          <a:solidFill>
            <a:schemeClr val="tx1"/>
          </a:solidFill>
          <a:ln w="19050">
            <a:solidFill>
              <a:schemeClr val="bg1"/>
            </a:solidFill>
            <a:prstDash val="solid"/>
          </a:ln>
        </p:spPr>
      </p:sp>
      <p:pic>
        <p:nvPicPr>
          <p:cNvPr id="8" name="Image 1" descr="preencoded.png">    </p:cNvPr>
          <p:cNvPicPr>
            <a:picLocks noChangeAspect="1"/>
          </p:cNvPicPr>
          <p:nvPr/>
        </p:nvPicPr>
        <p:blipFill>
          <a:blip r:embed="rId2"/>
          <a:stretch>
            <a:fillRect/>
          </a:stretch>
        </p:blipFill>
        <p:spPr>
          <a:xfrm>
            <a:off x="1618488" y="4224528"/>
            <a:ext cx="237744" cy="237744"/>
          </a:xfrm>
          <a:prstGeom prst="rect">
            <a:avLst/>
          </a:prstGeom>
        </p:spPr>
      </p:pic>
      <p:sp>
        <p:nvSpPr>
          <p:cNvPr id="9" name="Shape 5"/>
          <p:cNvSpPr/>
          <p:nvPr/>
        </p:nvSpPr>
        <p:spPr>
          <a:xfrm>
            <a:off x="2377440" y="4069080"/>
            <a:ext cx="548640" cy="548640"/>
          </a:xfrm>
          <a:prstGeom prst="ellipse">
            <a:avLst/>
          </a:prstGeom>
          <a:solidFill>
            <a:schemeClr val="tx1"/>
          </a:solidFill>
          <a:ln w="19050">
            <a:solidFill>
              <a:schemeClr val="bg1"/>
            </a:solidFill>
            <a:prstDash val="solid"/>
          </a:ln>
        </p:spPr>
      </p:sp>
      <p:pic>
        <p:nvPicPr>
          <p:cNvPr id="10" name="Image 2" descr="preencoded.png">    </p:cNvPr>
          <p:cNvPicPr>
            <a:picLocks noChangeAspect="1"/>
          </p:cNvPicPr>
          <p:nvPr/>
        </p:nvPicPr>
        <p:blipFill>
          <a:blip r:embed="rId3"/>
          <a:stretch>
            <a:fillRect/>
          </a:stretch>
        </p:blipFill>
        <p:spPr>
          <a:xfrm>
            <a:off x="2532888" y="4224528"/>
            <a:ext cx="237744" cy="237744"/>
          </a:xfrm>
          <a:prstGeom prst="rect">
            <a:avLst/>
          </a:prstGeom>
        </p:spPr>
      </p:pic>
      <p:sp>
        <p:nvSpPr>
          <p:cNvPr id="11" name="Shape 6"/>
          <p:cNvSpPr/>
          <p:nvPr/>
        </p:nvSpPr>
        <p:spPr>
          <a:xfrm>
            <a:off x="3291840" y="4069080"/>
            <a:ext cx="548640" cy="548640"/>
          </a:xfrm>
          <a:prstGeom prst="ellipse">
            <a:avLst/>
          </a:prstGeom>
          <a:solidFill>
            <a:schemeClr val="tx1"/>
          </a:solidFill>
          <a:ln w="19050">
            <a:solidFill>
              <a:schemeClr val="bg1"/>
            </a:solidFill>
            <a:prstDash val="solid"/>
          </a:ln>
        </p:spPr>
      </p:sp>
      <p:pic>
        <p:nvPicPr>
          <p:cNvPr id="12" name="Image 3" descr="preencoded.png">    </p:cNvPr>
          <p:cNvPicPr>
            <a:picLocks noChangeAspect="1"/>
          </p:cNvPicPr>
          <p:nvPr/>
        </p:nvPicPr>
        <p:blipFill>
          <a:blip r:embed="rId4"/>
          <a:stretch>
            <a:fillRect/>
          </a:stretch>
        </p:blipFill>
        <p:spPr>
          <a:xfrm>
            <a:off x="3447288" y="4224528"/>
            <a:ext cx="237744" cy="237744"/>
          </a:xfrm>
          <a:prstGeom prst="rect">
            <a:avLst/>
          </a:prstGeom>
        </p:spPr>
      </p:pic>
      <p:sp>
        <p:nvSpPr>
          <p:cNvPr id="13" name="Shape 7"/>
          <p:cNvSpPr/>
          <p:nvPr/>
        </p:nvSpPr>
        <p:spPr>
          <a:xfrm>
            <a:off x="4206240" y="4069080"/>
            <a:ext cx="548640" cy="548640"/>
          </a:xfrm>
          <a:prstGeom prst="ellipse">
            <a:avLst/>
          </a:prstGeom>
          <a:solidFill>
            <a:schemeClr val="tx1"/>
          </a:solidFill>
          <a:ln w="19050">
            <a:solidFill>
              <a:schemeClr val="bg1"/>
            </a:solidFill>
            <a:prstDash val="solid"/>
          </a:ln>
        </p:spPr>
      </p:sp>
      <p:pic>
        <p:nvPicPr>
          <p:cNvPr id="14" name="Image 4" descr="preencoded.png">    </p:cNvPr>
          <p:cNvPicPr>
            <a:picLocks noChangeAspect="1"/>
          </p:cNvPicPr>
          <p:nvPr/>
        </p:nvPicPr>
        <p:blipFill>
          <a:blip r:embed="rId5"/>
          <a:stretch>
            <a:fillRect/>
          </a:stretch>
        </p:blipFill>
        <p:spPr>
          <a:xfrm>
            <a:off x="4361688" y="4224528"/>
            <a:ext cx="237744" cy="23774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6766560" cy="685800"/>
          </a:xfrm>
          <a:prstGeom prst="rect">
            <a:avLst/>
          </a:prstGeom>
          <a:noFill/>
          <a:ln/>
        </p:spPr>
        <p:txBody>
          <a:bodyPr wrap="square" lIns="0" tIns="0" rIns="0" bIns="0" rtlCol="0" anchor="ctr"/>
          <a:lstStyle/>
          <a:p>
            <a:pPr algn="l" indent="0" marL="0">
              <a:buNone/>
            </a:pPr>
            <a:r>
              <a:rPr lang="en-US" sz="3200" b="1" dirty="0">
                <a:solidFill>
                  <a:schemeClr val="tx1"/>
                </a:solidFill>
              </a:rPr>
              <a:t>Design thinking in five steps</a:t>
            </a:r>
            <a:endParaRPr lang="en-US" sz="3200" dirty="0"/>
          </a:p>
        </p:txBody>
      </p:sp>
      <p:sp>
        <p:nvSpPr>
          <p:cNvPr id="3" name="Text 0"/>
          <p:cNvSpPr/>
          <p:nvPr>
            <p:ph idx="101" type="body" hasCustomPrompt="1"/>
          </p:nvPr>
        </p:nvSpPr>
        <p:spPr>
          <a:xfrm>
            <a:off x="7223760" y="411480"/>
            <a:ext cx="1463040" cy="365760"/>
          </a:xfrm>
          <a:prstGeom prst="rect">
            <a:avLst/>
          </a:prstGeom>
          <a:noFill/>
          <a:ln/>
        </p:spPr>
        <p:txBody>
          <a:bodyPr wrap="square" lIns="0" tIns="0" rIns="0" bIns="0" rtlCol="0" anchor="ctr"/>
          <a:lstStyle/>
          <a:p>
            <a:pPr algn="r" indent="0" marL="0">
              <a:buNone/>
            </a:pPr>
            <a:r>
              <a:rPr lang="en-US" sz="1100" b="1" dirty="0">
                <a:solidFill>
                  <a:schemeClr val="accent3"/>
                </a:solidFill>
              </a:rPr>
              <a:t>THE METHOD</a:t>
            </a:r>
            <a:endParaRPr lang="en-US" sz="1100" dirty="0"/>
          </a:p>
        </p:txBody>
      </p:sp>
      <p:sp>
        <p:nvSpPr>
          <p:cNvPr id="4" name="Shape 2"/>
          <p:cNvSpPr/>
          <p:nvPr/>
        </p:nvSpPr>
        <p:spPr>
          <a:xfrm>
            <a:off x="1005840" y="1874520"/>
            <a:ext cx="7132320" cy="0"/>
          </a:xfrm>
          <a:prstGeom prst="line">
            <a:avLst/>
          </a:prstGeom>
          <a:noFill/>
          <a:ln w="19050">
            <a:solidFill>
              <a:schemeClr val="accent4"/>
            </a:solidFill>
            <a:prstDash val="dash"/>
          </a:ln>
        </p:spPr>
      </p:sp>
      <p:sp>
        <p:nvSpPr>
          <p:cNvPr id="5" name="circle-FaHeart"/>
          <p:cNvSpPr/>
          <p:nvPr/>
        </p:nvSpPr>
        <p:spPr>
          <a:xfrm>
            <a:off x="548640" y="1417320"/>
            <a:ext cx="914400" cy="914400"/>
          </a:xfrm>
          <a:prstGeom prst="ellipse">
            <a:avLst/>
          </a:prstGeom>
          <a:solidFill>
            <a:schemeClr val="tx1"/>
          </a:solidFill>
          <a:ln w="12700">
            <a:solidFill>
              <a:schemeClr val="tx1"/>
            </a:solidFill>
            <a:prstDash val="solid"/>
          </a:ln>
        </p:spPr>
      </p:sp>
      <p:pic>
        <p:nvPicPr>
          <p:cNvPr id="6" name="icon-FaHeart" descr="preencoded.png">    </p:cNvPr>
          <p:cNvPicPr>
            <a:picLocks noChangeAspect="1"/>
          </p:cNvPicPr>
          <p:nvPr/>
        </p:nvPicPr>
        <p:blipFill>
          <a:blip r:embed="rId1"/>
          <a:stretch>
            <a:fillRect/>
          </a:stretch>
        </p:blipFill>
        <p:spPr>
          <a:xfrm>
            <a:off x="777240" y="1645920"/>
            <a:ext cx="457200" cy="457200"/>
          </a:xfrm>
          <a:prstGeom prst="rect">
            <a:avLst/>
          </a:prstGeom>
        </p:spPr>
      </p:pic>
      <p:sp>
        <p:nvSpPr>
          <p:cNvPr id="7" name="Text 4"/>
          <p:cNvSpPr txBox="1"/>
          <p:nvPr/>
        </p:nvSpPr>
        <p:spPr>
          <a:xfrm>
            <a:off x="228600" y="2514600"/>
            <a:ext cx="1554480" cy="274320"/>
          </a:xfrm>
          <a:prstGeom prst="rect">
            <a:avLst/>
          </a:prstGeom>
          <a:noFill/>
          <a:ln/>
        </p:spPr>
        <p:txBody>
          <a:bodyPr wrap="square" lIns="0" tIns="0" rIns="0" bIns="0" rtlCol="0" anchor="ctr"/>
          <a:lstStyle/>
          <a:p>
            <a:pPr algn="ctr" indent="0" marL="0">
              <a:buNone/>
            </a:pPr>
            <a:r>
              <a:rPr lang="en-US" sz="1200" b="1" dirty="0">
                <a:solidFill>
                  <a:schemeClr val="accent3"/>
                </a:solidFill>
              </a:rPr>
              <a:t>01</a:t>
            </a:r>
            <a:endParaRPr lang="en-US" sz="1200" dirty="0"/>
          </a:p>
        </p:txBody>
      </p:sp>
      <p:sp>
        <p:nvSpPr>
          <p:cNvPr id="8" name="Text 5"/>
          <p:cNvSpPr txBox="1"/>
          <p:nvPr/>
        </p:nvSpPr>
        <p:spPr>
          <a:xfrm>
            <a:off x="228600" y="2788920"/>
            <a:ext cx="1554480" cy="365760"/>
          </a:xfrm>
          <a:prstGeom prst="rect">
            <a:avLst/>
          </a:prstGeom>
          <a:noFill/>
          <a:ln/>
        </p:spPr>
        <p:txBody>
          <a:bodyPr wrap="square" lIns="0" tIns="0" rIns="0" bIns="0" rtlCol="0" anchor="ctr"/>
          <a:lstStyle/>
          <a:p>
            <a:pPr algn="ctr" indent="0" marL="0">
              <a:buNone/>
            </a:pPr>
            <a:r>
              <a:rPr lang="en-US" sz="1800" b="1" dirty="0">
                <a:solidFill>
                  <a:schemeClr val="tx1"/>
                </a:solidFill>
              </a:rPr>
              <a:t>Empathize</a:t>
            </a:r>
            <a:endParaRPr lang="en-US" sz="1800" dirty="0"/>
          </a:p>
        </p:txBody>
      </p:sp>
      <p:sp>
        <p:nvSpPr>
          <p:cNvPr id="9" name="Text 6"/>
          <p:cNvSpPr txBox="1"/>
          <p:nvPr/>
        </p:nvSpPr>
        <p:spPr>
          <a:xfrm>
            <a:off x="228600" y="3154680"/>
            <a:ext cx="1554480" cy="548640"/>
          </a:xfrm>
          <a:prstGeom prst="rect">
            <a:avLst/>
          </a:prstGeom>
          <a:noFill/>
          <a:ln/>
        </p:spPr>
        <p:txBody>
          <a:bodyPr wrap="square" lIns="0" tIns="0" rIns="0" bIns="0" rtlCol="0" anchor="t"/>
          <a:lstStyle/>
          <a:p>
            <a:pPr algn="ctr" indent="0" marL="0">
              <a:buNone/>
            </a:pPr>
            <a:r>
              <a:rPr lang="en-US" sz="1200" dirty="0">
                <a:solidFill>
                  <a:schemeClr val="accent2"/>
                </a:solidFill>
              </a:rPr>
              <a:t>Understand the people</a:t>
            </a:r>
            <a:endParaRPr lang="en-US" sz="1200" dirty="0"/>
          </a:p>
        </p:txBody>
      </p:sp>
      <p:sp>
        <p:nvSpPr>
          <p:cNvPr id="10" name="circle-FaBullseye"/>
          <p:cNvSpPr/>
          <p:nvPr/>
        </p:nvSpPr>
        <p:spPr>
          <a:xfrm>
            <a:off x="2331720" y="1417320"/>
            <a:ext cx="914400" cy="914400"/>
          </a:xfrm>
          <a:prstGeom prst="ellipse">
            <a:avLst/>
          </a:prstGeom>
          <a:solidFill>
            <a:schemeClr val="tx1"/>
          </a:solidFill>
          <a:ln w="12700">
            <a:solidFill>
              <a:schemeClr val="tx1"/>
            </a:solidFill>
            <a:prstDash val="solid"/>
          </a:ln>
        </p:spPr>
      </p:sp>
      <p:pic>
        <p:nvPicPr>
          <p:cNvPr id="11" name="icon-FaBullseye" descr="preencoded.png">    </p:cNvPr>
          <p:cNvPicPr>
            <a:picLocks noChangeAspect="1"/>
          </p:cNvPicPr>
          <p:nvPr/>
        </p:nvPicPr>
        <p:blipFill>
          <a:blip r:embed="rId2"/>
          <a:stretch>
            <a:fillRect/>
          </a:stretch>
        </p:blipFill>
        <p:spPr>
          <a:xfrm>
            <a:off x="2560320" y="1645920"/>
            <a:ext cx="457200" cy="457200"/>
          </a:xfrm>
          <a:prstGeom prst="rect">
            <a:avLst/>
          </a:prstGeom>
        </p:spPr>
      </p:pic>
      <p:sp>
        <p:nvSpPr>
          <p:cNvPr id="12" name="Text 8"/>
          <p:cNvSpPr txBox="1"/>
          <p:nvPr/>
        </p:nvSpPr>
        <p:spPr>
          <a:xfrm>
            <a:off x="2011680" y="2514600"/>
            <a:ext cx="1554480" cy="274320"/>
          </a:xfrm>
          <a:prstGeom prst="rect">
            <a:avLst/>
          </a:prstGeom>
          <a:noFill/>
          <a:ln/>
        </p:spPr>
        <p:txBody>
          <a:bodyPr wrap="square" lIns="0" tIns="0" rIns="0" bIns="0" rtlCol="0" anchor="ctr"/>
          <a:lstStyle/>
          <a:p>
            <a:pPr algn="ctr" indent="0" marL="0">
              <a:buNone/>
            </a:pPr>
            <a:r>
              <a:rPr lang="en-US" sz="1200" b="1" dirty="0">
                <a:solidFill>
                  <a:schemeClr val="accent3"/>
                </a:solidFill>
              </a:rPr>
              <a:t>02</a:t>
            </a:r>
            <a:endParaRPr lang="en-US" sz="1200" dirty="0"/>
          </a:p>
        </p:txBody>
      </p:sp>
      <p:sp>
        <p:nvSpPr>
          <p:cNvPr id="13" name="Text 9"/>
          <p:cNvSpPr txBox="1"/>
          <p:nvPr/>
        </p:nvSpPr>
        <p:spPr>
          <a:xfrm>
            <a:off x="2011680" y="2788920"/>
            <a:ext cx="1554480" cy="365760"/>
          </a:xfrm>
          <a:prstGeom prst="rect">
            <a:avLst/>
          </a:prstGeom>
          <a:noFill/>
          <a:ln/>
        </p:spPr>
        <p:txBody>
          <a:bodyPr wrap="square" lIns="0" tIns="0" rIns="0" bIns="0" rtlCol="0" anchor="ctr"/>
          <a:lstStyle/>
          <a:p>
            <a:pPr algn="ctr" indent="0" marL="0">
              <a:buNone/>
            </a:pPr>
            <a:r>
              <a:rPr lang="en-US" sz="1800" b="1" dirty="0">
                <a:solidFill>
                  <a:schemeClr val="tx1"/>
                </a:solidFill>
              </a:rPr>
              <a:t>Define</a:t>
            </a:r>
            <a:endParaRPr lang="en-US" sz="1800" dirty="0"/>
          </a:p>
        </p:txBody>
      </p:sp>
      <p:sp>
        <p:nvSpPr>
          <p:cNvPr id="14" name="Text 10"/>
          <p:cNvSpPr txBox="1"/>
          <p:nvPr/>
        </p:nvSpPr>
        <p:spPr>
          <a:xfrm>
            <a:off x="2011680" y="3154680"/>
            <a:ext cx="1554480" cy="548640"/>
          </a:xfrm>
          <a:prstGeom prst="rect">
            <a:avLst/>
          </a:prstGeom>
          <a:noFill/>
          <a:ln/>
        </p:spPr>
        <p:txBody>
          <a:bodyPr wrap="square" lIns="0" tIns="0" rIns="0" bIns="0" rtlCol="0" anchor="t"/>
          <a:lstStyle/>
          <a:p>
            <a:pPr algn="ctr" indent="0" marL="0">
              <a:buNone/>
            </a:pPr>
            <a:r>
              <a:rPr lang="en-US" sz="1200" dirty="0">
                <a:solidFill>
                  <a:schemeClr val="accent2"/>
                </a:solidFill>
              </a:rPr>
              <a:t>Name the real problem</a:t>
            </a:r>
            <a:endParaRPr lang="en-US" sz="1200" dirty="0"/>
          </a:p>
        </p:txBody>
      </p:sp>
      <p:sp>
        <p:nvSpPr>
          <p:cNvPr id="15" name="circle-FaLightbulb"/>
          <p:cNvSpPr/>
          <p:nvPr/>
        </p:nvSpPr>
        <p:spPr>
          <a:xfrm>
            <a:off x="4114800" y="1417320"/>
            <a:ext cx="914400" cy="914400"/>
          </a:xfrm>
          <a:prstGeom prst="ellipse">
            <a:avLst/>
          </a:prstGeom>
          <a:solidFill>
            <a:schemeClr val="tx1"/>
          </a:solidFill>
          <a:ln w="12700">
            <a:solidFill>
              <a:schemeClr val="tx1"/>
            </a:solidFill>
            <a:prstDash val="solid"/>
          </a:ln>
        </p:spPr>
      </p:sp>
      <p:pic>
        <p:nvPicPr>
          <p:cNvPr id="16" name="icon-FaLightbulb" descr="preencoded.png">    </p:cNvPr>
          <p:cNvPicPr>
            <a:picLocks noChangeAspect="1"/>
          </p:cNvPicPr>
          <p:nvPr/>
        </p:nvPicPr>
        <p:blipFill>
          <a:blip r:embed="rId3"/>
          <a:stretch>
            <a:fillRect/>
          </a:stretch>
        </p:blipFill>
        <p:spPr>
          <a:xfrm>
            <a:off x="4343400" y="1645920"/>
            <a:ext cx="457200" cy="457200"/>
          </a:xfrm>
          <a:prstGeom prst="rect">
            <a:avLst/>
          </a:prstGeom>
        </p:spPr>
      </p:pic>
      <p:sp>
        <p:nvSpPr>
          <p:cNvPr id="17" name="Text 12"/>
          <p:cNvSpPr txBox="1"/>
          <p:nvPr/>
        </p:nvSpPr>
        <p:spPr>
          <a:xfrm>
            <a:off x="3794760" y="2514600"/>
            <a:ext cx="1554480" cy="274320"/>
          </a:xfrm>
          <a:prstGeom prst="rect">
            <a:avLst/>
          </a:prstGeom>
          <a:noFill/>
          <a:ln/>
        </p:spPr>
        <p:txBody>
          <a:bodyPr wrap="square" lIns="0" tIns="0" rIns="0" bIns="0" rtlCol="0" anchor="ctr"/>
          <a:lstStyle/>
          <a:p>
            <a:pPr algn="ctr" indent="0" marL="0">
              <a:buNone/>
            </a:pPr>
            <a:r>
              <a:rPr lang="en-US" sz="1200" b="1" dirty="0">
                <a:solidFill>
                  <a:schemeClr val="accent3"/>
                </a:solidFill>
              </a:rPr>
              <a:t>03</a:t>
            </a:r>
            <a:endParaRPr lang="en-US" sz="1200" dirty="0"/>
          </a:p>
        </p:txBody>
      </p:sp>
      <p:sp>
        <p:nvSpPr>
          <p:cNvPr id="18" name="Text 13"/>
          <p:cNvSpPr txBox="1"/>
          <p:nvPr/>
        </p:nvSpPr>
        <p:spPr>
          <a:xfrm>
            <a:off x="3794760" y="2788920"/>
            <a:ext cx="1554480" cy="365760"/>
          </a:xfrm>
          <a:prstGeom prst="rect">
            <a:avLst/>
          </a:prstGeom>
          <a:noFill/>
          <a:ln/>
        </p:spPr>
        <p:txBody>
          <a:bodyPr wrap="square" lIns="0" tIns="0" rIns="0" bIns="0" rtlCol="0" anchor="ctr"/>
          <a:lstStyle/>
          <a:p>
            <a:pPr algn="ctr" indent="0" marL="0">
              <a:buNone/>
            </a:pPr>
            <a:r>
              <a:rPr lang="en-US" sz="1800" b="1" dirty="0">
                <a:solidFill>
                  <a:schemeClr val="tx1"/>
                </a:solidFill>
              </a:rPr>
              <a:t>Ideate</a:t>
            </a:r>
            <a:endParaRPr lang="en-US" sz="1800" dirty="0"/>
          </a:p>
        </p:txBody>
      </p:sp>
      <p:sp>
        <p:nvSpPr>
          <p:cNvPr id="19" name="Text 14"/>
          <p:cNvSpPr txBox="1"/>
          <p:nvPr/>
        </p:nvSpPr>
        <p:spPr>
          <a:xfrm>
            <a:off x="3794760" y="3154680"/>
            <a:ext cx="1554480" cy="548640"/>
          </a:xfrm>
          <a:prstGeom prst="rect">
            <a:avLst/>
          </a:prstGeom>
          <a:noFill/>
          <a:ln/>
        </p:spPr>
        <p:txBody>
          <a:bodyPr wrap="square" lIns="0" tIns="0" rIns="0" bIns="0" rtlCol="0" anchor="t"/>
          <a:lstStyle/>
          <a:p>
            <a:pPr algn="ctr" indent="0" marL="0">
              <a:buNone/>
            </a:pPr>
            <a:r>
              <a:rPr lang="en-US" sz="1200" dirty="0">
                <a:solidFill>
                  <a:schemeClr val="accent2"/>
                </a:solidFill>
              </a:rPr>
              <a:t>Go wide on ideas</a:t>
            </a:r>
            <a:endParaRPr lang="en-US" sz="1200" dirty="0"/>
          </a:p>
        </p:txBody>
      </p:sp>
      <p:sp>
        <p:nvSpPr>
          <p:cNvPr id="20" name="circle-FaTools"/>
          <p:cNvSpPr/>
          <p:nvPr/>
        </p:nvSpPr>
        <p:spPr>
          <a:xfrm>
            <a:off x="5897880" y="1417320"/>
            <a:ext cx="914400" cy="914400"/>
          </a:xfrm>
          <a:prstGeom prst="ellipse">
            <a:avLst/>
          </a:prstGeom>
          <a:solidFill>
            <a:schemeClr val="tx1"/>
          </a:solidFill>
          <a:ln w="12700">
            <a:solidFill>
              <a:schemeClr val="tx1"/>
            </a:solidFill>
            <a:prstDash val="solid"/>
          </a:ln>
        </p:spPr>
      </p:sp>
      <p:pic>
        <p:nvPicPr>
          <p:cNvPr id="21" name="icon-FaTools" descr="preencoded.png">    </p:cNvPr>
          <p:cNvPicPr>
            <a:picLocks noChangeAspect="1"/>
          </p:cNvPicPr>
          <p:nvPr/>
        </p:nvPicPr>
        <p:blipFill>
          <a:blip r:embed="rId4"/>
          <a:stretch>
            <a:fillRect/>
          </a:stretch>
        </p:blipFill>
        <p:spPr>
          <a:xfrm>
            <a:off x="6126480" y="1645920"/>
            <a:ext cx="457200" cy="457200"/>
          </a:xfrm>
          <a:prstGeom prst="rect">
            <a:avLst/>
          </a:prstGeom>
        </p:spPr>
      </p:pic>
      <p:sp>
        <p:nvSpPr>
          <p:cNvPr id="22" name="Text 16"/>
          <p:cNvSpPr txBox="1"/>
          <p:nvPr/>
        </p:nvSpPr>
        <p:spPr>
          <a:xfrm>
            <a:off x="5577840" y="2514600"/>
            <a:ext cx="1554480" cy="274320"/>
          </a:xfrm>
          <a:prstGeom prst="rect">
            <a:avLst/>
          </a:prstGeom>
          <a:noFill/>
          <a:ln/>
        </p:spPr>
        <p:txBody>
          <a:bodyPr wrap="square" lIns="0" tIns="0" rIns="0" bIns="0" rtlCol="0" anchor="ctr"/>
          <a:lstStyle/>
          <a:p>
            <a:pPr algn="ctr" indent="0" marL="0">
              <a:buNone/>
            </a:pPr>
            <a:r>
              <a:rPr lang="en-US" sz="1200" b="1" dirty="0">
                <a:solidFill>
                  <a:schemeClr val="accent3"/>
                </a:solidFill>
              </a:rPr>
              <a:t>04</a:t>
            </a:r>
            <a:endParaRPr lang="en-US" sz="1200" dirty="0"/>
          </a:p>
        </p:txBody>
      </p:sp>
      <p:sp>
        <p:nvSpPr>
          <p:cNvPr id="23" name="Text 17"/>
          <p:cNvSpPr txBox="1"/>
          <p:nvPr/>
        </p:nvSpPr>
        <p:spPr>
          <a:xfrm>
            <a:off x="5577840" y="2788920"/>
            <a:ext cx="1554480" cy="365760"/>
          </a:xfrm>
          <a:prstGeom prst="rect">
            <a:avLst/>
          </a:prstGeom>
          <a:noFill/>
          <a:ln/>
        </p:spPr>
        <p:txBody>
          <a:bodyPr wrap="square" lIns="0" tIns="0" rIns="0" bIns="0" rtlCol="0" anchor="ctr"/>
          <a:lstStyle/>
          <a:p>
            <a:pPr algn="ctr" indent="0" marL="0">
              <a:buNone/>
            </a:pPr>
            <a:r>
              <a:rPr lang="en-US" sz="1800" b="1" dirty="0">
                <a:solidFill>
                  <a:schemeClr val="tx1"/>
                </a:solidFill>
              </a:rPr>
              <a:t>Prototype</a:t>
            </a:r>
            <a:endParaRPr lang="en-US" sz="1800" dirty="0"/>
          </a:p>
        </p:txBody>
      </p:sp>
      <p:sp>
        <p:nvSpPr>
          <p:cNvPr id="24" name="Text 18"/>
          <p:cNvSpPr txBox="1"/>
          <p:nvPr/>
        </p:nvSpPr>
        <p:spPr>
          <a:xfrm>
            <a:off x="5577840" y="3154680"/>
            <a:ext cx="1554480" cy="548640"/>
          </a:xfrm>
          <a:prstGeom prst="rect">
            <a:avLst/>
          </a:prstGeom>
          <a:noFill/>
          <a:ln/>
        </p:spPr>
        <p:txBody>
          <a:bodyPr wrap="square" lIns="0" tIns="0" rIns="0" bIns="0" rtlCol="0" anchor="t"/>
          <a:lstStyle/>
          <a:p>
            <a:pPr algn="ctr" indent="0" marL="0">
              <a:buNone/>
            </a:pPr>
            <a:r>
              <a:rPr lang="en-US" sz="1200" dirty="0">
                <a:solidFill>
                  <a:schemeClr val="accent2"/>
                </a:solidFill>
              </a:rPr>
              <a:t>Build it to learn</a:t>
            </a:r>
            <a:endParaRPr lang="en-US" sz="1200" dirty="0"/>
          </a:p>
        </p:txBody>
      </p:sp>
      <p:sp>
        <p:nvSpPr>
          <p:cNvPr id="25" name="circle-FaFlask"/>
          <p:cNvSpPr/>
          <p:nvPr/>
        </p:nvSpPr>
        <p:spPr>
          <a:xfrm>
            <a:off x="7680960" y="1417320"/>
            <a:ext cx="914400" cy="914400"/>
          </a:xfrm>
          <a:prstGeom prst="ellipse">
            <a:avLst/>
          </a:prstGeom>
          <a:solidFill>
            <a:schemeClr val="tx1"/>
          </a:solidFill>
          <a:ln w="12700">
            <a:solidFill>
              <a:schemeClr val="tx1"/>
            </a:solidFill>
            <a:prstDash val="solid"/>
          </a:ln>
        </p:spPr>
      </p:sp>
      <p:pic>
        <p:nvPicPr>
          <p:cNvPr id="26" name="icon-FaFlask" descr="preencoded.png">    </p:cNvPr>
          <p:cNvPicPr>
            <a:picLocks noChangeAspect="1"/>
          </p:cNvPicPr>
          <p:nvPr/>
        </p:nvPicPr>
        <p:blipFill>
          <a:blip r:embed="rId5"/>
          <a:stretch>
            <a:fillRect/>
          </a:stretch>
        </p:blipFill>
        <p:spPr>
          <a:xfrm>
            <a:off x="7909560" y="1645920"/>
            <a:ext cx="457200" cy="457200"/>
          </a:xfrm>
          <a:prstGeom prst="rect">
            <a:avLst/>
          </a:prstGeom>
        </p:spPr>
      </p:pic>
      <p:sp>
        <p:nvSpPr>
          <p:cNvPr id="27" name="Text 20"/>
          <p:cNvSpPr txBox="1"/>
          <p:nvPr/>
        </p:nvSpPr>
        <p:spPr>
          <a:xfrm>
            <a:off x="7360920" y="2514600"/>
            <a:ext cx="1554480" cy="274320"/>
          </a:xfrm>
          <a:prstGeom prst="rect">
            <a:avLst/>
          </a:prstGeom>
          <a:noFill/>
          <a:ln/>
        </p:spPr>
        <p:txBody>
          <a:bodyPr wrap="square" lIns="0" tIns="0" rIns="0" bIns="0" rtlCol="0" anchor="ctr"/>
          <a:lstStyle/>
          <a:p>
            <a:pPr algn="ctr" indent="0" marL="0">
              <a:buNone/>
            </a:pPr>
            <a:r>
              <a:rPr lang="en-US" sz="1200" b="1" dirty="0">
                <a:solidFill>
                  <a:schemeClr val="accent3"/>
                </a:solidFill>
              </a:rPr>
              <a:t>05</a:t>
            </a:r>
            <a:endParaRPr lang="en-US" sz="1200" dirty="0"/>
          </a:p>
        </p:txBody>
      </p:sp>
      <p:sp>
        <p:nvSpPr>
          <p:cNvPr id="28" name="Text 21"/>
          <p:cNvSpPr txBox="1"/>
          <p:nvPr/>
        </p:nvSpPr>
        <p:spPr>
          <a:xfrm>
            <a:off x="7360920" y="2788920"/>
            <a:ext cx="1554480" cy="365760"/>
          </a:xfrm>
          <a:prstGeom prst="rect">
            <a:avLst/>
          </a:prstGeom>
          <a:noFill/>
          <a:ln/>
        </p:spPr>
        <p:txBody>
          <a:bodyPr wrap="square" lIns="0" tIns="0" rIns="0" bIns="0" rtlCol="0" anchor="ctr"/>
          <a:lstStyle/>
          <a:p>
            <a:pPr algn="ctr" indent="0" marL="0">
              <a:buNone/>
            </a:pPr>
            <a:r>
              <a:rPr lang="en-US" sz="1800" b="1" dirty="0">
                <a:solidFill>
                  <a:schemeClr val="tx1"/>
                </a:solidFill>
              </a:rPr>
              <a:t>Test</a:t>
            </a:r>
            <a:endParaRPr lang="en-US" sz="1800" dirty="0"/>
          </a:p>
        </p:txBody>
      </p:sp>
      <p:sp>
        <p:nvSpPr>
          <p:cNvPr id="29" name="Text 22"/>
          <p:cNvSpPr txBox="1"/>
          <p:nvPr/>
        </p:nvSpPr>
        <p:spPr>
          <a:xfrm>
            <a:off x="7360920" y="3154680"/>
            <a:ext cx="1554480" cy="548640"/>
          </a:xfrm>
          <a:prstGeom prst="rect">
            <a:avLst/>
          </a:prstGeom>
          <a:noFill/>
          <a:ln/>
        </p:spPr>
        <p:txBody>
          <a:bodyPr wrap="square" lIns="0" tIns="0" rIns="0" bIns="0" rtlCol="0" anchor="t"/>
          <a:lstStyle/>
          <a:p>
            <a:pPr algn="ctr" indent="0" marL="0">
              <a:buNone/>
            </a:pPr>
            <a:r>
              <a:rPr lang="en-US" sz="1200" dirty="0">
                <a:solidFill>
                  <a:schemeClr val="accent2"/>
                </a:solidFill>
              </a:rPr>
              <a:t>Measure honestly</a:t>
            </a:r>
            <a:endParaRPr lang="en-US" sz="1200" dirty="0"/>
          </a:p>
        </p:txBody>
      </p:sp>
      <p:sp>
        <p:nvSpPr>
          <p:cNvPr id="30" name="Text 23"/>
          <p:cNvSpPr txBox="1"/>
          <p:nvPr/>
        </p:nvSpPr>
        <p:spPr>
          <a:xfrm>
            <a:off x="457200" y="4023360"/>
            <a:ext cx="8229600" cy="365760"/>
          </a:xfrm>
          <a:prstGeom prst="rect">
            <a:avLst/>
          </a:prstGeom>
          <a:noFill/>
          <a:ln/>
        </p:spPr>
        <p:txBody>
          <a:bodyPr wrap="square" lIns="0" tIns="0" rIns="0" bIns="0" rtlCol="0" anchor="ctr"/>
          <a:lstStyle/>
          <a:p>
            <a:pPr algn="ctr" indent="0" marL="0">
              <a:buNone/>
            </a:pPr>
            <a:r>
              <a:rPr lang="en-US" sz="1400" i="1" dirty="0">
                <a:solidFill>
                  <a:schemeClr val="tx2"/>
                </a:solidFill>
              </a:rPr>
              <a:t>It is a loop, not a line: what we learn in Test sends us back to Empathize.</a:t>
            </a:r>
            <a:endParaRPr lang="en-US" sz="14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822960"/>
            <a:ext cx="2926080" cy="2011680"/>
          </a:xfrm>
          <a:prstGeom prst="rect">
            <a:avLst/>
          </a:prstGeom>
          <a:noFill/>
          <a:ln/>
        </p:spPr>
        <p:txBody>
          <a:bodyPr wrap="square" lIns="0" tIns="0" rIns="0" bIns="0" rtlCol="0" anchor="b"/>
          <a:lstStyle/>
          <a:p>
            <a:pPr algn="l" indent="0" marL="0">
              <a:buNone/>
            </a:pPr>
            <a:r>
              <a:rPr lang="en-US" sz="14000" b="1" dirty="0">
                <a:solidFill>
                  <a:schemeClr val="bg1"/>
                </a:solidFill>
              </a:rPr>
              <a:t>01</a:t>
            </a:r>
            <a:endParaRPr lang="en-US" sz="14000" dirty="0"/>
          </a:p>
        </p:txBody>
      </p:sp>
      <p:sp>
        <p:nvSpPr>
          <p:cNvPr id="3" name="Text 0"/>
          <p:cNvSpPr/>
          <p:nvPr>
            <p:ph idx="101" type="title" hasCustomPrompt="1"/>
          </p:nvPr>
        </p:nvSpPr>
        <p:spPr>
          <a:xfrm>
            <a:off x="548640" y="2834640"/>
            <a:ext cx="5029200" cy="731520"/>
          </a:xfrm>
          <a:prstGeom prst="rect">
            <a:avLst/>
          </a:prstGeom>
          <a:noFill/>
          <a:ln/>
        </p:spPr>
        <p:txBody>
          <a:bodyPr wrap="square" lIns="0" tIns="0" rIns="0" bIns="0" rtlCol="0" anchor="t"/>
          <a:lstStyle/>
          <a:p>
            <a:pPr algn="l" indent="0" marL="0">
              <a:buNone/>
            </a:pPr>
            <a:r>
              <a:rPr lang="en-US" sz="4400" b="1" dirty="0">
                <a:solidFill>
                  <a:schemeClr val="bg1"/>
                </a:solidFill>
              </a:rPr>
              <a:t>Empathize</a:t>
            </a:r>
            <a:endParaRPr lang="en-US" sz="4400" dirty="0"/>
          </a:p>
        </p:txBody>
      </p:sp>
      <p:sp>
        <p:nvSpPr>
          <p:cNvPr id="4" name="Text 0"/>
          <p:cNvSpPr/>
          <p:nvPr>
            <p:ph idx="102" type="body" hasCustomPrompt="1"/>
          </p:nvPr>
        </p:nvSpPr>
        <p:spPr>
          <a:xfrm>
            <a:off x="548640" y="3611880"/>
            <a:ext cx="5120640" cy="1005840"/>
          </a:xfrm>
          <a:prstGeom prst="rect">
            <a:avLst/>
          </a:prstGeom>
          <a:noFill/>
          <a:ln/>
        </p:spPr>
        <p:txBody>
          <a:bodyPr wrap="square" lIns="0" tIns="0" rIns="0" bIns="0" rtlCol="0" anchor="t"/>
          <a:lstStyle/>
          <a:p>
            <a:pPr algn="l" indent="0" marL="0">
              <a:buNone/>
            </a:pPr>
            <a:r>
              <a:rPr lang="en-US" sz="1600" dirty="0">
                <a:solidFill>
                  <a:schemeClr val="bg1"/>
                </a:solidFill>
              </a:rPr>
              <a:t>Understand the people before the problem. We read real forum threads, GitHub issues and Reddit posts, and ran local AI on an ordinary 8 GB GPU ourselves.</a:t>
            </a:r>
            <a:endParaRPr lang="en-US" sz="1600" dirty="0"/>
          </a:p>
        </p:txBody>
      </p:sp>
      <p:sp>
        <p:nvSpPr>
          <p:cNvPr id="5" name="Shape 3"/>
          <p:cNvSpPr/>
          <p:nvPr/>
        </p:nvSpPr>
        <p:spPr>
          <a:xfrm>
            <a:off x="6309360" y="1325880"/>
            <a:ext cx="2377440" cy="2377440"/>
          </a:xfrm>
          <a:prstGeom prst="ellipse">
            <a:avLst/>
          </a:prstGeom>
          <a:solidFill>
            <a:schemeClr val="tx1"/>
          </a:solidFill>
          <a:ln w="25400">
            <a:solidFill>
              <a:schemeClr val="bg1"/>
            </a:solidFill>
            <a:prstDash val="solid"/>
          </a:ln>
        </p:spPr>
      </p:sp>
      <p:pic>
        <p:nvPicPr>
          <p:cNvPr id="6" name="Image 0" descr="preencoded.png">    </p:cNvPr>
          <p:cNvPicPr>
            <a:picLocks noChangeAspect="1"/>
          </p:cNvPicPr>
          <p:nvPr/>
        </p:nvPicPr>
        <p:blipFill>
          <a:blip r:embed="rId1"/>
          <a:stretch>
            <a:fillRect/>
          </a:stretch>
        </p:blipFill>
        <p:spPr>
          <a:xfrm>
            <a:off x="6903720" y="1920240"/>
            <a:ext cx="1188720" cy="1188720"/>
          </a:xfrm>
          <a:prstGeom prst="rect">
            <a:avLst/>
          </a:prstGeom>
        </p:spPr>
      </p:pic>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6766560" cy="685800"/>
          </a:xfrm>
          <a:prstGeom prst="rect">
            <a:avLst/>
          </a:prstGeom>
          <a:noFill/>
          <a:ln/>
        </p:spPr>
        <p:txBody>
          <a:bodyPr wrap="square" lIns="0" tIns="0" rIns="0" bIns="0" rtlCol="0" anchor="ctr"/>
          <a:lstStyle/>
          <a:p>
            <a:pPr algn="l" indent="0" marL="0">
              <a:buNone/>
            </a:pPr>
            <a:r>
              <a:rPr lang="en-US" sz="3200" b="1" dirty="0">
                <a:solidFill>
                  <a:schemeClr val="tx1"/>
                </a:solidFill>
              </a:rPr>
              <a:t>What we heard from real users</a:t>
            </a:r>
            <a:endParaRPr lang="en-US" sz="3200" dirty="0"/>
          </a:p>
        </p:txBody>
      </p:sp>
      <p:sp>
        <p:nvSpPr>
          <p:cNvPr id="3" name="Text 0"/>
          <p:cNvSpPr/>
          <p:nvPr>
            <p:ph idx="101" type="body" hasCustomPrompt="1"/>
          </p:nvPr>
        </p:nvSpPr>
        <p:spPr>
          <a:xfrm>
            <a:off x="7223760" y="411480"/>
            <a:ext cx="1463040" cy="365760"/>
          </a:xfrm>
          <a:prstGeom prst="rect">
            <a:avLst/>
          </a:prstGeom>
          <a:noFill/>
          <a:ln/>
        </p:spPr>
        <p:txBody>
          <a:bodyPr wrap="square" lIns="0" tIns="0" rIns="0" bIns="0" rtlCol="0" anchor="ctr"/>
          <a:lstStyle/>
          <a:p>
            <a:pPr algn="r" indent="0" marL="0">
              <a:buNone/>
            </a:pPr>
            <a:r>
              <a:rPr lang="en-US" sz="1100" b="1" dirty="0">
                <a:solidFill>
                  <a:schemeClr val="accent3"/>
                </a:solidFill>
              </a:rPr>
              <a:t>01 EMPATHIZE</a:t>
            </a:r>
            <a:endParaRPr lang="en-US" sz="1100" dirty="0"/>
          </a:p>
        </p:txBody>
      </p:sp>
      <p:sp>
        <p:nvSpPr>
          <p:cNvPr id="4" name="Shape 2"/>
          <p:cNvSpPr/>
          <p:nvPr/>
        </p:nvSpPr>
        <p:spPr>
          <a:xfrm>
            <a:off x="457200" y="1280160"/>
            <a:ext cx="2606040" cy="2331720"/>
          </a:xfrm>
          <a:prstGeom prst="rect">
            <a:avLst/>
          </a:prstGeom>
          <a:solidFill>
            <a:schemeClr val="bg1"/>
          </a:solidFill>
          <a:ln w="19050">
            <a:solidFill>
              <a:schemeClr val="tx1"/>
            </a:solidFill>
            <a:prstDash val="solid"/>
          </a:ln>
        </p:spPr>
      </p:sp>
      <p:pic>
        <p:nvPicPr>
          <p:cNvPr id="5" name="Image 0" descr="preencoded.png">    </p:cNvPr>
          <p:cNvPicPr>
            <a:picLocks noChangeAspect="1"/>
          </p:cNvPicPr>
          <p:nvPr/>
        </p:nvPicPr>
        <p:blipFill>
          <a:blip r:embed="rId1"/>
          <a:stretch>
            <a:fillRect/>
          </a:stretch>
        </p:blipFill>
        <p:spPr>
          <a:xfrm>
            <a:off x="685800" y="1463040"/>
            <a:ext cx="365760" cy="365760"/>
          </a:xfrm>
          <a:prstGeom prst="rect">
            <a:avLst/>
          </a:prstGeom>
        </p:spPr>
      </p:pic>
      <p:sp>
        <p:nvSpPr>
          <p:cNvPr id="6" name="Text 3"/>
          <p:cNvSpPr txBox="1"/>
          <p:nvPr/>
        </p:nvSpPr>
        <p:spPr>
          <a:xfrm>
            <a:off x="685800" y="1965960"/>
            <a:ext cx="2148840" cy="1005840"/>
          </a:xfrm>
          <a:prstGeom prst="rect">
            <a:avLst/>
          </a:prstGeom>
          <a:noFill/>
          <a:ln/>
        </p:spPr>
        <p:txBody>
          <a:bodyPr wrap="square" lIns="0" tIns="0" rIns="0" bIns="0" rtlCol="0" anchor="t"/>
          <a:lstStyle/>
          <a:p>
            <a:pPr indent="0" marL="0">
              <a:buNone/>
            </a:pPr>
            <a:r>
              <a:rPr lang="en-US" sz="1600" b="1" dirty="0">
                <a:solidFill>
                  <a:schemeClr val="tx1"/>
                </a:solidFill>
              </a:rPr>
              <a:t>“Still OOM Memory!”</a:t>
            </a:r>
            <a:endParaRPr lang="en-US" sz="1600" dirty="0"/>
          </a:p>
        </p:txBody>
      </p:sp>
      <p:sp>
        <p:nvSpPr>
          <p:cNvPr id="7" name="Text 4"/>
          <p:cNvSpPr txBox="1"/>
          <p:nvPr/>
        </p:nvSpPr>
        <p:spPr>
          <a:xfrm>
            <a:off x="685800" y="3017520"/>
            <a:ext cx="2148840" cy="502920"/>
          </a:xfrm>
          <a:prstGeom prst="rect">
            <a:avLst/>
          </a:prstGeom>
          <a:noFill/>
          <a:ln/>
        </p:spPr>
        <p:txBody>
          <a:bodyPr wrap="square" lIns="0" tIns="0" rIns="0" bIns="0" rtlCol="0" anchor="t"/>
          <a:lstStyle/>
          <a:p>
            <a:pPr indent="0" marL="0">
              <a:buNone/>
            </a:pPr>
            <a:r>
              <a:rPr lang="en-US" sz="1100" dirty="0">
                <a:solidFill>
                  <a:schemeClr val="accent2"/>
                </a:solidFill>
              </a:rPr>
              <a:t>A user trying to fit a big model, after every suggested fix</a:t>
            </a:r>
            <a:endParaRPr lang="en-US" sz="1100" dirty="0"/>
          </a:p>
        </p:txBody>
      </p:sp>
      <p:sp>
        <p:nvSpPr>
          <p:cNvPr id="8" name="Shape 5"/>
          <p:cNvSpPr/>
          <p:nvPr/>
        </p:nvSpPr>
        <p:spPr>
          <a:xfrm>
            <a:off x="3246120" y="1280160"/>
            <a:ext cx="2606040" cy="2331720"/>
          </a:xfrm>
          <a:prstGeom prst="rect">
            <a:avLst/>
          </a:prstGeom>
          <a:solidFill>
            <a:schemeClr val="tx1"/>
          </a:solidFill>
          <a:ln w="19050">
            <a:solidFill>
              <a:schemeClr val="tx1"/>
            </a:solidFill>
            <a:prstDash val="solid"/>
          </a:ln>
        </p:spPr>
      </p:sp>
      <p:pic>
        <p:nvPicPr>
          <p:cNvPr id="9" name="Image 1" descr="preencoded.png">    </p:cNvPr>
          <p:cNvPicPr>
            <a:picLocks noChangeAspect="1"/>
          </p:cNvPicPr>
          <p:nvPr/>
        </p:nvPicPr>
        <p:blipFill>
          <a:blip r:embed="rId2"/>
          <a:stretch>
            <a:fillRect/>
          </a:stretch>
        </p:blipFill>
        <p:spPr>
          <a:xfrm>
            <a:off x="3474720" y="1463040"/>
            <a:ext cx="365760" cy="365760"/>
          </a:xfrm>
          <a:prstGeom prst="rect">
            <a:avLst/>
          </a:prstGeom>
        </p:spPr>
      </p:pic>
      <p:sp>
        <p:nvSpPr>
          <p:cNvPr id="10" name="Text 6"/>
          <p:cNvSpPr txBox="1"/>
          <p:nvPr/>
        </p:nvSpPr>
        <p:spPr>
          <a:xfrm>
            <a:off x="3474720" y="1965960"/>
            <a:ext cx="2148840" cy="1005840"/>
          </a:xfrm>
          <a:prstGeom prst="rect">
            <a:avLst/>
          </a:prstGeom>
          <a:noFill/>
          <a:ln/>
        </p:spPr>
        <p:txBody>
          <a:bodyPr wrap="square" lIns="0" tIns="0" rIns="0" bIns="0" rtlCol="0" anchor="t"/>
          <a:lstStyle/>
          <a:p>
            <a:pPr indent="0" marL="0">
              <a:buNone/>
            </a:pPr>
            <a:r>
              <a:rPr lang="en-US" sz="1600" b="1" dirty="0">
                <a:solidFill>
                  <a:schemeClr val="bg1"/>
                </a:solidFill>
              </a:rPr>
              <a:t>“Ollama works fine directly, but the agent framework is slow.”</a:t>
            </a:r>
            <a:endParaRPr lang="en-US" sz="1600" dirty="0"/>
          </a:p>
        </p:txBody>
      </p:sp>
      <p:sp>
        <p:nvSpPr>
          <p:cNvPr id="11" name="Text 7"/>
          <p:cNvSpPr txBox="1"/>
          <p:nvPr/>
        </p:nvSpPr>
        <p:spPr>
          <a:xfrm>
            <a:off x="3474720" y="3017520"/>
            <a:ext cx="2148840" cy="502920"/>
          </a:xfrm>
          <a:prstGeom prst="rect">
            <a:avLst/>
          </a:prstGeom>
          <a:noFill/>
          <a:ln/>
        </p:spPr>
        <p:txBody>
          <a:bodyPr wrap="square" lIns="0" tIns="0" rIns="0" bIns="0" rtlCol="0" anchor="t"/>
          <a:lstStyle/>
          <a:p>
            <a:pPr indent="0" marL="0">
              <a:buNone/>
            </a:pPr>
            <a:r>
              <a:rPr lang="en-US" sz="1100" dirty="0">
                <a:solidFill>
                  <a:srgbClr val="BFBFBF"/>
                </a:solidFill>
              </a:rPr>
              <a:t>People running several local agents at once</a:t>
            </a:r>
            <a:endParaRPr lang="en-US" sz="1100" dirty="0"/>
          </a:p>
        </p:txBody>
      </p:sp>
      <p:sp>
        <p:nvSpPr>
          <p:cNvPr id="12" name="Shape 8"/>
          <p:cNvSpPr/>
          <p:nvPr/>
        </p:nvSpPr>
        <p:spPr>
          <a:xfrm>
            <a:off x="6035040" y="1280160"/>
            <a:ext cx="2606040" cy="2331720"/>
          </a:xfrm>
          <a:prstGeom prst="rect">
            <a:avLst/>
          </a:prstGeom>
          <a:solidFill>
            <a:schemeClr val="bg1"/>
          </a:solidFill>
          <a:ln w="19050">
            <a:solidFill>
              <a:schemeClr val="tx1"/>
            </a:solidFill>
            <a:prstDash val="solid"/>
          </a:ln>
        </p:spPr>
      </p:sp>
      <p:pic>
        <p:nvPicPr>
          <p:cNvPr id="13" name="Image 2" descr="preencoded.png">    </p:cNvPr>
          <p:cNvPicPr>
            <a:picLocks noChangeAspect="1"/>
          </p:cNvPicPr>
          <p:nvPr/>
        </p:nvPicPr>
        <p:blipFill>
          <a:blip r:embed="rId3"/>
          <a:stretch>
            <a:fillRect/>
          </a:stretch>
        </p:blipFill>
        <p:spPr>
          <a:xfrm>
            <a:off x="6263640" y="1463040"/>
            <a:ext cx="365760" cy="365760"/>
          </a:xfrm>
          <a:prstGeom prst="rect">
            <a:avLst/>
          </a:prstGeom>
        </p:spPr>
      </p:pic>
      <p:sp>
        <p:nvSpPr>
          <p:cNvPr id="14" name="Text 9"/>
          <p:cNvSpPr txBox="1"/>
          <p:nvPr/>
        </p:nvSpPr>
        <p:spPr>
          <a:xfrm>
            <a:off x="6263640" y="1965960"/>
            <a:ext cx="2148840" cy="1005840"/>
          </a:xfrm>
          <a:prstGeom prst="rect">
            <a:avLst/>
          </a:prstGeom>
          <a:noFill/>
          <a:ln/>
        </p:spPr>
        <p:txBody>
          <a:bodyPr wrap="square" lIns="0" tIns="0" rIns="0" bIns="0" rtlCol="0" anchor="t"/>
          <a:lstStyle/>
          <a:p>
            <a:pPr indent="0" marL="0">
              <a:buNone/>
            </a:pPr>
            <a:r>
              <a:rPr lang="en-US" sz="1600" b="1" dirty="0">
                <a:solidFill>
                  <a:schemeClr val="tx1"/>
                </a:solidFill>
              </a:rPr>
              <a:t>“99% wouldn't know what VRAM is.”</a:t>
            </a:r>
            <a:endParaRPr lang="en-US" sz="1600" dirty="0"/>
          </a:p>
        </p:txBody>
      </p:sp>
      <p:sp>
        <p:nvSpPr>
          <p:cNvPr id="15" name="Text 10"/>
          <p:cNvSpPr txBox="1"/>
          <p:nvPr/>
        </p:nvSpPr>
        <p:spPr>
          <a:xfrm>
            <a:off x="6263640" y="3017520"/>
            <a:ext cx="2148840" cy="502920"/>
          </a:xfrm>
          <a:prstGeom prst="rect">
            <a:avLst/>
          </a:prstGeom>
          <a:noFill/>
          <a:ln/>
        </p:spPr>
        <p:txBody>
          <a:bodyPr wrap="square" lIns="0" tIns="0" rIns="0" bIns="0" rtlCol="0" anchor="t"/>
          <a:lstStyle/>
          <a:p>
            <a:pPr indent="0" marL="0">
              <a:buNone/>
            </a:pPr>
            <a:r>
              <a:rPr lang="en-US" sz="1100" dirty="0">
                <a:solidFill>
                  <a:schemeClr val="accent2"/>
                </a:solidFill>
              </a:rPr>
              <a:t>r/LocalLLaMA, on how niche this crowd is</a:t>
            </a:r>
            <a:endParaRPr lang="en-US" sz="1100" dirty="0"/>
          </a:p>
        </p:txBody>
      </p:sp>
      <p:sp>
        <p:nvSpPr>
          <p:cNvPr id="16" name="Text 11"/>
          <p:cNvSpPr txBox="1"/>
          <p:nvPr/>
        </p:nvSpPr>
        <p:spPr>
          <a:xfrm>
            <a:off x="457200" y="3931920"/>
            <a:ext cx="8229600" cy="365760"/>
          </a:xfrm>
          <a:prstGeom prst="rect">
            <a:avLst/>
          </a:prstGeom>
          <a:noFill/>
          <a:ln/>
        </p:spPr>
        <p:txBody>
          <a:bodyPr wrap="square" lIns="0" tIns="0" rIns="0" bIns="0" rtlCol="0" anchor="ctr"/>
          <a:lstStyle/>
          <a:p>
            <a:pPr indent="0" marL="0">
              <a:buNone/>
            </a:pPr>
            <a:r>
              <a:rPr lang="en-US" sz="1500" b="1" dirty="0">
                <a:solidFill>
                  <a:schemeClr val="tx1"/>
                </a:solidFill>
              </a:rPr>
              <a:t>Insight: </a:t>
            </a:r>
            <a:pPr indent="0" marL="0">
              <a:buNone/>
            </a:pPr>
            <a:r>
              <a:rPr lang="en-US" sz="1500" dirty="0">
                <a:solidFill>
                  <a:schemeClr val="tx1"/>
                </a:solidFill>
              </a:rPr>
              <a:t>the pain is real, and people hit it without being asked.</a:t>
            </a:r>
            <a:endParaRPr lang="en-US" sz="15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6766560" cy="685800"/>
          </a:xfrm>
          <a:prstGeom prst="rect">
            <a:avLst/>
          </a:prstGeom>
          <a:noFill/>
          <a:ln/>
        </p:spPr>
        <p:txBody>
          <a:bodyPr wrap="square" lIns="0" tIns="0" rIns="0" bIns="0" rtlCol="0" anchor="ctr"/>
          <a:lstStyle/>
          <a:p>
            <a:pPr algn="l" indent="0" marL="0">
              <a:buNone/>
            </a:pPr>
            <a:r>
              <a:rPr lang="en-US" sz="3200" b="1" dirty="0">
                <a:solidFill>
                  <a:schemeClr val="tx1"/>
                </a:solidFill>
              </a:rPr>
              <a:t>Meet our user</a:t>
            </a:r>
            <a:endParaRPr lang="en-US" sz="3200" dirty="0"/>
          </a:p>
        </p:txBody>
      </p:sp>
      <p:sp>
        <p:nvSpPr>
          <p:cNvPr id="3" name="Text 0"/>
          <p:cNvSpPr/>
          <p:nvPr>
            <p:ph idx="101" type="body" hasCustomPrompt="1"/>
          </p:nvPr>
        </p:nvSpPr>
        <p:spPr>
          <a:xfrm>
            <a:off x="7223760" y="411480"/>
            <a:ext cx="1463040" cy="365760"/>
          </a:xfrm>
          <a:prstGeom prst="rect">
            <a:avLst/>
          </a:prstGeom>
          <a:noFill/>
          <a:ln/>
        </p:spPr>
        <p:txBody>
          <a:bodyPr wrap="square" lIns="0" tIns="0" rIns="0" bIns="0" rtlCol="0" anchor="ctr"/>
          <a:lstStyle/>
          <a:p>
            <a:pPr algn="r" indent="0" marL="0">
              <a:buNone/>
            </a:pPr>
            <a:r>
              <a:rPr lang="en-US" sz="1100" b="1" dirty="0">
                <a:solidFill>
                  <a:schemeClr val="accent3"/>
                </a:solidFill>
              </a:rPr>
              <a:t>01 EMPATHIZE</a:t>
            </a:r>
            <a:endParaRPr lang="en-US" sz="1100" dirty="0"/>
          </a:p>
        </p:txBody>
      </p:sp>
      <p:sp>
        <p:nvSpPr>
          <p:cNvPr id="4" name="Shape 2"/>
          <p:cNvSpPr/>
          <p:nvPr/>
        </p:nvSpPr>
        <p:spPr>
          <a:xfrm>
            <a:off x="457200" y="1234440"/>
            <a:ext cx="2743200" cy="3200400"/>
          </a:xfrm>
          <a:prstGeom prst="rect">
            <a:avLst/>
          </a:prstGeom>
          <a:solidFill>
            <a:schemeClr val="tx1"/>
          </a:solidFill>
          <a:ln w="12700">
            <a:solidFill>
              <a:schemeClr val="tx1"/>
            </a:solidFill>
            <a:prstDash val="solid"/>
          </a:ln>
        </p:spPr>
      </p:sp>
      <p:sp>
        <p:nvSpPr>
          <p:cNvPr id="5" name="circle-FaUser"/>
          <p:cNvSpPr/>
          <p:nvPr/>
        </p:nvSpPr>
        <p:spPr>
          <a:xfrm>
            <a:off x="1234440" y="1508760"/>
            <a:ext cx="1188720" cy="1188720"/>
          </a:xfrm>
          <a:prstGeom prst="ellipse">
            <a:avLst/>
          </a:prstGeom>
          <a:solidFill>
            <a:schemeClr val="bg1"/>
          </a:solidFill>
          <a:ln w="12700">
            <a:solidFill>
              <a:schemeClr val="bg1"/>
            </a:solidFill>
            <a:prstDash val="solid"/>
          </a:ln>
        </p:spPr>
      </p:sp>
      <p:pic>
        <p:nvPicPr>
          <p:cNvPr id="6" name="icon-FaUser" descr="preencoded.png">    </p:cNvPr>
          <p:cNvPicPr>
            <a:picLocks noChangeAspect="1"/>
          </p:cNvPicPr>
          <p:nvPr/>
        </p:nvPicPr>
        <p:blipFill>
          <a:blip r:embed="rId1"/>
          <a:stretch>
            <a:fillRect/>
          </a:stretch>
        </p:blipFill>
        <p:spPr>
          <a:xfrm>
            <a:off x="1531620" y="1805940"/>
            <a:ext cx="594360" cy="594360"/>
          </a:xfrm>
          <a:prstGeom prst="rect">
            <a:avLst/>
          </a:prstGeom>
        </p:spPr>
      </p:pic>
      <p:sp>
        <p:nvSpPr>
          <p:cNvPr id="7" name="Text 4"/>
          <p:cNvSpPr txBox="1"/>
          <p:nvPr/>
        </p:nvSpPr>
        <p:spPr>
          <a:xfrm>
            <a:off x="640080" y="2880360"/>
            <a:ext cx="2377440" cy="411480"/>
          </a:xfrm>
          <a:prstGeom prst="rect">
            <a:avLst/>
          </a:prstGeom>
          <a:noFill/>
          <a:ln/>
        </p:spPr>
        <p:txBody>
          <a:bodyPr wrap="square" lIns="0" tIns="0" rIns="0" bIns="0" rtlCol="0" anchor="ctr"/>
          <a:lstStyle/>
          <a:p>
            <a:pPr algn="ctr" indent="0" marL="0">
              <a:buNone/>
            </a:pPr>
            <a:r>
              <a:rPr lang="en-US" sz="1800" b="1" dirty="0">
                <a:solidFill>
                  <a:schemeClr val="bg1"/>
                </a:solidFill>
              </a:rPr>
              <a:t>The local AI builder</a:t>
            </a:r>
            <a:endParaRPr lang="en-US" sz="1800" dirty="0"/>
          </a:p>
        </p:txBody>
      </p:sp>
      <p:sp>
        <p:nvSpPr>
          <p:cNvPr id="8" name="Text 5"/>
          <p:cNvSpPr txBox="1"/>
          <p:nvPr/>
        </p:nvSpPr>
        <p:spPr>
          <a:xfrm>
            <a:off x="640080" y="3337560"/>
            <a:ext cx="2377440" cy="731520"/>
          </a:xfrm>
          <a:prstGeom prst="rect">
            <a:avLst/>
          </a:prstGeom>
          <a:noFill/>
          <a:ln/>
        </p:spPr>
        <p:txBody>
          <a:bodyPr wrap="square" lIns="0" tIns="0" rIns="0" bIns="0" rtlCol="0" anchor="t"/>
          <a:lstStyle/>
          <a:p>
            <a:pPr algn="ctr" indent="0" marL="0">
              <a:buNone/>
            </a:pPr>
            <a:r>
              <a:rPr lang="en-US" sz="1400" i="1" dirty="0">
                <a:solidFill>
                  <a:srgbClr val="BFBFBF"/>
                </a:solidFill>
              </a:rPr>
              <a:t>“My GPU isn't being used well.”</a:t>
            </a:r>
            <a:endParaRPr lang="en-US" sz="1400" dirty="0"/>
          </a:p>
        </p:txBody>
      </p:sp>
      <p:sp>
        <p:nvSpPr>
          <p:cNvPr id="9" name="Text 6"/>
          <p:cNvSpPr txBox="1"/>
          <p:nvPr/>
        </p:nvSpPr>
        <p:spPr>
          <a:xfrm>
            <a:off x="3566160" y="1280160"/>
            <a:ext cx="5120640" cy="274320"/>
          </a:xfrm>
          <a:prstGeom prst="rect">
            <a:avLst/>
          </a:prstGeom>
          <a:noFill/>
          <a:ln/>
        </p:spPr>
        <p:txBody>
          <a:bodyPr wrap="square" lIns="0" tIns="0" rIns="0" bIns="0" rtlCol="0" anchor="ctr"/>
          <a:lstStyle/>
          <a:p>
            <a:pPr indent="0" marL="0">
              <a:buNone/>
            </a:pPr>
            <a:r>
              <a:rPr lang="en-US" sz="1100" b="1" spc="100" kern="0" dirty="0">
                <a:solidFill>
                  <a:schemeClr val="accent3"/>
                </a:solidFill>
              </a:rPr>
              <a:t>HARDWARE</a:t>
            </a:r>
            <a:endParaRPr lang="en-US" sz="1100" dirty="0"/>
          </a:p>
        </p:txBody>
      </p:sp>
      <p:sp>
        <p:nvSpPr>
          <p:cNvPr id="10" name="Text 7"/>
          <p:cNvSpPr txBox="1"/>
          <p:nvPr/>
        </p:nvSpPr>
        <p:spPr>
          <a:xfrm>
            <a:off x="3566160" y="1554480"/>
            <a:ext cx="5120640" cy="365760"/>
          </a:xfrm>
          <a:prstGeom prst="rect">
            <a:avLst/>
          </a:prstGeom>
          <a:noFill/>
          <a:ln/>
        </p:spPr>
        <p:txBody>
          <a:bodyPr wrap="square" lIns="0" tIns="0" rIns="0" bIns="0" rtlCol="0" anchor="ctr"/>
          <a:lstStyle/>
          <a:p>
            <a:pPr indent="0" marL="0">
              <a:buNone/>
            </a:pPr>
            <a:r>
              <a:rPr lang="en-US" sz="1500" dirty="0">
                <a:solidFill>
                  <a:schemeClr val="tx1"/>
                </a:solidFill>
              </a:rPr>
              <a:t>A normal 8–16 GB gaming GPU (RTX 3060 / 4060 / 5060)</a:t>
            </a:r>
            <a:endParaRPr lang="en-US" sz="1500" dirty="0"/>
          </a:p>
        </p:txBody>
      </p:sp>
      <p:sp>
        <p:nvSpPr>
          <p:cNvPr id="11" name="Text 8"/>
          <p:cNvSpPr txBox="1"/>
          <p:nvPr/>
        </p:nvSpPr>
        <p:spPr>
          <a:xfrm>
            <a:off x="3566160" y="2084832"/>
            <a:ext cx="5120640" cy="274320"/>
          </a:xfrm>
          <a:prstGeom prst="rect">
            <a:avLst/>
          </a:prstGeom>
          <a:noFill/>
          <a:ln/>
        </p:spPr>
        <p:txBody>
          <a:bodyPr wrap="square" lIns="0" tIns="0" rIns="0" bIns="0" rtlCol="0" anchor="ctr"/>
          <a:lstStyle/>
          <a:p>
            <a:pPr indent="0" marL="0">
              <a:buNone/>
            </a:pPr>
            <a:r>
              <a:rPr lang="en-US" sz="1100" b="1" spc="100" kern="0" dirty="0">
                <a:solidFill>
                  <a:schemeClr val="accent3"/>
                </a:solidFill>
              </a:rPr>
              <a:t>DAILY WORK</a:t>
            </a:r>
            <a:endParaRPr lang="en-US" sz="1100" dirty="0"/>
          </a:p>
        </p:txBody>
      </p:sp>
      <p:sp>
        <p:nvSpPr>
          <p:cNvPr id="12" name="Text 9"/>
          <p:cNvSpPr txBox="1"/>
          <p:nvPr/>
        </p:nvSpPr>
        <p:spPr>
          <a:xfrm>
            <a:off x="3566160" y="2359152"/>
            <a:ext cx="5120640" cy="365760"/>
          </a:xfrm>
          <a:prstGeom prst="rect">
            <a:avLst/>
          </a:prstGeom>
          <a:noFill/>
          <a:ln/>
        </p:spPr>
        <p:txBody>
          <a:bodyPr wrap="square" lIns="0" tIns="0" rIns="0" bIns="0" rtlCol="0" anchor="ctr"/>
          <a:lstStyle/>
          <a:p>
            <a:pPr indent="0" marL="0">
              <a:buNone/>
            </a:pPr>
            <a:r>
              <a:rPr lang="en-US" sz="1500" dirty="0">
                <a:solidFill>
                  <a:schemeClr val="tx1"/>
                </a:solidFill>
              </a:rPr>
              <a:t>Runs local coding and research agents on Ollama</a:t>
            </a:r>
            <a:endParaRPr lang="en-US" sz="1500" dirty="0"/>
          </a:p>
        </p:txBody>
      </p:sp>
      <p:sp>
        <p:nvSpPr>
          <p:cNvPr id="13" name="Text 10"/>
          <p:cNvSpPr txBox="1"/>
          <p:nvPr/>
        </p:nvSpPr>
        <p:spPr>
          <a:xfrm>
            <a:off x="3566160" y="2889504"/>
            <a:ext cx="5120640" cy="274320"/>
          </a:xfrm>
          <a:prstGeom prst="rect">
            <a:avLst/>
          </a:prstGeom>
          <a:noFill/>
          <a:ln/>
        </p:spPr>
        <p:txBody>
          <a:bodyPr wrap="square" lIns="0" tIns="0" rIns="0" bIns="0" rtlCol="0" anchor="ctr"/>
          <a:lstStyle/>
          <a:p>
            <a:pPr indent="0" marL="0">
              <a:buNone/>
            </a:pPr>
            <a:r>
              <a:rPr lang="en-US" sz="1100" b="1" spc="100" kern="0" dirty="0">
                <a:solidFill>
                  <a:schemeClr val="accent3"/>
                </a:solidFill>
              </a:rPr>
              <a:t>HABIT</a:t>
            </a:r>
            <a:endParaRPr lang="en-US" sz="1100" dirty="0"/>
          </a:p>
        </p:txBody>
      </p:sp>
      <p:sp>
        <p:nvSpPr>
          <p:cNvPr id="14" name="Text 11"/>
          <p:cNvSpPr txBox="1"/>
          <p:nvPr/>
        </p:nvSpPr>
        <p:spPr>
          <a:xfrm>
            <a:off x="3566160" y="3163824"/>
            <a:ext cx="5120640" cy="365760"/>
          </a:xfrm>
          <a:prstGeom prst="rect">
            <a:avLst/>
          </a:prstGeom>
          <a:noFill/>
          <a:ln/>
        </p:spPr>
        <p:txBody>
          <a:bodyPr wrap="square" lIns="0" tIns="0" rIns="0" bIns="0" rtlCol="0" anchor="ctr"/>
          <a:lstStyle/>
          <a:p>
            <a:pPr indent="0" marL="0">
              <a:buNone/>
            </a:pPr>
            <a:r>
              <a:rPr lang="en-US" sz="1500" dirty="0">
                <a:solidFill>
                  <a:schemeClr val="tx1"/>
                </a:solidFill>
              </a:rPr>
              <a:t>Local when possible, cloud when necessary</a:t>
            </a:r>
            <a:endParaRPr lang="en-US" sz="1500" dirty="0"/>
          </a:p>
        </p:txBody>
      </p:sp>
      <p:sp>
        <p:nvSpPr>
          <p:cNvPr id="15" name="Text 12"/>
          <p:cNvSpPr txBox="1"/>
          <p:nvPr/>
        </p:nvSpPr>
        <p:spPr>
          <a:xfrm>
            <a:off x="3566160" y="3694176"/>
            <a:ext cx="5120640" cy="274320"/>
          </a:xfrm>
          <a:prstGeom prst="rect">
            <a:avLst/>
          </a:prstGeom>
          <a:noFill/>
          <a:ln/>
        </p:spPr>
        <p:txBody>
          <a:bodyPr wrap="square" lIns="0" tIns="0" rIns="0" bIns="0" rtlCol="0" anchor="ctr"/>
          <a:lstStyle/>
          <a:p>
            <a:pPr indent="0" marL="0">
              <a:buNone/>
            </a:pPr>
            <a:r>
              <a:rPr lang="en-US" sz="1100" b="1" spc="100" kern="0" dirty="0">
                <a:solidFill>
                  <a:schemeClr val="accent3"/>
                </a:solidFill>
              </a:rPr>
              <a:t>NOT OUR USER</a:t>
            </a:r>
            <a:endParaRPr lang="en-US" sz="1100" dirty="0"/>
          </a:p>
        </p:txBody>
      </p:sp>
      <p:sp>
        <p:nvSpPr>
          <p:cNvPr id="16" name="Text 13"/>
          <p:cNvSpPr txBox="1"/>
          <p:nvPr/>
        </p:nvSpPr>
        <p:spPr>
          <a:xfrm>
            <a:off x="3566160" y="3968496"/>
            <a:ext cx="5120640" cy="365760"/>
          </a:xfrm>
          <a:prstGeom prst="rect">
            <a:avLst/>
          </a:prstGeom>
          <a:noFill/>
          <a:ln/>
        </p:spPr>
        <p:txBody>
          <a:bodyPr wrap="square" lIns="0" tIns="0" rIns="0" bIns="0" rtlCol="0" anchor="ctr"/>
          <a:lstStyle/>
          <a:p>
            <a:pPr indent="0" marL="0">
              <a:buNone/>
            </a:pPr>
            <a:r>
              <a:rPr lang="en-US" sz="1500" dirty="0">
                <a:solidFill>
                  <a:schemeClr val="tx1"/>
                </a:solidFill>
              </a:rPr>
              <a:t>Apple Silicon Macs: shared memory, nothing to split</a:t>
            </a:r>
            <a:endParaRPr lang="en-US" sz="15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822960"/>
            <a:ext cx="2926080" cy="2011680"/>
          </a:xfrm>
          <a:prstGeom prst="rect">
            <a:avLst/>
          </a:prstGeom>
          <a:noFill/>
          <a:ln/>
        </p:spPr>
        <p:txBody>
          <a:bodyPr wrap="square" lIns="0" tIns="0" rIns="0" bIns="0" rtlCol="0" anchor="b"/>
          <a:lstStyle/>
          <a:p>
            <a:pPr algn="l" indent="0" marL="0">
              <a:buNone/>
            </a:pPr>
            <a:r>
              <a:rPr lang="en-US" sz="14000" b="1" dirty="0">
                <a:solidFill>
                  <a:schemeClr val="bg1"/>
                </a:solidFill>
              </a:rPr>
              <a:t>02</a:t>
            </a:r>
            <a:endParaRPr lang="en-US" sz="14000" dirty="0"/>
          </a:p>
        </p:txBody>
      </p:sp>
      <p:sp>
        <p:nvSpPr>
          <p:cNvPr id="3" name="Text 0"/>
          <p:cNvSpPr/>
          <p:nvPr>
            <p:ph idx="101" type="title" hasCustomPrompt="1"/>
          </p:nvPr>
        </p:nvSpPr>
        <p:spPr>
          <a:xfrm>
            <a:off x="548640" y="2834640"/>
            <a:ext cx="5029200" cy="731520"/>
          </a:xfrm>
          <a:prstGeom prst="rect">
            <a:avLst/>
          </a:prstGeom>
          <a:noFill/>
          <a:ln/>
        </p:spPr>
        <p:txBody>
          <a:bodyPr wrap="square" lIns="0" tIns="0" rIns="0" bIns="0" rtlCol="0" anchor="t"/>
          <a:lstStyle/>
          <a:p>
            <a:pPr algn="l" indent="0" marL="0">
              <a:buNone/>
            </a:pPr>
            <a:r>
              <a:rPr lang="en-US" sz="4400" b="1" dirty="0">
                <a:solidFill>
                  <a:schemeClr val="bg1"/>
                </a:solidFill>
              </a:rPr>
              <a:t>Define</a:t>
            </a:r>
            <a:endParaRPr lang="en-US" sz="4400" dirty="0"/>
          </a:p>
        </p:txBody>
      </p:sp>
      <p:sp>
        <p:nvSpPr>
          <p:cNvPr id="4" name="Text 0"/>
          <p:cNvSpPr/>
          <p:nvPr>
            <p:ph idx="102" type="body" hasCustomPrompt="1"/>
          </p:nvPr>
        </p:nvSpPr>
        <p:spPr>
          <a:xfrm>
            <a:off x="548640" y="3611880"/>
            <a:ext cx="5120640" cy="1005840"/>
          </a:xfrm>
          <a:prstGeom prst="rect">
            <a:avLst/>
          </a:prstGeom>
          <a:noFill/>
          <a:ln/>
        </p:spPr>
        <p:txBody>
          <a:bodyPr wrap="square" lIns="0" tIns="0" rIns="0" bIns="0" rtlCol="0" anchor="t"/>
          <a:lstStyle/>
          <a:p>
            <a:pPr algn="l" indent="0" marL="0">
              <a:buNone/>
            </a:pPr>
            <a:r>
              <a:rPr lang="en-US" sz="1600" dirty="0">
                <a:solidFill>
                  <a:schemeClr val="bg1"/>
                </a:solidFill>
              </a:rPr>
              <a:t>Turn everything you learned into one clear, human problem statement. A good problem is half the solution.</a:t>
            </a:r>
            <a:endParaRPr lang="en-US" sz="1600" dirty="0"/>
          </a:p>
        </p:txBody>
      </p:sp>
      <p:sp>
        <p:nvSpPr>
          <p:cNvPr id="5" name="Shape 3"/>
          <p:cNvSpPr/>
          <p:nvPr/>
        </p:nvSpPr>
        <p:spPr>
          <a:xfrm>
            <a:off x="6309360" y="1325880"/>
            <a:ext cx="2377440" cy="2377440"/>
          </a:xfrm>
          <a:prstGeom prst="ellipse">
            <a:avLst/>
          </a:prstGeom>
          <a:solidFill>
            <a:schemeClr val="tx1"/>
          </a:solidFill>
          <a:ln w="25400">
            <a:solidFill>
              <a:schemeClr val="bg1"/>
            </a:solidFill>
            <a:prstDash val="solid"/>
          </a:ln>
        </p:spPr>
      </p:sp>
      <p:pic>
        <p:nvPicPr>
          <p:cNvPr id="6" name="Image 0" descr="preencoded.png">    </p:cNvPr>
          <p:cNvPicPr>
            <a:picLocks noChangeAspect="1"/>
          </p:cNvPicPr>
          <p:nvPr/>
        </p:nvPicPr>
        <p:blipFill>
          <a:blip r:embed="rId1"/>
          <a:stretch>
            <a:fillRect/>
          </a:stretch>
        </p:blipFill>
        <p:spPr>
          <a:xfrm>
            <a:off x="6903720" y="1920240"/>
            <a:ext cx="1188720" cy="1188720"/>
          </a:xfrm>
          <a:prstGeom prst="rect">
            <a:avLst/>
          </a:prstGeom>
        </p:spPr>
      </p:pic>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6766560" cy="685800"/>
          </a:xfrm>
          <a:prstGeom prst="rect">
            <a:avLst/>
          </a:prstGeom>
          <a:noFill/>
          <a:ln/>
        </p:spPr>
        <p:txBody>
          <a:bodyPr wrap="square" lIns="0" tIns="0" rIns="0" bIns="0" rtlCol="0" anchor="ctr"/>
          <a:lstStyle/>
          <a:p>
            <a:pPr algn="l" indent="0" marL="0">
              <a:buNone/>
            </a:pPr>
            <a:r>
              <a:rPr lang="en-US" sz="3200" b="1" dirty="0">
                <a:solidFill>
                  <a:schemeClr val="tx1"/>
                </a:solidFill>
              </a:rPr>
              <a:t>The problem, in one sentence</a:t>
            </a:r>
            <a:endParaRPr lang="en-US" sz="3200" dirty="0"/>
          </a:p>
        </p:txBody>
      </p:sp>
      <p:sp>
        <p:nvSpPr>
          <p:cNvPr id="3" name="Text 0"/>
          <p:cNvSpPr/>
          <p:nvPr>
            <p:ph idx="101" type="body" hasCustomPrompt="1"/>
          </p:nvPr>
        </p:nvSpPr>
        <p:spPr>
          <a:xfrm>
            <a:off x="7223760" y="411480"/>
            <a:ext cx="1463040" cy="365760"/>
          </a:xfrm>
          <a:prstGeom prst="rect">
            <a:avLst/>
          </a:prstGeom>
          <a:noFill/>
          <a:ln/>
        </p:spPr>
        <p:txBody>
          <a:bodyPr wrap="square" lIns="0" tIns="0" rIns="0" bIns="0" rtlCol="0" anchor="ctr"/>
          <a:lstStyle/>
          <a:p>
            <a:pPr algn="r" indent="0" marL="0">
              <a:buNone/>
            </a:pPr>
            <a:r>
              <a:rPr lang="en-US" sz="1100" b="1" dirty="0">
                <a:solidFill>
                  <a:schemeClr val="accent3"/>
                </a:solidFill>
              </a:rPr>
              <a:t>02 DEFINE</a:t>
            </a:r>
            <a:endParaRPr lang="en-US" sz="1100" dirty="0"/>
          </a:p>
        </p:txBody>
      </p:sp>
      <p:sp>
        <p:nvSpPr>
          <p:cNvPr id="4" name="Shape 2"/>
          <p:cNvSpPr/>
          <p:nvPr/>
        </p:nvSpPr>
        <p:spPr>
          <a:xfrm>
            <a:off x="457200" y="1188720"/>
            <a:ext cx="8229600" cy="1188720"/>
          </a:xfrm>
          <a:prstGeom prst="rect">
            <a:avLst/>
          </a:prstGeom>
          <a:solidFill>
            <a:schemeClr val="tx1"/>
          </a:solidFill>
          <a:ln w="12700">
            <a:solidFill>
              <a:schemeClr val="tx1"/>
            </a:solidFill>
            <a:prstDash val="solid"/>
          </a:ln>
        </p:spPr>
      </p:sp>
      <p:sp>
        <p:nvSpPr>
          <p:cNvPr id="5" name="Text 3"/>
          <p:cNvSpPr txBox="1"/>
          <p:nvPr/>
        </p:nvSpPr>
        <p:spPr>
          <a:xfrm>
            <a:off x="731520" y="1188720"/>
            <a:ext cx="7680960" cy="1188720"/>
          </a:xfrm>
          <a:prstGeom prst="rect">
            <a:avLst/>
          </a:prstGeom>
          <a:noFill/>
          <a:ln/>
        </p:spPr>
        <p:txBody>
          <a:bodyPr wrap="square" lIns="0" tIns="0" rIns="0" bIns="0" rtlCol="0" anchor="ctr"/>
          <a:lstStyle/>
          <a:p>
            <a:pPr indent="0" marL="0">
              <a:buNone/>
            </a:pPr>
            <a:r>
              <a:rPr lang="en-US" sz="2000" b="1" dirty="0">
                <a:solidFill>
                  <a:schemeClr val="bg1"/>
                </a:solidFill>
              </a:rPr>
              <a:t>How might we </a:t>
            </a:r>
            <a:pPr indent="0" marL="0">
              <a:buNone/>
            </a:pPr>
            <a:r>
              <a:rPr lang="en-US" sz="2000" dirty="0">
                <a:solidFill>
                  <a:schemeClr val="bg1"/>
                </a:solidFill>
              </a:rPr>
              <a:t>help people with ordinary GPUs run local AI agents faster, without changing how they work?</a:t>
            </a:r>
            <a:endParaRPr lang="en-US" sz="2000" dirty="0"/>
          </a:p>
        </p:txBody>
      </p:sp>
      <p:sp>
        <p:nvSpPr>
          <p:cNvPr id="6" name="Shape 4"/>
          <p:cNvSpPr/>
          <p:nvPr/>
        </p:nvSpPr>
        <p:spPr>
          <a:xfrm>
            <a:off x="457200" y="2651760"/>
            <a:ext cx="4023360" cy="1783080"/>
          </a:xfrm>
          <a:prstGeom prst="rect">
            <a:avLst/>
          </a:prstGeom>
          <a:solidFill>
            <a:schemeClr val="bg1"/>
          </a:solidFill>
          <a:ln w="19050">
            <a:solidFill>
              <a:schemeClr val="tx1"/>
            </a:solidFill>
            <a:prstDash val="solid"/>
          </a:ln>
        </p:spPr>
      </p:sp>
      <p:sp>
        <p:nvSpPr>
          <p:cNvPr id="7" name="Text 5"/>
          <p:cNvSpPr txBox="1"/>
          <p:nvPr/>
        </p:nvSpPr>
        <p:spPr>
          <a:xfrm>
            <a:off x="731520" y="2834640"/>
            <a:ext cx="3474720" cy="365760"/>
          </a:xfrm>
          <a:prstGeom prst="rect">
            <a:avLst/>
          </a:prstGeom>
          <a:noFill/>
          <a:ln/>
        </p:spPr>
        <p:txBody>
          <a:bodyPr wrap="square" lIns="0" tIns="0" rIns="0" bIns="0" rtlCol="0" anchor="ctr"/>
          <a:lstStyle/>
          <a:p>
            <a:pPr indent="0" marL="0">
              <a:buNone/>
            </a:pPr>
            <a:r>
              <a:rPr lang="en-US" sz="1700" b="1" dirty="0">
                <a:solidFill>
                  <a:schemeClr val="tx1"/>
                </a:solidFill>
              </a:rPr>
              <a:t>Pain 1 · A wasted GPU</a:t>
            </a:r>
            <a:endParaRPr lang="en-US" sz="1700" dirty="0"/>
          </a:p>
        </p:txBody>
      </p:sp>
      <p:sp>
        <p:nvSpPr>
          <p:cNvPr id="8" name="Text 6"/>
          <p:cNvSpPr txBox="1"/>
          <p:nvPr/>
        </p:nvSpPr>
        <p:spPr>
          <a:xfrm>
            <a:off x="731520" y="3246120"/>
            <a:ext cx="3474720" cy="1051560"/>
          </a:xfrm>
          <a:prstGeom prst="rect">
            <a:avLst/>
          </a:prstGeom>
          <a:noFill/>
          <a:ln/>
        </p:spPr>
        <p:txBody>
          <a:bodyPr wrap="square" lIns="0" tIns="0" rIns="0" bIns="0" rtlCol="0" anchor="t"/>
          <a:lstStyle/>
          <a:p>
            <a:pPr indent="0" marL="0">
              <a:buNone/>
            </a:pPr>
            <a:r>
              <a:rPr lang="en-US" sz="1400" dirty="0">
                <a:solidFill>
                  <a:schemeClr val="tx2"/>
                </a:solidFill>
              </a:rPr>
              <a:t>Ollama splits a model between GPU and CPU very cautiously. Qwen2.5-14B ran at only 12.4 tokens/s by default.</a:t>
            </a:r>
            <a:endParaRPr lang="en-US" sz="1400" dirty="0"/>
          </a:p>
        </p:txBody>
      </p:sp>
      <p:sp>
        <p:nvSpPr>
          <p:cNvPr id="9" name="Shape 7"/>
          <p:cNvSpPr/>
          <p:nvPr/>
        </p:nvSpPr>
        <p:spPr>
          <a:xfrm>
            <a:off x="4663440" y="2651760"/>
            <a:ext cx="4023360" cy="1783080"/>
          </a:xfrm>
          <a:prstGeom prst="rect">
            <a:avLst/>
          </a:prstGeom>
          <a:solidFill>
            <a:schemeClr val="bg1"/>
          </a:solidFill>
          <a:ln w="19050">
            <a:solidFill>
              <a:schemeClr val="tx1"/>
            </a:solidFill>
            <a:prstDash val="solid"/>
          </a:ln>
        </p:spPr>
      </p:sp>
      <p:sp>
        <p:nvSpPr>
          <p:cNvPr id="10" name="Text 8"/>
          <p:cNvSpPr txBox="1"/>
          <p:nvPr/>
        </p:nvSpPr>
        <p:spPr>
          <a:xfrm>
            <a:off x="4937760" y="2834640"/>
            <a:ext cx="3474720" cy="365760"/>
          </a:xfrm>
          <a:prstGeom prst="rect">
            <a:avLst/>
          </a:prstGeom>
          <a:noFill/>
          <a:ln/>
        </p:spPr>
        <p:txBody>
          <a:bodyPr wrap="square" lIns="0" tIns="0" rIns="0" bIns="0" rtlCol="0" anchor="ctr"/>
          <a:lstStyle/>
          <a:p>
            <a:pPr indent="0" marL="0">
              <a:buNone/>
            </a:pPr>
            <a:r>
              <a:rPr lang="en-US" sz="1700" b="1" dirty="0">
                <a:solidFill>
                  <a:schemeClr val="tx1"/>
                </a:solidFill>
              </a:rPr>
              <a:t>Pain 2 · Agents fight over it</a:t>
            </a:r>
            <a:endParaRPr lang="en-US" sz="1700" dirty="0"/>
          </a:p>
        </p:txBody>
      </p:sp>
      <p:sp>
        <p:nvSpPr>
          <p:cNvPr id="11" name="Text 9"/>
          <p:cNvSpPr txBox="1"/>
          <p:nvPr/>
        </p:nvSpPr>
        <p:spPr>
          <a:xfrm>
            <a:off x="4937760" y="3246120"/>
            <a:ext cx="3474720" cy="1051560"/>
          </a:xfrm>
          <a:prstGeom prst="rect">
            <a:avLst/>
          </a:prstGeom>
          <a:noFill/>
          <a:ln/>
        </p:spPr>
        <p:txBody>
          <a:bodyPr wrap="square" lIns="0" tIns="0" rIns="0" bIns="0" rtlCol="0" anchor="t"/>
          <a:lstStyle/>
          <a:p>
            <a:pPr indent="0" marL="0">
              <a:buNone/>
            </a:pPr>
            <a:r>
              <a:rPr lang="en-US" sz="1400" dirty="0">
                <a:solidFill>
                  <a:schemeClr val="tx2"/>
                </a:solidFill>
              </a:rPr>
              <a:t>With 4 agents at once, models were thrown out and reloaded again and again. The last agent waited 215 seconds.</a:t>
            </a:r>
            <a:endParaRPr lang="en-US" sz="14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822960"/>
            <a:ext cx="2926080" cy="2011680"/>
          </a:xfrm>
          <a:prstGeom prst="rect">
            <a:avLst/>
          </a:prstGeom>
          <a:noFill/>
          <a:ln/>
        </p:spPr>
        <p:txBody>
          <a:bodyPr wrap="square" lIns="0" tIns="0" rIns="0" bIns="0" rtlCol="0" anchor="b"/>
          <a:lstStyle/>
          <a:p>
            <a:pPr algn="l" indent="0" marL="0">
              <a:buNone/>
            </a:pPr>
            <a:r>
              <a:rPr lang="en-US" sz="14000" b="1" dirty="0">
                <a:solidFill>
                  <a:schemeClr val="bg1"/>
                </a:solidFill>
              </a:rPr>
              <a:t>03</a:t>
            </a:r>
            <a:endParaRPr lang="en-US" sz="14000" dirty="0"/>
          </a:p>
        </p:txBody>
      </p:sp>
      <p:sp>
        <p:nvSpPr>
          <p:cNvPr id="3" name="Text 0"/>
          <p:cNvSpPr/>
          <p:nvPr>
            <p:ph idx="101" type="title" hasCustomPrompt="1"/>
          </p:nvPr>
        </p:nvSpPr>
        <p:spPr>
          <a:xfrm>
            <a:off x="548640" y="2834640"/>
            <a:ext cx="5029200" cy="731520"/>
          </a:xfrm>
          <a:prstGeom prst="rect">
            <a:avLst/>
          </a:prstGeom>
          <a:noFill/>
          <a:ln/>
        </p:spPr>
        <p:txBody>
          <a:bodyPr wrap="square" lIns="0" tIns="0" rIns="0" bIns="0" rtlCol="0" anchor="t"/>
          <a:lstStyle/>
          <a:p>
            <a:pPr algn="l" indent="0" marL="0">
              <a:buNone/>
            </a:pPr>
            <a:r>
              <a:rPr lang="en-US" sz="4400" b="1" dirty="0">
                <a:solidFill>
                  <a:schemeClr val="bg1"/>
                </a:solidFill>
              </a:rPr>
              <a:t>Ideate</a:t>
            </a:r>
            <a:endParaRPr lang="en-US" sz="4400" dirty="0"/>
          </a:p>
        </p:txBody>
      </p:sp>
      <p:sp>
        <p:nvSpPr>
          <p:cNvPr id="4" name="Text 0"/>
          <p:cNvSpPr/>
          <p:nvPr>
            <p:ph idx="102" type="body" hasCustomPrompt="1"/>
          </p:nvPr>
        </p:nvSpPr>
        <p:spPr>
          <a:xfrm>
            <a:off x="548640" y="3611880"/>
            <a:ext cx="5120640" cy="1005840"/>
          </a:xfrm>
          <a:prstGeom prst="rect">
            <a:avLst/>
          </a:prstGeom>
          <a:noFill/>
          <a:ln/>
        </p:spPr>
        <p:txBody>
          <a:bodyPr wrap="square" lIns="0" tIns="0" rIns="0" bIns="0" rtlCol="0" anchor="t"/>
          <a:lstStyle/>
          <a:p>
            <a:pPr algn="l" indent="0" marL="0">
              <a:buNone/>
            </a:pPr>
            <a:r>
              <a:rPr lang="en-US" sz="1600" dirty="0">
                <a:solidFill>
                  <a:schemeClr val="bg1"/>
                </a:solidFill>
              </a:rPr>
              <a:t>Go wide first: list every possible fix, even the bad ones. Then keep only what the evidence supports.</a:t>
            </a:r>
            <a:endParaRPr lang="en-US" sz="1600" dirty="0"/>
          </a:p>
        </p:txBody>
      </p:sp>
      <p:sp>
        <p:nvSpPr>
          <p:cNvPr id="5" name="Shape 3"/>
          <p:cNvSpPr/>
          <p:nvPr/>
        </p:nvSpPr>
        <p:spPr>
          <a:xfrm>
            <a:off x="6309360" y="1325880"/>
            <a:ext cx="2377440" cy="2377440"/>
          </a:xfrm>
          <a:prstGeom prst="ellipse">
            <a:avLst/>
          </a:prstGeom>
          <a:solidFill>
            <a:schemeClr val="tx1"/>
          </a:solidFill>
          <a:ln w="25400">
            <a:solidFill>
              <a:schemeClr val="bg1"/>
            </a:solidFill>
            <a:prstDash val="solid"/>
          </a:ln>
        </p:spPr>
      </p:sp>
      <p:pic>
        <p:nvPicPr>
          <p:cNvPr id="6" name="Image 0" descr="preencoded.png">    </p:cNvPr>
          <p:cNvPicPr>
            <a:picLocks noChangeAspect="1"/>
          </p:cNvPicPr>
          <p:nvPr/>
        </p:nvPicPr>
        <p:blipFill>
          <a:blip r:embed="rId1"/>
          <a:stretch>
            <a:fillRect/>
          </a:stretch>
        </p:blipFill>
        <p:spPr>
          <a:xfrm>
            <a:off x="6903720" y="1920240"/>
            <a:ext cx="1188720" cy="1188720"/>
          </a:xfrm>
          <a:prstGeom prst="rect">
            <a:avLst/>
          </a:prstGeom>
        </p:spPr>
      </p:pic>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6766560" cy="685800"/>
          </a:xfrm>
          <a:prstGeom prst="rect">
            <a:avLst/>
          </a:prstGeom>
          <a:noFill/>
          <a:ln/>
        </p:spPr>
        <p:txBody>
          <a:bodyPr wrap="square" lIns="0" tIns="0" rIns="0" bIns="0" rtlCol="0" anchor="ctr"/>
          <a:lstStyle/>
          <a:p>
            <a:pPr algn="l" indent="0" marL="0">
              <a:buNone/>
            </a:pPr>
            <a:r>
              <a:rPr lang="en-US" sz="3200" b="1" dirty="0">
                <a:solidFill>
                  <a:schemeClr val="tx1"/>
                </a:solidFill>
              </a:rPr>
              <a:t>Six ideas, two winners</a:t>
            </a:r>
            <a:endParaRPr lang="en-US" sz="3200" dirty="0"/>
          </a:p>
        </p:txBody>
      </p:sp>
      <p:sp>
        <p:nvSpPr>
          <p:cNvPr id="3" name="Text 0"/>
          <p:cNvSpPr/>
          <p:nvPr>
            <p:ph idx="101" type="body" hasCustomPrompt="1"/>
          </p:nvPr>
        </p:nvSpPr>
        <p:spPr>
          <a:xfrm>
            <a:off x="7223760" y="411480"/>
            <a:ext cx="1463040" cy="365760"/>
          </a:xfrm>
          <a:prstGeom prst="rect">
            <a:avLst/>
          </a:prstGeom>
          <a:noFill/>
          <a:ln/>
        </p:spPr>
        <p:txBody>
          <a:bodyPr wrap="square" lIns="0" tIns="0" rIns="0" bIns="0" rtlCol="0" anchor="ctr"/>
          <a:lstStyle/>
          <a:p>
            <a:pPr algn="r" indent="0" marL="0">
              <a:buNone/>
            </a:pPr>
            <a:r>
              <a:rPr lang="en-US" sz="1100" b="1" dirty="0">
                <a:solidFill>
                  <a:schemeClr val="accent3"/>
                </a:solidFill>
              </a:rPr>
              <a:t>03 IDEATE</a:t>
            </a:r>
            <a:endParaRPr lang="en-US" sz="1100" dirty="0"/>
          </a:p>
        </p:txBody>
      </p:sp>
      <p:sp>
        <p:nvSpPr>
          <p:cNvPr id="4" name="Shape 2"/>
          <p:cNvSpPr/>
          <p:nvPr/>
        </p:nvSpPr>
        <p:spPr>
          <a:xfrm>
            <a:off x="457200" y="1188720"/>
            <a:ext cx="2606040" cy="1463040"/>
          </a:xfrm>
          <a:prstGeom prst="rect">
            <a:avLst/>
          </a:prstGeom>
          <a:solidFill>
            <a:schemeClr val="bg1"/>
          </a:solidFill>
          <a:ln w="19050">
            <a:solidFill>
              <a:schemeClr val="accent4"/>
            </a:solidFill>
            <a:prstDash val="solid"/>
          </a:ln>
        </p:spPr>
      </p:sp>
      <p:pic>
        <p:nvPicPr>
          <p:cNvPr id="5" name="Image 0" descr="preencoded.png">    </p:cNvPr>
          <p:cNvPicPr>
            <a:picLocks noChangeAspect="1"/>
          </p:cNvPicPr>
          <p:nvPr/>
        </p:nvPicPr>
        <p:blipFill>
          <a:blip r:embed="rId1"/>
          <a:stretch>
            <a:fillRect/>
          </a:stretch>
        </p:blipFill>
        <p:spPr>
          <a:xfrm>
            <a:off x="685800" y="1417320"/>
            <a:ext cx="274320" cy="274320"/>
          </a:xfrm>
          <a:prstGeom prst="rect">
            <a:avLst/>
          </a:prstGeom>
        </p:spPr>
      </p:pic>
      <p:sp>
        <p:nvSpPr>
          <p:cNvPr id="6" name="Text 3"/>
          <p:cNvSpPr txBox="1"/>
          <p:nvPr/>
        </p:nvSpPr>
        <p:spPr>
          <a:xfrm>
            <a:off x="1051560" y="1417320"/>
            <a:ext cx="1371600" cy="274320"/>
          </a:xfrm>
          <a:prstGeom prst="rect">
            <a:avLst/>
          </a:prstGeom>
          <a:noFill/>
          <a:ln/>
        </p:spPr>
        <p:txBody>
          <a:bodyPr wrap="square" lIns="0" tIns="0" rIns="0" bIns="0" rtlCol="0" anchor="ctr"/>
          <a:lstStyle/>
          <a:p>
            <a:pPr indent="0" marL="0">
              <a:buNone/>
            </a:pPr>
            <a:r>
              <a:rPr lang="en-US" sz="1000" b="1" dirty="0">
                <a:solidFill>
                  <a:schemeClr val="accent3"/>
                </a:solidFill>
              </a:rPr>
              <a:t>DROPPED</a:t>
            </a:r>
            <a:endParaRPr lang="en-US" sz="1000" dirty="0"/>
          </a:p>
        </p:txBody>
      </p:sp>
      <p:sp>
        <p:nvSpPr>
          <p:cNvPr id="7" name="Text 4"/>
          <p:cNvSpPr txBox="1"/>
          <p:nvPr/>
        </p:nvSpPr>
        <p:spPr>
          <a:xfrm>
            <a:off x="685800" y="1783080"/>
            <a:ext cx="2194560" cy="320040"/>
          </a:xfrm>
          <a:prstGeom prst="rect">
            <a:avLst/>
          </a:prstGeom>
          <a:noFill/>
          <a:ln/>
        </p:spPr>
        <p:txBody>
          <a:bodyPr wrap="square" lIns="0" tIns="0" rIns="0" bIns="0" rtlCol="0" anchor="ctr"/>
          <a:lstStyle/>
          <a:p>
            <a:pPr indent="0" marL="0">
              <a:buNone/>
            </a:pPr>
            <a:r>
              <a:rPr lang="en-US" sz="1500" b="1" dirty="0">
                <a:solidFill>
                  <a:schemeClr val="tx1"/>
                </a:solidFill>
              </a:rPr>
              <a:t>Buy a bigger GPU</a:t>
            </a:r>
            <a:endParaRPr lang="en-US" sz="1500" dirty="0"/>
          </a:p>
        </p:txBody>
      </p:sp>
      <p:sp>
        <p:nvSpPr>
          <p:cNvPr id="8" name="Text 5"/>
          <p:cNvSpPr txBox="1"/>
          <p:nvPr/>
        </p:nvSpPr>
        <p:spPr>
          <a:xfrm>
            <a:off x="685800" y="2103120"/>
            <a:ext cx="2194560" cy="457200"/>
          </a:xfrm>
          <a:prstGeom prst="rect">
            <a:avLst/>
          </a:prstGeom>
          <a:noFill/>
          <a:ln/>
        </p:spPr>
        <p:txBody>
          <a:bodyPr wrap="square" lIns="0" tIns="0" rIns="0" bIns="0" rtlCol="0" anchor="t"/>
          <a:lstStyle/>
          <a:p>
            <a:pPr indent="0" marL="0">
              <a:buNone/>
            </a:pPr>
            <a:r>
              <a:rPr lang="en-US" sz="1100" dirty="0">
                <a:solidFill>
                  <a:schemeClr val="accent2"/>
                </a:solidFill>
              </a:rPr>
              <a:t>Costs money. Users want to use what they own.</a:t>
            </a:r>
            <a:endParaRPr lang="en-US" sz="1100" dirty="0"/>
          </a:p>
        </p:txBody>
      </p:sp>
      <p:sp>
        <p:nvSpPr>
          <p:cNvPr id="9" name="Shape 6"/>
          <p:cNvSpPr/>
          <p:nvPr/>
        </p:nvSpPr>
        <p:spPr>
          <a:xfrm>
            <a:off x="3246120" y="1188720"/>
            <a:ext cx="2606040" cy="1463040"/>
          </a:xfrm>
          <a:prstGeom prst="rect">
            <a:avLst/>
          </a:prstGeom>
          <a:solidFill>
            <a:schemeClr val="bg1"/>
          </a:solidFill>
          <a:ln w="19050">
            <a:solidFill>
              <a:schemeClr val="accent4"/>
            </a:solidFill>
            <a:prstDash val="solid"/>
          </a:ln>
        </p:spPr>
      </p:sp>
      <p:pic>
        <p:nvPicPr>
          <p:cNvPr id="10" name="Image 1" descr="preencoded.png">    </p:cNvPr>
          <p:cNvPicPr>
            <a:picLocks noChangeAspect="1"/>
          </p:cNvPicPr>
          <p:nvPr/>
        </p:nvPicPr>
        <p:blipFill>
          <a:blip r:embed="rId2"/>
          <a:stretch>
            <a:fillRect/>
          </a:stretch>
        </p:blipFill>
        <p:spPr>
          <a:xfrm>
            <a:off x="3474720" y="1417320"/>
            <a:ext cx="274320" cy="274320"/>
          </a:xfrm>
          <a:prstGeom prst="rect">
            <a:avLst/>
          </a:prstGeom>
        </p:spPr>
      </p:pic>
      <p:sp>
        <p:nvSpPr>
          <p:cNvPr id="11" name="Text 7"/>
          <p:cNvSpPr txBox="1"/>
          <p:nvPr/>
        </p:nvSpPr>
        <p:spPr>
          <a:xfrm>
            <a:off x="3840480" y="1417320"/>
            <a:ext cx="1371600" cy="274320"/>
          </a:xfrm>
          <a:prstGeom prst="rect">
            <a:avLst/>
          </a:prstGeom>
          <a:noFill/>
          <a:ln/>
        </p:spPr>
        <p:txBody>
          <a:bodyPr wrap="square" lIns="0" tIns="0" rIns="0" bIns="0" rtlCol="0" anchor="ctr"/>
          <a:lstStyle/>
          <a:p>
            <a:pPr indent="0" marL="0">
              <a:buNone/>
            </a:pPr>
            <a:r>
              <a:rPr lang="en-US" sz="1000" b="1" dirty="0">
                <a:solidFill>
                  <a:schemeClr val="accent3"/>
                </a:solidFill>
              </a:rPr>
              <a:t>DROPPED</a:t>
            </a:r>
            <a:endParaRPr lang="en-US" sz="1000" dirty="0"/>
          </a:p>
        </p:txBody>
      </p:sp>
      <p:sp>
        <p:nvSpPr>
          <p:cNvPr id="12" name="Text 8"/>
          <p:cNvSpPr txBox="1"/>
          <p:nvPr/>
        </p:nvSpPr>
        <p:spPr>
          <a:xfrm>
            <a:off x="3474720" y="1783080"/>
            <a:ext cx="2194560" cy="320040"/>
          </a:xfrm>
          <a:prstGeom prst="rect">
            <a:avLst/>
          </a:prstGeom>
          <a:noFill/>
          <a:ln/>
        </p:spPr>
        <p:txBody>
          <a:bodyPr wrap="square" lIns="0" tIns="0" rIns="0" bIns="0" rtlCol="0" anchor="ctr"/>
          <a:lstStyle/>
          <a:p>
            <a:pPr indent="0" marL="0">
              <a:buNone/>
            </a:pPr>
            <a:r>
              <a:rPr lang="en-US" sz="1500" b="1" dirty="0">
                <a:solidFill>
                  <a:schemeClr val="tx1"/>
                </a:solidFill>
              </a:rPr>
              <a:t>Memory tiering</a:t>
            </a:r>
            <a:endParaRPr lang="en-US" sz="1500" dirty="0"/>
          </a:p>
        </p:txBody>
      </p:sp>
      <p:sp>
        <p:nvSpPr>
          <p:cNvPr id="13" name="Text 9"/>
          <p:cNvSpPr txBox="1"/>
          <p:nvPr/>
        </p:nvSpPr>
        <p:spPr>
          <a:xfrm>
            <a:off x="3474720" y="2103120"/>
            <a:ext cx="2194560" cy="457200"/>
          </a:xfrm>
          <a:prstGeom prst="rect">
            <a:avLst/>
          </a:prstGeom>
          <a:noFill/>
          <a:ln/>
        </p:spPr>
        <p:txBody>
          <a:bodyPr wrap="square" lIns="0" tIns="0" rIns="0" bIns="0" rtlCol="0" anchor="t"/>
          <a:lstStyle/>
          <a:p>
            <a:pPr indent="0" marL="0">
              <a:buNone/>
            </a:pPr>
            <a:r>
              <a:rPr lang="en-US" sz="1100" dirty="0">
                <a:solidFill>
                  <a:schemeClr val="accent2"/>
                </a:solidFill>
              </a:rPr>
              <a:t>10-phase research project. Gains did not hold up.</a:t>
            </a:r>
            <a:endParaRPr lang="en-US" sz="1100" dirty="0"/>
          </a:p>
        </p:txBody>
      </p:sp>
      <p:sp>
        <p:nvSpPr>
          <p:cNvPr id="14" name="Shape 10"/>
          <p:cNvSpPr/>
          <p:nvPr/>
        </p:nvSpPr>
        <p:spPr>
          <a:xfrm>
            <a:off x="6035040" y="1188720"/>
            <a:ext cx="2606040" cy="1463040"/>
          </a:xfrm>
          <a:prstGeom prst="rect">
            <a:avLst/>
          </a:prstGeom>
          <a:solidFill>
            <a:schemeClr val="bg1"/>
          </a:solidFill>
          <a:ln w="19050">
            <a:solidFill>
              <a:schemeClr val="accent4"/>
            </a:solidFill>
            <a:prstDash val="solid"/>
          </a:ln>
        </p:spPr>
      </p:sp>
      <p:pic>
        <p:nvPicPr>
          <p:cNvPr id="15" name="Image 2" descr="preencoded.png">    </p:cNvPr>
          <p:cNvPicPr>
            <a:picLocks noChangeAspect="1"/>
          </p:cNvPicPr>
          <p:nvPr/>
        </p:nvPicPr>
        <p:blipFill>
          <a:blip r:embed="rId3"/>
          <a:stretch>
            <a:fillRect/>
          </a:stretch>
        </p:blipFill>
        <p:spPr>
          <a:xfrm>
            <a:off x="6263640" y="1417320"/>
            <a:ext cx="274320" cy="274320"/>
          </a:xfrm>
          <a:prstGeom prst="rect">
            <a:avLst/>
          </a:prstGeom>
        </p:spPr>
      </p:pic>
      <p:sp>
        <p:nvSpPr>
          <p:cNvPr id="16" name="Text 11"/>
          <p:cNvSpPr txBox="1"/>
          <p:nvPr/>
        </p:nvSpPr>
        <p:spPr>
          <a:xfrm>
            <a:off x="6629400" y="1417320"/>
            <a:ext cx="1371600" cy="274320"/>
          </a:xfrm>
          <a:prstGeom prst="rect">
            <a:avLst/>
          </a:prstGeom>
          <a:noFill/>
          <a:ln/>
        </p:spPr>
        <p:txBody>
          <a:bodyPr wrap="square" lIns="0" tIns="0" rIns="0" bIns="0" rtlCol="0" anchor="ctr"/>
          <a:lstStyle/>
          <a:p>
            <a:pPr indent="0" marL="0">
              <a:buNone/>
            </a:pPr>
            <a:r>
              <a:rPr lang="en-US" sz="1000" b="1" dirty="0">
                <a:solidFill>
                  <a:schemeClr val="accent3"/>
                </a:solidFill>
              </a:rPr>
              <a:t>DROPPED</a:t>
            </a:r>
            <a:endParaRPr lang="en-US" sz="1000" dirty="0"/>
          </a:p>
        </p:txBody>
      </p:sp>
      <p:sp>
        <p:nvSpPr>
          <p:cNvPr id="17" name="Text 12"/>
          <p:cNvSpPr txBox="1"/>
          <p:nvPr/>
        </p:nvSpPr>
        <p:spPr>
          <a:xfrm>
            <a:off x="6263640" y="1783080"/>
            <a:ext cx="2194560" cy="320040"/>
          </a:xfrm>
          <a:prstGeom prst="rect">
            <a:avLst/>
          </a:prstGeom>
          <a:noFill/>
          <a:ln/>
        </p:spPr>
        <p:txBody>
          <a:bodyPr wrap="square" lIns="0" tIns="0" rIns="0" bIns="0" rtlCol="0" anchor="ctr"/>
          <a:lstStyle/>
          <a:p>
            <a:pPr indent="0" marL="0">
              <a:buNone/>
            </a:pPr>
            <a:r>
              <a:rPr lang="en-US" sz="1500" b="1" dirty="0">
                <a:solidFill>
                  <a:schemeClr val="tx1"/>
                </a:solidFill>
              </a:rPr>
              <a:t>MoE expert placement</a:t>
            </a:r>
            <a:endParaRPr lang="en-US" sz="1500" dirty="0"/>
          </a:p>
        </p:txBody>
      </p:sp>
      <p:sp>
        <p:nvSpPr>
          <p:cNvPr id="18" name="Text 13"/>
          <p:cNvSpPr txBox="1"/>
          <p:nvPr/>
        </p:nvSpPr>
        <p:spPr>
          <a:xfrm>
            <a:off x="6263640" y="2103120"/>
            <a:ext cx="2194560" cy="457200"/>
          </a:xfrm>
          <a:prstGeom prst="rect">
            <a:avLst/>
          </a:prstGeom>
          <a:noFill/>
          <a:ln/>
        </p:spPr>
        <p:txBody>
          <a:bodyPr wrap="square" lIns="0" tIns="0" rIns="0" bIns="0" rtlCol="0" anchor="t"/>
          <a:lstStyle/>
          <a:p>
            <a:pPr indent="0" marL="0">
              <a:buNone/>
            </a:pPr>
            <a:r>
              <a:rPr lang="en-US" sz="1100" dirty="0">
                <a:solidFill>
                  <a:schemeClr val="accent2"/>
                </a:solidFill>
              </a:rPr>
              <a:t>Real win, but Ollama's API can't reach it.</a:t>
            </a:r>
            <a:endParaRPr lang="en-US" sz="1100" dirty="0"/>
          </a:p>
        </p:txBody>
      </p:sp>
      <p:sp>
        <p:nvSpPr>
          <p:cNvPr id="19" name="Shape 14"/>
          <p:cNvSpPr/>
          <p:nvPr/>
        </p:nvSpPr>
        <p:spPr>
          <a:xfrm>
            <a:off x="457200" y="2834640"/>
            <a:ext cx="2606040" cy="1463040"/>
          </a:xfrm>
          <a:prstGeom prst="rect">
            <a:avLst/>
          </a:prstGeom>
          <a:solidFill>
            <a:schemeClr val="bg1"/>
          </a:solidFill>
          <a:ln w="19050">
            <a:solidFill>
              <a:schemeClr val="accent4"/>
            </a:solidFill>
            <a:prstDash val="solid"/>
          </a:ln>
        </p:spPr>
      </p:sp>
      <p:pic>
        <p:nvPicPr>
          <p:cNvPr id="20" name="Image 3" descr="preencoded.png">    </p:cNvPr>
          <p:cNvPicPr>
            <a:picLocks noChangeAspect="1"/>
          </p:cNvPicPr>
          <p:nvPr/>
        </p:nvPicPr>
        <p:blipFill>
          <a:blip r:embed="rId4"/>
          <a:stretch>
            <a:fillRect/>
          </a:stretch>
        </p:blipFill>
        <p:spPr>
          <a:xfrm>
            <a:off x="685800" y="3063240"/>
            <a:ext cx="274320" cy="274320"/>
          </a:xfrm>
          <a:prstGeom prst="rect">
            <a:avLst/>
          </a:prstGeom>
        </p:spPr>
      </p:pic>
      <p:sp>
        <p:nvSpPr>
          <p:cNvPr id="21" name="Text 15"/>
          <p:cNvSpPr txBox="1"/>
          <p:nvPr/>
        </p:nvSpPr>
        <p:spPr>
          <a:xfrm>
            <a:off x="1051560" y="3063240"/>
            <a:ext cx="1371600" cy="274320"/>
          </a:xfrm>
          <a:prstGeom prst="rect">
            <a:avLst/>
          </a:prstGeom>
          <a:noFill/>
          <a:ln/>
        </p:spPr>
        <p:txBody>
          <a:bodyPr wrap="square" lIns="0" tIns="0" rIns="0" bIns="0" rtlCol="0" anchor="ctr"/>
          <a:lstStyle/>
          <a:p>
            <a:pPr indent="0" marL="0">
              <a:buNone/>
            </a:pPr>
            <a:r>
              <a:rPr lang="en-US" sz="1000" b="1" dirty="0">
                <a:solidFill>
                  <a:schemeClr val="accent3"/>
                </a:solidFill>
              </a:rPr>
              <a:t>DROPPED</a:t>
            </a:r>
            <a:endParaRPr lang="en-US" sz="1000" dirty="0"/>
          </a:p>
        </p:txBody>
      </p:sp>
      <p:sp>
        <p:nvSpPr>
          <p:cNvPr id="22" name="Text 16"/>
          <p:cNvSpPr txBox="1"/>
          <p:nvPr/>
        </p:nvSpPr>
        <p:spPr>
          <a:xfrm>
            <a:off x="685800" y="3429000"/>
            <a:ext cx="2194560" cy="320040"/>
          </a:xfrm>
          <a:prstGeom prst="rect">
            <a:avLst/>
          </a:prstGeom>
          <a:noFill/>
          <a:ln/>
        </p:spPr>
        <p:txBody>
          <a:bodyPr wrap="square" lIns="0" tIns="0" rIns="0" bIns="0" rtlCol="0" anchor="ctr"/>
          <a:lstStyle/>
          <a:p>
            <a:pPr indent="0" marL="0">
              <a:buNone/>
            </a:pPr>
            <a:r>
              <a:rPr lang="en-US" sz="1500" b="1" dirty="0">
                <a:solidFill>
                  <a:schemeClr val="tx1"/>
                </a:solidFill>
              </a:rPr>
              <a:t>Shared model memory</a:t>
            </a:r>
            <a:endParaRPr lang="en-US" sz="1500" dirty="0"/>
          </a:p>
        </p:txBody>
      </p:sp>
      <p:sp>
        <p:nvSpPr>
          <p:cNvPr id="23" name="Text 17"/>
          <p:cNvSpPr txBox="1"/>
          <p:nvPr/>
        </p:nvSpPr>
        <p:spPr>
          <a:xfrm>
            <a:off x="685800" y="3749040"/>
            <a:ext cx="2194560" cy="457200"/>
          </a:xfrm>
          <a:prstGeom prst="rect">
            <a:avLst/>
          </a:prstGeom>
          <a:noFill/>
          <a:ln/>
        </p:spPr>
        <p:txBody>
          <a:bodyPr wrap="square" lIns="0" tIns="0" rIns="0" bIns="0" rtlCol="0" anchor="t"/>
          <a:lstStyle/>
          <a:p>
            <a:pPr indent="0" marL="0">
              <a:buNone/>
            </a:pPr>
            <a:r>
              <a:rPr lang="en-US" sz="1100" dirty="0">
                <a:solidFill>
                  <a:schemeClr val="accent2"/>
                </a:solidFill>
              </a:rPr>
              <a:t>Ollama already does this well enough.</a:t>
            </a:r>
            <a:endParaRPr lang="en-US" sz="1100" dirty="0"/>
          </a:p>
        </p:txBody>
      </p:sp>
      <p:sp>
        <p:nvSpPr>
          <p:cNvPr id="24" name="Shape 18"/>
          <p:cNvSpPr/>
          <p:nvPr/>
        </p:nvSpPr>
        <p:spPr>
          <a:xfrm>
            <a:off x="3246120" y="2834640"/>
            <a:ext cx="2606040" cy="1463040"/>
          </a:xfrm>
          <a:prstGeom prst="rect">
            <a:avLst/>
          </a:prstGeom>
          <a:solidFill>
            <a:schemeClr val="tx1"/>
          </a:solidFill>
          <a:ln w="19050">
            <a:solidFill>
              <a:schemeClr val="tx1"/>
            </a:solidFill>
            <a:prstDash val="solid"/>
          </a:ln>
        </p:spPr>
      </p:sp>
      <p:pic>
        <p:nvPicPr>
          <p:cNvPr id="25" name="Image 4" descr="preencoded.png">    </p:cNvPr>
          <p:cNvPicPr>
            <a:picLocks noChangeAspect="1"/>
          </p:cNvPicPr>
          <p:nvPr/>
        </p:nvPicPr>
        <p:blipFill>
          <a:blip r:embed="rId5"/>
          <a:stretch>
            <a:fillRect/>
          </a:stretch>
        </p:blipFill>
        <p:spPr>
          <a:xfrm>
            <a:off x="3474720" y="3063240"/>
            <a:ext cx="274320" cy="274320"/>
          </a:xfrm>
          <a:prstGeom prst="rect">
            <a:avLst/>
          </a:prstGeom>
        </p:spPr>
      </p:pic>
      <p:sp>
        <p:nvSpPr>
          <p:cNvPr id="26" name="Text 19"/>
          <p:cNvSpPr txBox="1"/>
          <p:nvPr/>
        </p:nvSpPr>
        <p:spPr>
          <a:xfrm>
            <a:off x="3840480" y="3063240"/>
            <a:ext cx="1371600" cy="274320"/>
          </a:xfrm>
          <a:prstGeom prst="rect">
            <a:avLst/>
          </a:prstGeom>
          <a:noFill/>
          <a:ln/>
        </p:spPr>
        <p:txBody>
          <a:bodyPr wrap="square" lIns="0" tIns="0" rIns="0" bIns="0" rtlCol="0" anchor="ctr"/>
          <a:lstStyle/>
          <a:p>
            <a:pPr indent="0" marL="0">
              <a:buNone/>
            </a:pPr>
            <a:r>
              <a:rPr lang="en-US" sz="1000" b="1" dirty="0">
                <a:solidFill>
                  <a:srgbClr val="BFBFBF"/>
                </a:solidFill>
              </a:rPr>
              <a:t>CHOSEN</a:t>
            </a:r>
            <a:endParaRPr lang="en-US" sz="1000" dirty="0"/>
          </a:p>
        </p:txBody>
      </p:sp>
      <p:sp>
        <p:nvSpPr>
          <p:cNvPr id="27" name="Text 20"/>
          <p:cNvSpPr txBox="1"/>
          <p:nvPr/>
        </p:nvSpPr>
        <p:spPr>
          <a:xfrm>
            <a:off x="3474720" y="3429000"/>
            <a:ext cx="2194560" cy="320040"/>
          </a:xfrm>
          <a:prstGeom prst="rect">
            <a:avLst/>
          </a:prstGeom>
          <a:noFill/>
          <a:ln/>
        </p:spPr>
        <p:txBody>
          <a:bodyPr wrap="square" lIns="0" tIns="0" rIns="0" bIns="0" rtlCol="0" anchor="ctr"/>
          <a:lstStyle/>
          <a:p>
            <a:pPr indent="0" marL="0">
              <a:buNone/>
            </a:pPr>
            <a:r>
              <a:rPr lang="en-US" sz="1500" b="1" dirty="0">
                <a:solidFill>
                  <a:schemeClr val="bg1"/>
                </a:solidFill>
              </a:rPr>
              <a:t>Smart layer placement</a:t>
            </a:r>
            <a:endParaRPr lang="en-US" sz="1500" dirty="0"/>
          </a:p>
        </p:txBody>
      </p:sp>
      <p:sp>
        <p:nvSpPr>
          <p:cNvPr id="28" name="Text 21"/>
          <p:cNvSpPr txBox="1"/>
          <p:nvPr/>
        </p:nvSpPr>
        <p:spPr>
          <a:xfrm>
            <a:off x="3474720" y="3749040"/>
            <a:ext cx="2194560" cy="457200"/>
          </a:xfrm>
          <a:prstGeom prst="rect">
            <a:avLst/>
          </a:prstGeom>
          <a:noFill/>
          <a:ln/>
        </p:spPr>
        <p:txBody>
          <a:bodyPr wrap="square" lIns="0" tIns="0" rIns="0" bIns="0" rtlCol="0" anchor="t"/>
          <a:lstStyle/>
          <a:p>
            <a:pPr indent="0" marL="0">
              <a:buNone/>
            </a:pPr>
            <a:r>
              <a:rPr lang="en-US" sz="1100" dirty="0">
                <a:solidFill>
                  <a:srgbClr val="D9D9D9"/>
                </a:solidFill>
              </a:rPr>
              <a:t>Find the best GPU/CPU split per model and context.</a:t>
            </a:r>
            <a:endParaRPr lang="en-US" sz="1100" dirty="0"/>
          </a:p>
        </p:txBody>
      </p:sp>
      <p:sp>
        <p:nvSpPr>
          <p:cNvPr id="29" name="Shape 22"/>
          <p:cNvSpPr/>
          <p:nvPr/>
        </p:nvSpPr>
        <p:spPr>
          <a:xfrm>
            <a:off x="6035040" y="2834640"/>
            <a:ext cx="2606040" cy="1463040"/>
          </a:xfrm>
          <a:prstGeom prst="rect">
            <a:avLst/>
          </a:prstGeom>
          <a:solidFill>
            <a:schemeClr val="tx1"/>
          </a:solidFill>
          <a:ln w="19050">
            <a:solidFill>
              <a:schemeClr val="tx1"/>
            </a:solidFill>
            <a:prstDash val="solid"/>
          </a:ln>
        </p:spPr>
      </p:sp>
      <p:pic>
        <p:nvPicPr>
          <p:cNvPr id="30" name="Image 5" descr="preencoded.png">    </p:cNvPr>
          <p:cNvPicPr>
            <a:picLocks noChangeAspect="1"/>
          </p:cNvPicPr>
          <p:nvPr/>
        </p:nvPicPr>
        <p:blipFill>
          <a:blip r:embed="rId6"/>
          <a:stretch>
            <a:fillRect/>
          </a:stretch>
        </p:blipFill>
        <p:spPr>
          <a:xfrm>
            <a:off x="6263640" y="3063240"/>
            <a:ext cx="274320" cy="274320"/>
          </a:xfrm>
          <a:prstGeom prst="rect">
            <a:avLst/>
          </a:prstGeom>
        </p:spPr>
      </p:pic>
      <p:sp>
        <p:nvSpPr>
          <p:cNvPr id="31" name="Text 23"/>
          <p:cNvSpPr txBox="1"/>
          <p:nvPr/>
        </p:nvSpPr>
        <p:spPr>
          <a:xfrm>
            <a:off x="6629400" y="3063240"/>
            <a:ext cx="1371600" cy="274320"/>
          </a:xfrm>
          <a:prstGeom prst="rect">
            <a:avLst/>
          </a:prstGeom>
          <a:noFill/>
          <a:ln/>
        </p:spPr>
        <p:txBody>
          <a:bodyPr wrap="square" lIns="0" tIns="0" rIns="0" bIns="0" rtlCol="0" anchor="ctr"/>
          <a:lstStyle/>
          <a:p>
            <a:pPr indent="0" marL="0">
              <a:buNone/>
            </a:pPr>
            <a:r>
              <a:rPr lang="en-US" sz="1000" b="1" dirty="0">
                <a:solidFill>
                  <a:srgbClr val="BFBFBF"/>
                </a:solidFill>
              </a:rPr>
              <a:t>CHOSEN</a:t>
            </a:r>
            <a:endParaRPr lang="en-US" sz="1000" dirty="0"/>
          </a:p>
        </p:txBody>
      </p:sp>
      <p:sp>
        <p:nvSpPr>
          <p:cNvPr id="32" name="Text 24"/>
          <p:cNvSpPr txBox="1"/>
          <p:nvPr/>
        </p:nvSpPr>
        <p:spPr>
          <a:xfrm>
            <a:off x="6263640" y="3429000"/>
            <a:ext cx="2194560" cy="320040"/>
          </a:xfrm>
          <a:prstGeom prst="rect">
            <a:avLst/>
          </a:prstGeom>
          <a:noFill/>
          <a:ln/>
        </p:spPr>
        <p:txBody>
          <a:bodyPr wrap="square" lIns="0" tIns="0" rIns="0" bIns="0" rtlCol="0" anchor="ctr"/>
          <a:lstStyle/>
          <a:p>
            <a:pPr indent="0" marL="0">
              <a:buNone/>
            </a:pPr>
            <a:r>
              <a:rPr lang="en-US" sz="1500" b="1" dirty="0">
                <a:solidFill>
                  <a:schemeClr val="bg1"/>
                </a:solidFill>
              </a:rPr>
              <a:t>Multi-agent scheduler</a:t>
            </a:r>
            <a:endParaRPr lang="en-US" sz="1500" dirty="0"/>
          </a:p>
        </p:txBody>
      </p:sp>
      <p:sp>
        <p:nvSpPr>
          <p:cNvPr id="33" name="Text 25"/>
          <p:cNvSpPr txBox="1"/>
          <p:nvPr/>
        </p:nvSpPr>
        <p:spPr>
          <a:xfrm>
            <a:off x="6263640" y="3749040"/>
            <a:ext cx="2194560" cy="457200"/>
          </a:xfrm>
          <a:prstGeom prst="rect">
            <a:avLst/>
          </a:prstGeom>
          <a:noFill/>
          <a:ln/>
        </p:spPr>
        <p:txBody>
          <a:bodyPr wrap="square" lIns="0" tIns="0" rIns="0" bIns="0" rtlCol="0" anchor="t"/>
          <a:lstStyle/>
          <a:p>
            <a:pPr indent="0" marL="0">
              <a:buNone/>
            </a:pPr>
            <a:r>
              <a:rPr lang="en-US" sz="1100" dirty="0">
                <a:solidFill>
                  <a:srgbClr val="D9D9D9"/>
                </a:solidFill>
              </a:rPr>
              <a:t>Stop agents from kicking each other off the GPU.</a:t>
            </a:r>
            <a:endParaRPr lang="en-US" sz="11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822960"/>
            <a:ext cx="2926080" cy="2011680"/>
          </a:xfrm>
          <a:prstGeom prst="rect">
            <a:avLst/>
          </a:prstGeom>
          <a:noFill/>
          <a:ln/>
        </p:spPr>
        <p:txBody>
          <a:bodyPr wrap="square" lIns="0" tIns="0" rIns="0" bIns="0" rtlCol="0" anchor="b"/>
          <a:lstStyle/>
          <a:p>
            <a:pPr algn="l" indent="0" marL="0">
              <a:buNone/>
            </a:pPr>
            <a:r>
              <a:rPr lang="en-US" sz="14000" b="1" dirty="0">
                <a:solidFill>
                  <a:schemeClr val="bg1"/>
                </a:solidFill>
              </a:rPr>
              <a:t>04</a:t>
            </a:r>
            <a:endParaRPr lang="en-US" sz="14000" dirty="0"/>
          </a:p>
        </p:txBody>
      </p:sp>
      <p:sp>
        <p:nvSpPr>
          <p:cNvPr id="3" name="Text 0"/>
          <p:cNvSpPr/>
          <p:nvPr>
            <p:ph idx="101" type="title" hasCustomPrompt="1"/>
          </p:nvPr>
        </p:nvSpPr>
        <p:spPr>
          <a:xfrm>
            <a:off x="548640" y="2834640"/>
            <a:ext cx="5029200" cy="731520"/>
          </a:xfrm>
          <a:prstGeom prst="rect">
            <a:avLst/>
          </a:prstGeom>
          <a:noFill/>
          <a:ln/>
        </p:spPr>
        <p:txBody>
          <a:bodyPr wrap="square" lIns="0" tIns="0" rIns="0" bIns="0" rtlCol="0" anchor="t"/>
          <a:lstStyle/>
          <a:p>
            <a:pPr algn="l" indent="0" marL="0">
              <a:buNone/>
            </a:pPr>
            <a:r>
              <a:rPr lang="en-US" sz="4400" b="1" dirty="0">
                <a:solidFill>
                  <a:schemeClr val="bg1"/>
                </a:solidFill>
              </a:rPr>
              <a:t>Prototype</a:t>
            </a:r>
            <a:endParaRPr lang="en-US" sz="4400" dirty="0"/>
          </a:p>
        </p:txBody>
      </p:sp>
      <p:sp>
        <p:nvSpPr>
          <p:cNvPr id="4" name="Text 0"/>
          <p:cNvSpPr/>
          <p:nvPr>
            <p:ph idx="102" type="body" hasCustomPrompt="1"/>
          </p:nvPr>
        </p:nvSpPr>
        <p:spPr>
          <a:xfrm>
            <a:off x="548640" y="3611880"/>
            <a:ext cx="5120640" cy="1005840"/>
          </a:xfrm>
          <a:prstGeom prst="rect">
            <a:avLst/>
          </a:prstGeom>
          <a:noFill/>
          <a:ln/>
        </p:spPr>
        <p:txBody>
          <a:bodyPr wrap="square" lIns="0" tIns="0" rIns="0" bIns="0" rtlCol="0" anchor="t"/>
          <a:lstStyle/>
          <a:p>
            <a:pPr algn="l" indent="0" marL="0">
              <a:buNone/>
            </a:pPr>
            <a:r>
              <a:rPr lang="en-US" sz="1600" dirty="0">
                <a:solidFill>
                  <a:schemeClr val="bg1"/>
                </a:solidFill>
              </a:rPr>
              <a:t>Build something real, quickly, so you can learn from it. Ramer became a proxy, a CLI and a desktop app.</a:t>
            </a:r>
            <a:endParaRPr lang="en-US" sz="1600" dirty="0"/>
          </a:p>
        </p:txBody>
      </p:sp>
      <p:sp>
        <p:nvSpPr>
          <p:cNvPr id="5" name="Shape 3"/>
          <p:cNvSpPr/>
          <p:nvPr/>
        </p:nvSpPr>
        <p:spPr>
          <a:xfrm>
            <a:off x="6309360" y="1325880"/>
            <a:ext cx="2377440" cy="2377440"/>
          </a:xfrm>
          <a:prstGeom prst="ellipse">
            <a:avLst/>
          </a:prstGeom>
          <a:solidFill>
            <a:schemeClr val="tx1"/>
          </a:solidFill>
          <a:ln w="25400">
            <a:solidFill>
              <a:schemeClr val="bg1"/>
            </a:solidFill>
            <a:prstDash val="solid"/>
          </a:ln>
        </p:spPr>
      </p:sp>
      <p:pic>
        <p:nvPicPr>
          <p:cNvPr id="6" name="Image 0" descr="preencoded.png">    </p:cNvPr>
          <p:cNvPicPr>
            <a:picLocks noChangeAspect="1"/>
          </p:cNvPicPr>
          <p:nvPr/>
        </p:nvPicPr>
        <p:blipFill>
          <a:blip r:embed="rId1"/>
          <a:stretch>
            <a:fillRect/>
          </a:stretch>
        </p:blipFill>
        <p:spPr>
          <a:xfrm>
            <a:off x="6903720" y="1920240"/>
            <a:ext cx="1188720" cy="1188720"/>
          </a:xfrm>
          <a:prstGeom prst="rect">
            <a:avLst/>
          </a:prstGeom>
        </p:spPr>
      </p:pic>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6766560" cy="685800"/>
          </a:xfrm>
          <a:prstGeom prst="rect">
            <a:avLst/>
          </a:prstGeom>
          <a:noFill/>
          <a:ln/>
        </p:spPr>
        <p:txBody>
          <a:bodyPr wrap="square" lIns="0" tIns="0" rIns="0" bIns="0" rtlCol="0" anchor="ctr"/>
          <a:lstStyle/>
          <a:p>
            <a:pPr algn="l" indent="0" marL="0">
              <a:buNone/>
            </a:pPr>
            <a:r>
              <a:rPr lang="en-US" sz="3200" b="1" dirty="0">
                <a:solidFill>
                  <a:schemeClr val="tx1"/>
                </a:solidFill>
              </a:rPr>
              <a:t>How Ramer works</a:t>
            </a:r>
            <a:endParaRPr lang="en-US" sz="3200" dirty="0"/>
          </a:p>
        </p:txBody>
      </p:sp>
      <p:sp>
        <p:nvSpPr>
          <p:cNvPr id="3" name="Text 0"/>
          <p:cNvSpPr/>
          <p:nvPr>
            <p:ph idx="101" type="body" hasCustomPrompt="1"/>
          </p:nvPr>
        </p:nvSpPr>
        <p:spPr>
          <a:xfrm>
            <a:off x="7223760" y="411480"/>
            <a:ext cx="1463040" cy="365760"/>
          </a:xfrm>
          <a:prstGeom prst="rect">
            <a:avLst/>
          </a:prstGeom>
          <a:noFill/>
          <a:ln/>
        </p:spPr>
        <p:txBody>
          <a:bodyPr wrap="square" lIns="0" tIns="0" rIns="0" bIns="0" rtlCol="0" anchor="ctr"/>
          <a:lstStyle/>
          <a:p>
            <a:pPr algn="r" indent="0" marL="0">
              <a:buNone/>
            </a:pPr>
            <a:r>
              <a:rPr lang="en-US" sz="1100" b="1" dirty="0">
                <a:solidFill>
                  <a:schemeClr val="accent3"/>
                </a:solidFill>
              </a:rPr>
              <a:t>04 PROTOTYPE</a:t>
            </a:r>
            <a:endParaRPr lang="en-US" sz="1100" dirty="0"/>
          </a:p>
        </p:txBody>
      </p:sp>
      <p:sp>
        <p:nvSpPr>
          <p:cNvPr id="4" name="circle-FaRobot"/>
          <p:cNvSpPr/>
          <p:nvPr/>
        </p:nvSpPr>
        <p:spPr>
          <a:xfrm>
            <a:off x="914400" y="1188720"/>
            <a:ext cx="822960" cy="822960"/>
          </a:xfrm>
          <a:prstGeom prst="ellipse">
            <a:avLst/>
          </a:prstGeom>
          <a:solidFill>
            <a:schemeClr val="bg1"/>
          </a:solidFill>
          <a:ln w="12700">
            <a:solidFill>
              <a:schemeClr val="bg1"/>
            </a:solidFill>
            <a:prstDash val="solid"/>
          </a:ln>
        </p:spPr>
      </p:sp>
      <p:pic>
        <p:nvPicPr>
          <p:cNvPr id="5" name="icon-FaRobot" descr="preencoded.png">    </p:cNvPr>
          <p:cNvPicPr>
            <a:picLocks noChangeAspect="1"/>
          </p:cNvPicPr>
          <p:nvPr/>
        </p:nvPicPr>
        <p:blipFill>
          <a:blip r:embed="rId1"/>
          <a:stretch>
            <a:fillRect/>
          </a:stretch>
        </p:blipFill>
        <p:spPr>
          <a:xfrm>
            <a:off x="1120140" y="1394460"/>
            <a:ext cx="411480" cy="411480"/>
          </a:xfrm>
          <a:prstGeom prst="rect">
            <a:avLst/>
          </a:prstGeom>
        </p:spPr>
      </p:pic>
      <p:sp>
        <p:nvSpPr>
          <p:cNvPr id="6" name="Shape 3"/>
          <p:cNvSpPr/>
          <p:nvPr/>
        </p:nvSpPr>
        <p:spPr>
          <a:xfrm>
            <a:off x="914400" y="1188720"/>
            <a:ext cx="822960" cy="822960"/>
          </a:xfrm>
          <a:prstGeom prst="ellipse">
            <a:avLst/>
          </a:prstGeom>
          <a:solidFill>
            <a:schemeClr val="bg1">
              <a:alpha val="0"/>
            </a:schemeClr>
          </a:solidFill>
          <a:ln w="19050">
            <a:solidFill>
              <a:schemeClr val="tx1"/>
            </a:solidFill>
            <a:prstDash val="solid"/>
          </a:ln>
        </p:spPr>
      </p:sp>
      <p:sp>
        <p:nvSpPr>
          <p:cNvPr id="7" name="Text 4"/>
          <p:cNvSpPr txBox="1"/>
          <p:nvPr/>
        </p:nvSpPr>
        <p:spPr>
          <a:xfrm>
            <a:off x="502920" y="2103120"/>
            <a:ext cx="1645920" cy="320040"/>
          </a:xfrm>
          <a:prstGeom prst="rect">
            <a:avLst/>
          </a:prstGeom>
          <a:noFill/>
          <a:ln/>
        </p:spPr>
        <p:txBody>
          <a:bodyPr wrap="square" lIns="0" tIns="0" rIns="0" bIns="0" rtlCol="0" anchor="ctr"/>
          <a:lstStyle/>
          <a:p>
            <a:pPr algn="ctr" indent="0" marL="0">
              <a:buNone/>
            </a:pPr>
            <a:r>
              <a:rPr lang="en-US" sz="1600" b="1" dirty="0">
                <a:solidFill>
                  <a:schemeClr val="tx1"/>
                </a:solidFill>
              </a:rPr>
              <a:t>Your agent</a:t>
            </a:r>
            <a:endParaRPr lang="en-US" sz="1600" dirty="0"/>
          </a:p>
        </p:txBody>
      </p:sp>
      <p:sp>
        <p:nvSpPr>
          <p:cNvPr id="8" name="Text 5"/>
          <p:cNvSpPr txBox="1"/>
          <p:nvPr/>
        </p:nvSpPr>
        <p:spPr>
          <a:xfrm>
            <a:off x="502920" y="2423160"/>
            <a:ext cx="1645920" cy="274320"/>
          </a:xfrm>
          <a:prstGeom prst="rect">
            <a:avLst/>
          </a:prstGeom>
          <a:noFill/>
          <a:ln/>
        </p:spPr>
        <p:txBody>
          <a:bodyPr wrap="square" lIns="0" tIns="0" rIns="0" bIns="0" rtlCol="0" anchor="ctr"/>
          <a:lstStyle/>
          <a:p>
            <a:pPr algn="ctr" indent="0" marL="0">
              <a:buNone/>
            </a:pPr>
            <a:r>
              <a:rPr lang="en-US" sz="1100" dirty="0">
                <a:solidFill>
                  <a:schemeClr val="accent2"/>
                </a:solidFill>
              </a:rPr>
              <a:t>Claude Code, aider, pi</a:t>
            </a:r>
            <a:endParaRPr lang="en-US" sz="1100" dirty="0"/>
          </a:p>
        </p:txBody>
      </p:sp>
      <p:pic>
        <p:nvPicPr>
          <p:cNvPr id="9" name="Image 1" descr="preencoded.png">    </p:cNvPr>
          <p:cNvPicPr>
            <a:picLocks noChangeAspect="1"/>
          </p:cNvPicPr>
          <p:nvPr/>
        </p:nvPicPr>
        <p:blipFill>
          <a:blip r:embed="rId2"/>
          <a:stretch>
            <a:fillRect/>
          </a:stretch>
        </p:blipFill>
        <p:spPr>
          <a:xfrm>
            <a:off x="2194560" y="1463040"/>
            <a:ext cx="274320" cy="274320"/>
          </a:xfrm>
          <a:prstGeom prst="rect">
            <a:avLst/>
          </a:prstGeom>
        </p:spPr>
      </p:pic>
      <p:sp>
        <p:nvSpPr>
          <p:cNvPr id="10" name="circle-FaServer"/>
          <p:cNvSpPr/>
          <p:nvPr/>
        </p:nvSpPr>
        <p:spPr>
          <a:xfrm>
            <a:off x="3017520" y="1188720"/>
            <a:ext cx="822960" cy="822960"/>
          </a:xfrm>
          <a:prstGeom prst="ellipse">
            <a:avLst/>
          </a:prstGeom>
          <a:solidFill>
            <a:schemeClr val="tx1"/>
          </a:solidFill>
          <a:ln w="12700">
            <a:solidFill>
              <a:schemeClr val="tx1"/>
            </a:solidFill>
            <a:prstDash val="solid"/>
          </a:ln>
        </p:spPr>
      </p:sp>
      <p:pic>
        <p:nvPicPr>
          <p:cNvPr id="11" name="icon-FaServer" descr="preencoded.png">    </p:cNvPr>
          <p:cNvPicPr>
            <a:picLocks noChangeAspect="1"/>
          </p:cNvPicPr>
          <p:nvPr/>
        </p:nvPicPr>
        <p:blipFill>
          <a:blip r:embed="rId3"/>
          <a:stretch>
            <a:fillRect/>
          </a:stretch>
        </p:blipFill>
        <p:spPr>
          <a:xfrm>
            <a:off x="3223260" y="1394460"/>
            <a:ext cx="411480" cy="411480"/>
          </a:xfrm>
          <a:prstGeom prst="rect">
            <a:avLst/>
          </a:prstGeom>
        </p:spPr>
      </p:pic>
      <p:sp>
        <p:nvSpPr>
          <p:cNvPr id="12" name="Text 7"/>
          <p:cNvSpPr txBox="1"/>
          <p:nvPr/>
        </p:nvSpPr>
        <p:spPr>
          <a:xfrm>
            <a:off x="2606040" y="2103120"/>
            <a:ext cx="1645920" cy="320040"/>
          </a:xfrm>
          <a:prstGeom prst="rect">
            <a:avLst/>
          </a:prstGeom>
          <a:noFill/>
          <a:ln/>
        </p:spPr>
        <p:txBody>
          <a:bodyPr wrap="square" lIns="0" tIns="0" rIns="0" bIns="0" rtlCol="0" anchor="ctr"/>
          <a:lstStyle/>
          <a:p>
            <a:pPr algn="ctr" indent="0" marL="0">
              <a:buNone/>
            </a:pPr>
            <a:r>
              <a:rPr lang="en-US" sz="1600" b="1" dirty="0">
                <a:solidFill>
                  <a:schemeClr val="tx1"/>
                </a:solidFill>
              </a:rPr>
              <a:t>Ramer</a:t>
            </a:r>
            <a:endParaRPr lang="en-US" sz="1600" dirty="0"/>
          </a:p>
        </p:txBody>
      </p:sp>
      <p:sp>
        <p:nvSpPr>
          <p:cNvPr id="13" name="Text 8"/>
          <p:cNvSpPr txBox="1"/>
          <p:nvPr/>
        </p:nvSpPr>
        <p:spPr>
          <a:xfrm>
            <a:off x="2606040" y="2423160"/>
            <a:ext cx="1645920" cy="274320"/>
          </a:xfrm>
          <a:prstGeom prst="rect">
            <a:avLst/>
          </a:prstGeom>
          <a:noFill/>
          <a:ln/>
        </p:spPr>
        <p:txBody>
          <a:bodyPr wrap="square" lIns="0" tIns="0" rIns="0" bIns="0" rtlCol="0" anchor="ctr"/>
          <a:lstStyle/>
          <a:p>
            <a:pPr algn="ctr" indent="0" marL="0">
              <a:buNone/>
            </a:pPr>
            <a:r>
              <a:rPr lang="en-US" sz="1100" dirty="0">
                <a:solidFill>
                  <a:schemeClr val="accent2"/>
                </a:solidFill>
              </a:rPr>
              <a:t>port 11435</a:t>
            </a:r>
            <a:endParaRPr lang="en-US" sz="1100" dirty="0"/>
          </a:p>
        </p:txBody>
      </p:sp>
      <p:pic>
        <p:nvPicPr>
          <p:cNvPr id="14" name="Image 3" descr="preencoded.png">    </p:cNvPr>
          <p:cNvPicPr>
            <a:picLocks noChangeAspect="1"/>
          </p:cNvPicPr>
          <p:nvPr/>
        </p:nvPicPr>
        <p:blipFill>
          <a:blip r:embed="rId4"/>
          <a:stretch>
            <a:fillRect/>
          </a:stretch>
        </p:blipFill>
        <p:spPr>
          <a:xfrm>
            <a:off x="4297680" y="1463040"/>
            <a:ext cx="274320" cy="274320"/>
          </a:xfrm>
          <a:prstGeom prst="rect">
            <a:avLst/>
          </a:prstGeom>
        </p:spPr>
      </p:pic>
      <p:sp>
        <p:nvSpPr>
          <p:cNvPr id="15" name="circle-FaServer"/>
          <p:cNvSpPr/>
          <p:nvPr/>
        </p:nvSpPr>
        <p:spPr>
          <a:xfrm>
            <a:off x="5120640" y="1188720"/>
            <a:ext cx="822960" cy="822960"/>
          </a:xfrm>
          <a:prstGeom prst="ellipse">
            <a:avLst/>
          </a:prstGeom>
          <a:solidFill>
            <a:schemeClr val="bg1"/>
          </a:solidFill>
          <a:ln w="12700">
            <a:solidFill>
              <a:schemeClr val="bg1"/>
            </a:solidFill>
            <a:prstDash val="solid"/>
          </a:ln>
        </p:spPr>
      </p:sp>
      <p:pic>
        <p:nvPicPr>
          <p:cNvPr id="16" name="icon-FaServer" descr="preencoded.png">    </p:cNvPr>
          <p:cNvPicPr>
            <a:picLocks noChangeAspect="1"/>
          </p:cNvPicPr>
          <p:nvPr/>
        </p:nvPicPr>
        <p:blipFill>
          <a:blip r:embed="rId5"/>
          <a:stretch>
            <a:fillRect/>
          </a:stretch>
        </p:blipFill>
        <p:spPr>
          <a:xfrm>
            <a:off x="5326380" y="1394460"/>
            <a:ext cx="411480" cy="411480"/>
          </a:xfrm>
          <a:prstGeom prst="rect">
            <a:avLst/>
          </a:prstGeom>
        </p:spPr>
      </p:pic>
      <p:sp>
        <p:nvSpPr>
          <p:cNvPr id="17" name="Shape 10"/>
          <p:cNvSpPr/>
          <p:nvPr/>
        </p:nvSpPr>
        <p:spPr>
          <a:xfrm>
            <a:off x="5120640" y="1188720"/>
            <a:ext cx="822960" cy="822960"/>
          </a:xfrm>
          <a:prstGeom prst="ellipse">
            <a:avLst/>
          </a:prstGeom>
          <a:solidFill>
            <a:schemeClr val="bg1">
              <a:alpha val="0"/>
            </a:schemeClr>
          </a:solidFill>
          <a:ln w="19050">
            <a:solidFill>
              <a:schemeClr val="tx1"/>
            </a:solidFill>
            <a:prstDash val="solid"/>
          </a:ln>
        </p:spPr>
      </p:sp>
      <p:sp>
        <p:nvSpPr>
          <p:cNvPr id="18" name="Text 11"/>
          <p:cNvSpPr txBox="1"/>
          <p:nvPr/>
        </p:nvSpPr>
        <p:spPr>
          <a:xfrm>
            <a:off x="4709160" y="2103120"/>
            <a:ext cx="1645920" cy="320040"/>
          </a:xfrm>
          <a:prstGeom prst="rect">
            <a:avLst/>
          </a:prstGeom>
          <a:noFill/>
          <a:ln/>
        </p:spPr>
        <p:txBody>
          <a:bodyPr wrap="square" lIns="0" tIns="0" rIns="0" bIns="0" rtlCol="0" anchor="ctr"/>
          <a:lstStyle/>
          <a:p>
            <a:pPr algn="ctr" indent="0" marL="0">
              <a:buNone/>
            </a:pPr>
            <a:r>
              <a:rPr lang="en-US" sz="1600" b="1" dirty="0">
                <a:solidFill>
                  <a:schemeClr val="tx1"/>
                </a:solidFill>
              </a:rPr>
              <a:t>Ollama</a:t>
            </a:r>
            <a:endParaRPr lang="en-US" sz="1600" dirty="0"/>
          </a:p>
        </p:txBody>
      </p:sp>
      <p:sp>
        <p:nvSpPr>
          <p:cNvPr id="19" name="Text 12"/>
          <p:cNvSpPr txBox="1"/>
          <p:nvPr/>
        </p:nvSpPr>
        <p:spPr>
          <a:xfrm>
            <a:off x="4709160" y="2423160"/>
            <a:ext cx="1645920" cy="274320"/>
          </a:xfrm>
          <a:prstGeom prst="rect">
            <a:avLst/>
          </a:prstGeom>
          <a:noFill/>
          <a:ln/>
        </p:spPr>
        <p:txBody>
          <a:bodyPr wrap="square" lIns="0" tIns="0" rIns="0" bIns="0" rtlCol="0" anchor="ctr"/>
          <a:lstStyle/>
          <a:p>
            <a:pPr algn="ctr" indent="0" marL="0">
              <a:buNone/>
            </a:pPr>
            <a:r>
              <a:rPr lang="en-US" sz="1100" dirty="0">
                <a:solidFill>
                  <a:schemeClr val="accent2"/>
                </a:solidFill>
              </a:rPr>
              <a:t>port 11434</a:t>
            </a:r>
            <a:endParaRPr lang="en-US" sz="1100" dirty="0"/>
          </a:p>
        </p:txBody>
      </p:sp>
      <p:pic>
        <p:nvPicPr>
          <p:cNvPr id="20" name="Image 5" descr="preencoded.png">    </p:cNvPr>
          <p:cNvPicPr>
            <a:picLocks noChangeAspect="1"/>
          </p:cNvPicPr>
          <p:nvPr/>
        </p:nvPicPr>
        <p:blipFill>
          <a:blip r:embed="rId6"/>
          <a:stretch>
            <a:fillRect/>
          </a:stretch>
        </p:blipFill>
        <p:spPr>
          <a:xfrm>
            <a:off x="6400800" y="1463040"/>
            <a:ext cx="274320" cy="274320"/>
          </a:xfrm>
          <a:prstGeom prst="rect">
            <a:avLst/>
          </a:prstGeom>
        </p:spPr>
      </p:pic>
      <p:sp>
        <p:nvSpPr>
          <p:cNvPr id="21" name="circle-FaMicrochip"/>
          <p:cNvSpPr/>
          <p:nvPr/>
        </p:nvSpPr>
        <p:spPr>
          <a:xfrm>
            <a:off x="7223760" y="1188720"/>
            <a:ext cx="822960" cy="822960"/>
          </a:xfrm>
          <a:prstGeom prst="ellipse">
            <a:avLst/>
          </a:prstGeom>
          <a:solidFill>
            <a:schemeClr val="bg1"/>
          </a:solidFill>
          <a:ln w="12700">
            <a:solidFill>
              <a:schemeClr val="bg1"/>
            </a:solidFill>
            <a:prstDash val="solid"/>
          </a:ln>
        </p:spPr>
      </p:sp>
      <p:pic>
        <p:nvPicPr>
          <p:cNvPr id="22" name="icon-FaMicrochip" descr="preencoded.png">    </p:cNvPr>
          <p:cNvPicPr>
            <a:picLocks noChangeAspect="1"/>
          </p:cNvPicPr>
          <p:nvPr/>
        </p:nvPicPr>
        <p:blipFill>
          <a:blip r:embed="rId7"/>
          <a:stretch>
            <a:fillRect/>
          </a:stretch>
        </p:blipFill>
        <p:spPr>
          <a:xfrm>
            <a:off x="7429500" y="1394460"/>
            <a:ext cx="411480" cy="411480"/>
          </a:xfrm>
          <a:prstGeom prst="rect">
            <a:avLst/>
          </a:prstGeom>
        </p:spPr>
      </p:pic>
      <p:sp>
        <p:nvSpPr>
          <p:cNvPr id="23" name="Shape 14"/>
          <p:cNvSpPr/>
          <p:nvPr/>
        </p:nvSpPr>
        <p:spPr>
          <a:xfrm>
            <a:off x="7223760" y="1188720"/>
            <a:ext cx="822960" cy="822960"/>
          </a:xfrm>
          <a:prstGeom prst="ellipse">
            <a:avLst/>
          </a:prstGeom>
          <a:solidFill>
            <a:schemeClr val="bg1">
              <a:alpha val="0"/>
            </a:schemeClr>
          </a:solidFill>
          <a:ln w="19050">
            <a:solidFill>
              <a:schemeClr val="tx1"/>
            </a:solidFill>
            <a:prstDash val="solid"/>
          </a:ln>
        </p:spPr>
      </p:sp>
      <p:sp>
        <p:nvSpPr>
          <p:cNvPr id="24" name="Text 15"/>
          <p:cNvSpPr txBox="1"/>
          <p:nvPr/>
        </p:nvSpPr>
        <p:spPr>
          <a:xfrm>
            <a:off x="6812280" y="2103120"/>
            <a:ext cx="1645920" cy="320040"/>
          </a:xfrm>
          <a:prstGeom prst="rect">
            <a:avLst/>
          </a:prstGeom>
          <a:noFill/>
          <a:ln/>
        </p:spPr>
        <p:txBody>
          <a:bodyPr wrap="square" lIns="0" tIns="0" rIns="0" bIns="0" rtlCol="0" anchor="ctr"/>
          <a:lstStyle/>
          <a:p>
            <a:pPr algn="ctr" indent="0" marL="0">
              <a:buNone/>
            </a:pPr>
            <a:r>
              <a:rPr lang="en-US" sz="1600" b="1" dirty="0">
                <a:solidFill>
                  <a:schemeClr val="tx1"/>
                </a:solidFill>
              </a:rPr>
              <a:t>GPU + CPU</a:t>
            </a:r>
            <a:endParaRPr lang="en-US" sz="1600" dirty="0"/>
          </a:p>
        </p:txBody>
      </p:sp>
      <p:sp>
        <p:nvSpPr>
          <p:cNvPr id="25" name="Text 16"/>
          <p:cNvSpPr txBox="1"/>
          <p:nvPr/>
        </p:nvSpPr>
        <p:spPr>
          <a:xfrm>
            <a:off x="6812280" y="2423160"/>
            <a:ext cx="1645920" cy="274320"/>
          </a:xfrm>
          <a:prstGeom prst="rect">
            <a:avLst/>
          </a:prstGeom>
          <a:noFill/>
          <a:ln/>
        </p:spPr>
        <p:txBody>
          <a:bodyPr wrap="square" lIns="0" tIns="0" rIns="0" bIns="0" rtlCol="0" anchor="ctr"/>
          <a:lstStyle/>
          <a:p>
            <a:pPr algn="ctr" indent="0" marL="0">
              <a:buNone/>
            </a:pPr>
            <a:r>
              <a:rPr lang="en-US" sz="1100" dirty="0">
                <a:solidFill>
                  <a:schemeClr val="accent2"/>
                </a:solidFill>
              </a:rPr>
              <a:t>best split, no thrashing</a:t>
            </a:r>
            <a:endParaRPr lang="en-US" sz="1100" dirty="0"/>
          </a:p>
        </p:txBody>
      </p:sp>
      <p:sp>
        <p:nvSpPr>
          <p:cNvPr id="26" name="Shape 17"/>
          <p:cNvSpPr/>
          <p:nvPr/>
        </p:nvSpPr>
        <p:spPr>
          <a:xfrm>
            <a:off x="457200" y="3017520"/>
            <a:ext cx="1920240" cy="1417320"/>
          </a:xfrm>
          <a:prstGeom prst="rect">
            <a:avLst/>
          </a:prstGeom>
          <a:solidFill>
            <a:schemeClr val="bg2"/>
          </a:solidFill>
          <a:ln w="12700">
            <a:solidFill>
              <a:schemeClr val="bg2"/>
            </a:solidFill>
            <a:prstDash val="solid"/>
          </a:ln>
        </p:spPr>
      </p:sp>
      <p:pic>
        <p:nvPicPr>
          <p:cNvPr id="27" name="Image 7" descr="preencoded.png">    </p:cNvPr>
          <p:cNvPicPr>
            <a:picLocks noChangeAspect="1"/>
          </p:cNvPicPr>
          <p:nvPr/>
        </p:nvPicPr>
        <p:blipFill>
          <a:blip r:embed="rId8"/>
          <a:stretch>
            <a:fillRect/>
          </a:stretch>
        </p:blipFill>
        <p:spPr>
          <a:xfrm>
            <a:off x="640080" y="3200400"/>
            <a:ext cx="292608" cy="292608"/>
          </a:xfrm>
          <a:prstGeom prst="rect">
            <a:avLst/>
          </a:prstGeom>
        </p:spPr>
      </p:pic>
      <p:sp>
        <p:nvSpPr>
          <p:cNvPr id="28" name="Text 18"/>
          <p:cNvSpPr txBox="1"/>
          <p:nvPr/>
        </p:nvSpPr>
        <p:spPr>
          <a:xfrm>
            <a:off x="640080" y="3566160"/>
            <a:ext cx="1645920" cy="274320"/>
          </a:xfrm>
          <a:prstGeom prst="rect">
            <a:avLst/>
          </a:prstGeom>
          <a:noFill/>
          <a:ln/>
        </p:spPr>
        <p:txBody>
          <a:bodyPr wrap="square" lIns="0" tIns="0" rIns="0" bIns="0" rtlCol="0" anchor="ctr"/>
          <a:lstStyle/>
          <a:p>
            <a:pPr indent="0" marL="0">
              <a:buNone/>
            </a:pPr>
            <a:r>
              <a:rPr lang="en-US" sz="1400" b="1" dirty="0">
                <a:solidFill>
                  <a:schemeClr val="tx1"/>
                </a:solidFill>
              </a:rPr>
              <a:t>Context-aware</a:t>
            </a:r>
            <a:endParaRPr lang="en-US" sz="1400" dirty="0"/>
          </a:p>
        </p:txBody>
      </p:sp>
      <p:sp>
        <p:nvSpPr>
          <p:cNvPr id="29" name="Text 19"/>
          <p:cNvSpPr txBox="1"/>
          <p:nvPr/>
        </p:nvSpPr>
        <p:spPr>
          <a:xfrm>
            <a:off x="640080" y="3840480"/>
            <a:ext cx="1600200" cy="502920"/>
          </a:xfrm>
          <a:prstGeom prst="rect">
            <a:avLst/>
          </a:prstGeom>
          <a:noFill/>
          <a:ln/>
        </p:spPr>
        <p:txBody>
          <a:bodyPr wrap="square" lIns="0" tIns="0" rIns="0" bIns="0" rtlCol="0" anchor="t"/>
          <a:lstStyle/>
          <a:p>
            <a:pPr indent="0" marL="0">
              <a:buNone/>
            </a:pPr>
            <a:r>
              <a:rPr lang="en-US" sz="1100" dirty="0">
                <a:solidFill>
                  <a:schemeClr val="tx2"/>
                </a:solidFill>
              </a:rPr>
              <a:t>Tuned per model and per context length</a:t>
            </a:r>
            <a:endParaRPr lang="en-US" sz="1100" dirty="0"/>
          </a:p>
        </p:txBody>
      </p:sp>
      <p:sp>
        <p:nvSpPr>
          <p:cNvPr id="30" name="Shape 20"/>
          <p:cNvSpPr/>
          <p:nvPr/>
        </p:nvSpPr>
        <p:spPr>
          <a:xfrm>
            <a:off x="2560320" y="3017520"/>
            <a:ext cx="1920240" cy="1417320"/>
          </a:xfrm>
          <a:prstGeom prst="rect">
            <a:avLst/>
          </a:prstGeom>
          <a:solidFill>
            <a:schemeClr val="bg2"/>
          </a:solidFill>
          <a:ln w="12700">
            <a:solidFill>
              <a:schemeClr val="bg2"/>
            </a:solidFill>
            <a:prstDash val="solid"/>
          </a:ln>
        </p:spPr>
      </p:sp>
      <p:pic>
        <p:nvPicPr>
          <p:cNvPr id="31" name="Image 8" descr="preencoded.png">    </p:cNvPr>
          <p:cNvPicPr>
            <a:picLocks noChangeAspect="1"/>
          </p:cNvPicPr>
          <p:nvPr/>
        </p:nvPicPr>
        <p:blipFill>
          <a:blip r:embed="rId9"/>
          <a:stretch>
            <a:fillRect/>
          </a:stretch>
        </p:blipFill>
        <p:spPr>
          <a:xfrm>
            <a:off x="2743200" y="3200400"/>
            <a:ext cx="292608" cy="292608"/>
          </a:xfrm>
          <a:prstGeom prst="rect">
            <a:avLst/>
          </a:prstGeom>
        </p:spPr>
      </p:pic>
      <p:sp>
        <p:nvSpPr>
          <p:cNvPr id="32" name="Text 21"/>
          <p:cNvSpPr txBox="1"/>
          <p:nvPr/>
        </p:nvSpPr>
        <p:spPr>
          <a:xfrm>
            <a:off x="2743200" y="3566160"/>
            <a:ext cx="1645920" cy="274320"/>
          </a:xfrm>
          <a:prstGeom prst="rect">
            <a:avLst/>
          </a:prstGeom>
          <a:noFill/>
          <a:ln/>
        </p:spPr>
        <p:txBody>
          <a:bodyPr wrap="square" lIns="0" tIns="0" rIns="0" bIns="0" rtlCol="0" anchor="ctr"/>
          <a:lstStyle/>
          <a:p>
            <a:pPr indent="0" marL="0">
              <a:buNone/>
            </a:pPr>
            <a:r>
              <a:rPr lang="en-US" sz="1400" b="1" dirty="0">
                <a:solidFill>
                  <a:schemeClr val="tx1"/>
                </a:solidFill>
              </a:rPr>
              <a:t>Headroom-aware</a:t>
            </a:r>
            <a:endParaRPr lang="en-US" sz="1400" dirty="0"/>
          </a:p>
        </p:txBody>
      </p:sp>
      <p:sp>
        <p:nvSpPr>
          <p:cNvPr id="33" name="Text 22"/>
          <p:cNvSpPr txBox="1"/>
          <p:nvPr/>
        </p:nvSpPr>
        <p:spPr>
          <a:xfrm>
            <a:off x="2743200" y="3840480"/>
            <a:ext cx="1600200" cy="502920"/>
          </a:xfrm>
          <a:prstGeom prst="rect">
            <a:avLst/>
          </a:prstGeom>
          <a:noFill/>
          <a:ln/>
        </p:spPr>
        <p:txBody>
          <a:bodyPr wrap="square" lIns="0" tIns="0" rIns="0" bIns="0" rtlCol="0" anchor="t"/>
          <a:lstStyle/>
          <a:p>
            <a:pPr indent="0" marL="0">
              <a:buNone/>
            </a:pPr>
            <a:r>
              <a:rPr lang="en-US" sz="1100" dirty="0">
                <a:solidFill>
                  <a:schemeClr val="tx2"/>
                </a:solidFill>
              </a:rPr>
              <a:t>On a tie, keep spare VRAM</a:t>
            </a:r>
            <a:endParaRPr lang="en-US" sz="1100" dirty="0"/>
          </a:p>
        </p:txBody>
      </p:sp>
      <p:sp>
        <p:nvSpPr>
          <p:cNvPr id="34" name="Shape 23"/>
          <p:cNvSpPr/>
          <p:nvPr/>
        </p:nvSpPr>
        <p:spPr>
          <a:xfrm>
            <a:off x="4663440" y="3017520"/>
            <a:ext cx="1920240" cy="1417320"/>
          </a:xfrm>
          <a:prstGeom prst="rect">
            <a:avLst/>
          </a:prstGeom>
          <a:solidFill>
            <a:schemeClr val="bg2"/>
          </a:solidFill>
          <a:ln w="12700">
            <a:solidFill>
              <a:schemeClr val="bg2"/>
            </a:solidFill>
            <a:prstDash val="solid"/>
          </a:ln>
        </p:spPr>
      </p:sp>
      <p:pic>
        <p:nvPicPr>
          <p:cNvPr id="35" name="Image 9" descr="preencoded.png">    </p:cNvPr>
          <p:cNvPicPr>
            <a:picLocks noChangeAspect="1"/>
          </p:cNvPicPr>
          <p:nvPr/>
        </p:nvPicPr>
        <p:blipFill>
          <a:blip r:embed="rId10"/>
          <a:stretch>
            <a:fillRect/>
          </a:stretch>
        </p:blipFill>
        <p:spPr>
          <a:xfrm>
            <a:off x="4846320" y="3200400"/>
            <a:ext cx="292608" cy="292608"/>
          </a:xfrm>
          <a:prstGeom prst="rect">
            <a:avLst/>
          </a:prstGeom>
        </p:spPr>
      </p:pic>
      <p:sp>
        <p:nvSpPr>
          <p:cNvPr id="36" name="Text 24"/>
          <p:cNvSpPr txBox="1"/>
          <p:nvPr/>
        </p:nvSpPr>
        <p:spPr>
          <a:xfrm>
            <a:off x="4846320" y="3566160"/>
            <a:ext cx="1645920" cy="274320"/>
          </a:xfrm>
          <a:prstGeom prst="rect">
            <a:avLst/>
          </a:prstGeom>
          <a:noFill/>
          <a:ln/>
        </p:spPr>
        <p:txBody>
          <a:bodyPr wrap="square" lIns="0" tIns="0" rIns="0" bIns="0" rtlCol="0" anchor="ctr"/>
          <a:lstStyle/>
          <a:p>
            <a:pPr indent="0" marL="0">
              <a:buNone/>
            </a:pPr>
            <a:r>
              <a:rPr lang="en-US" sz="1400" b="1" dirty="0">
                <a:solidFill>
                  <a:schemeClr val="tx1"/>
                </a:solidFill>
              </a:rPr>
              <a:t>Self-healing</a:t>
            </a:r>
            <a:endParaRPr lang="en-US" sz="1400" dirty="0"/>
          </a:p>
        </p:txBody>
      </p:sp>
      <p:sp>
        <p:nvSpPr>
          <p:cNvPr id="37" name="Text 25"/>
          <p:cNvSpPr txBox="1"/>
          <p:nvPr/>
        </p:nvSpPr>
        <p:spPr>
          <a:xfrm>
            <a:off x="4846320" y="3840480"/>
            <a:ext cx="1600200" cy="502920"/>
          </a:xfrm>
          <a:prstGeom prst="rect">
            <a:avLst/>
          </a:prstGeom>
          <a:noFill/>
          <a:ln/>
        </p:spPr>
        <p:txBody>
          <a:bodyPr wrap="square" lIns="0" tIns="0" rIns="0" bIns="0" rtlCol="0" anchor="t"/>
          <a:lstStyle/>
          <a:p>
            <a:pPr indent="0" marL="0">
              <a:buNone/>
            </a:pPr>
            <a:r>
              <a:rPr lang="en-US" sz="1100" dirty="0">
                <a:solidFill>
                  <a:schemeClr val="tx2"/>
                </a:solidFill>
              </a:rPr>
              <a:t>Slower than expected? Fall back safely</a:t>
            </a:r>
            <a:endParaRPr lang="en-US" sz="1100" dirty="0"/>
          </a:p>
        </p:txBody>
      </p:sp>
      <p:sp>
        <p:nvSpPr>
          <p:cNvPr id="38" name="Shape 26"/>
          <p:cNvSpPr/>
          <p:nvPr/>
        </p:nvSpPr>
        <p:spPr>
          <a:xfrm>
            <a:off x="6766560" y="3017520"/>
            <a:ext cx="1920240" cy="1417320"/>
          </a:xfrm>
          <a:prstGeom prst="rect">
            <a:avLst/>
          </a:prstGeom>
          <a:solidFill>
            <a:schemeClr val="bg2"/>
          </a:solidFill>
          <a:ln w="12700">
            <a:solidFill>
              <a:schemeClr val="bg2"/>
            </a:solidFill>
            <a:prstDash val="solid"/>
          </a:ln>
        </p:spPr>
      </p:sp>
      <p:pic>
        <p:nvPicPr>
          <p:cNvPr id="39" name="Image 10" descr="preencoded.png">    </p:cNvPr>
          <p:cNvPicPr>
            <a:picLocks noChangeAspect="1"/>
          </p:cNvPicPr>
          <p:nvPr/>
        </p:nvPicPr>
        <p:blipFill>
          <a:blip r:embed="rId11"/>
          <a:stretch>
            <a:fillRect/>
          </a:stretch>
        </p:blipFill>
        <p:spPr>
          <a:xfrm>
            <a:off x="6949440" y="3200400"/>
            <a:ext cx="292608" cy="292608"/>
          </a:xfrm>
          <a:prstGeom prst="rect">
            <a:avLst/>
          </a:prstGeom>
        </p:spPr>
      </p:pic>
      <p:sp>
        <p:nvSpPr>
          <p:cNvPr id="40" name="Text 27"/>
          <p:cNvSpPr txBox="1"/>
          <p:nvPr/>
        </p:nvSpPr>
        <p:spPr>
          <a:xfrm>
            <a:off x="6949440" y="3566160"/>
            <a:ext cx="1645920" cy="274320"/>
          </a:xfrm>
          <a:prstGeom prst="rect">
            <a:avLst/>
          </a:prstGeom>
          <a:noFill/>
          <a:ln/>
        </p:spPr>
        <p:txBody>
          <a:bodyPr wrap="square" lIns="0" tIns="0" rIns="0" bIns="0" rtlCol="0" anchor="ctr"/>
          <a:lstStyle/>
          <a:p>
            <a:pPr indent="0" marL="0">
              <a:buNone/>
            </a:pPr>
            <a:r>
              <a:rPr lang="en-US" sz="1400" b="1" dirty="0">
                <a:solidFill>
                  <a:schemeClr val="tx1"/>
                </a:solidFill>
              </a:rPr>
              <a:t>Scheduled</a:t>
            </a:r>
            <a:endParaRPr lang="en-US" sz="1400" dirty="0"/>
          </a:p>
        </p:txBody>
      </p:sp>
      <p:sp>
        <p:nvSpPr>
          <p:cNvPr id="41" name="Text 28"/>
          <p:cNvSpPr txBox="1"/>
          <p:nvPr/>
        </p:nvSpPr>
        <p:spPr>
          <a:xfrm>
            <a:off x="6949440" y="3840480"/>
            <a:ext cx="1600200" cy="502920"/>
          </a:xfrm>
          <a:prstGeom prst="rect">
            <a:avLst/>
          </a:prstGeom>
          <a:noFill/>
          <a:ln/>
        </p:spPr>
        <p:txBody>
          <a:bodyPr wrap="square" lIns="0" tIns="0" rIns="0" bIns="0" rtlCol="0" anchor="t"/>
          <a:lstStyle/>
          <a:p>
            <a:pPr indent="0" marL="0">
              <a:buNone/>
            </a:pPr>
            <a:r>
              <a:rPr lang="en-US" sz="1100" dirty="0">
                <a:solidFill>
                  <a:schemeClr val="tx2"/>
                </a:solidFill>
              </a:rPr>
              <a:t>Keeps the busy model loaded</a:t>
            </a:r>
            <a:endParaRPr lang="en-US" sz="11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822960"/>
            <a:ext cx="2926080" cy="2011680"/>
          </a:xfrm>
          <a:prstGeom prst="rect">
            <a:avLst/>
          </a:prstGeom>
          <a:noFill/>
          <a:ln/>
        </p:spPr>
        <p:txBody>
          <a:bodyPr wrap="square" lIns="0" tIns="0" rIns="0" bIns="0" rtlCol="0" anchor="b"/>
          <a:lstStyle/>
          <a:p>
            <a:pPr algn="l" indent="0" marL="0">
              <a:buNone/>
            </a:pPr>
            <a:r>
              <a:rPr lang="en-US" sz="14000" b="1" dirty="0">
                <a:solidFill>
                  <a:schemeClr val="bg1"/>
                </a:solidFill>
              </a:rPr>
              <a:t>05</a:t>
            </a:r>
            <a:endParaRPr lang="en-US" sz="14000" dirty="0"/>
          </a:p>
        </p:txBody>
      </p:sp>
      <p:sp>
        <p:nvSpPr>
          <p:cNvPr id="3" name="Text 0"/>
          <p:cNvSpPr/>
          <p:nvPr>
            <p:ph idx="101" type="title" hasCustomPrompt="1"/>
          </p:nvPr>
        </p:nvSpPr>
        <p:spPr>
          <a:xfrm>
            <a:off x="548640" y="2834640"/>
            <a:ext cx="5029200" cy="731520"/>
          </a:xfrm>
          <a:prstGeom prst="rect">
            <a:avLst/>
          </a:prstGeom>
          <a:noFill/>
          <a:ln/>
        </p:spPr>
        <p:txBody>
          <a:bodyPr wrap="square" lIns="0" tIns="0" rIns="0" bIns="0" rtlCol="0" anchor="t"/>
          <a:lstStyle/>
          <a:p>
            <a:pPr algn="l" indent="0" marL="0">
              <a:buNone/>
            </a:pPr>
            <a:r>
              <a:rPr lang="en-US" sz="4400" b="1" dirty="0">
                <a:solidFill>
                  <a:schemeClr val="bg1"/>
                </a:solidFill>
              </a:rPr>
              <a:t>Test</a:t>
            </a:r>
            <a:endParaRPr lang="en-US" sz="4400" dirty="0"/>
          </a:p>
        </p:txBody>
      </p:sp>
      <p:sp>
        <p:nvSpPr>
          <p:cNvPr id="4" name="Text 0"/>
          <p:cNvSpPr/>
          <p:nvPr>
            <p:ph idx="102" type="body" hasCustomPrompt="1"/>
          </p:nvPr>
        </p:nvSpPr>
        <p:spPr>
          <a:xfrm>
            <a:off x="548640" y="3611880"/>
            <a:ext cx="5120640" cy="1005840"/>
          </a:xfrm>
          <a:prstGeom prst="rect">
            <a:avLst/>
          </a:prstGeom>
          <a:noFill/>
          <a:ln/>
        </p:spPr>
        <p:txBody>
          <a:bodyPr wrap="square" lIns="0" tIns="0" rIns="0" bIns="0" rtlCol="0" anchor="t"/>
          <a:lstStyle/>
          <a:p>
            <a:pPr algn="l" indent="0" marL="0">
              <a:buNone/>
            </a:pPr>
            <a:r>
              <a:rPr lang="en-US" sz="1600" dirty="0">
                <a:solidFill>
                  <a:schemeClr val="bg1"/>
                </a:solidFill>
              </a:rPr>
              <a:t>Put the prototype in front of reality and measure honestly, including the results you don't like.</a:t>
            </a:r>
            <a:endParaRPr lang="en-US" sz="1600" dirty="0"/>
          </a:p>
        </p:txBody>
      </p:sp>
      <p:sp>
        <p:nvSpPr>
          <p:cNvPr id="5" name="Shape 3"/>
          <p:cNvSpPr/>
          <p:nvPr/>
        </p:nvSpPr>
        <p:spPr>
          <a:xfrm>
            <a:off x="6309360" y="1325880"/>
            <a:ext cx="2377440" cy="2377440"/>
          </a:xfrm>
          <a:prstGeom prst="ellipse">
            <a:avLst/>
          </a:prstGeom>
          <a:solidFill>
            <a:schemeClr val="tx1"/>
          </a:solidFill>
          <a:ln w="25400">
            <a:solidFill>
              <a:schemeClr val="bg1"/>
            </a:solidFill>
            <a:prstDash val="solid"/>
          </a:ln>
        </p:spPr>
      </p:sp>
      <p:pic>
        <p:nvPicPr>
          <p:cNvPr id="6" name="Image 0" descr="preencoded.png">    </p:cNvPr>
          <p:cNvPicPr>
            <a:picLocks noChangeAspect="1"/>
          </p:cNvPicPr>
          <p:nvPr/>
        </p:nvPicPr>
        <p:blipFill>
          <a:blip r:embed="rId1"/>
          <a:stretch>
            <a:fillRect/>
          </a:stretch>
        </p:blipFill>
        <p:spPr>
          <a:xfrm>
            <a:off x="6903720" y="1920240"/>
            <a:ext cx="1188720" cy="1188720"/>
          </a:xfrm>
          <a:prstGeom prst="rect">
            <a:avLst/>
          </a:prstGeom>
        </p:spPr>
      </p:pic>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6766560" cy="685800"/>
          </a:xfrm>
          <a:prstGeom prst="rect">
            <a:avLst/>
          </a:prstGeom>
          <a:noFill/>
          <a:ln/>
        </p:spPr>
        <p:txBody>
          <a:bodyPr wrap="square" lIns="0" tIns="0" rIns="0" bIns="0" rtlCol="0" anchor="ctr"/>
          <a:lstStyle/>
          <a:p>
            <a:pPr algn="l" indent="0" marL="0">
              <a:buNone/>
            </a:pPr>
            <a:r>
              <a:rPr lang="en-US" sz="3200" b="1" dirty="0">
                <a:solidFill>
                  <a:schemeClr val="tx1"/>
                </a:solidFill>
              </a:rPr>
              <a:t>The wins, measured</a:t>
            </a:r>
            <a:endParaRPr lang="en-US" sz="3200" dirty="0"/>
          </a:p>
        </p:txBody>
      </p:sp>
      <p:sp>
        <p:nvSpPr>
          <p:cNvPr id="3" name="Text 0"/>
          <p:cNvSpPr/>
          <p:nvPr>
            <p:ph idx="101" type="body" hasCustomPrompt="1"/>
          </p:nvPr>
        </p:nvSpPr>
        <p:spPr>
          <a:xfrm>
            <a:off x="7223760" y="411480"/>
            <a:ext cx="1463040" cy="365760"/>
          </a:xfrm>
          <a:prstGeom prst="rect">
            <a:avLst/>
          </a:prstGeom>
          <a:noFill/>
          <a:ln/>
        </p:spPr>
        <p:txBody>
          <a:bodyPr wrap="square" lIns="0" tIns="0" rIns="0" bIns="0" rtlCol="0" anchor="ctr"/>
          <a:lstStyle/>
          <a:p>
            <a:pPr algn="r" indent="0" marL="0">
              <a:buNone/>
            </a:pPr>
            <a:r>
              <a:rPr lang="en-US" sz="1100" b="1" dirty="0">
                <a:solidFill>
                  <a:schemeClr val="accent3"/>
                </a:solidFill>
              </a:rPr>
              <a:t>05 TEST</a:t>
            </a:r>
            <a:endParaRPr lang="en-US" sz="1100" dirty="0"/>
          </a:p>
        </p:txBody>
      </p:sp>
      <p:sp>
        <p:nvSpPr>
          <p:cNvPr id="4" name="Shape 2"/>
          <p:cNvSpPr/>
          <p:nvPr/>
        </p:nvSpPr>
        <p:spPr>
          <a:xfrm>
            <a:off x="457200" y="1280160"/>
            <a:ext cx="2606040" cy="3017520"/>
          </a:xfrm>
          <a:prstGeom prst="rect">
            <a:avLst/>
          </a:prstGeom>
          <a:solidFill>
            <a:schemeClr val="bg1"/>
          </a:solidFill>
          <a:ln w="19050">
            <a:solidFill>
              <a:schemeClr val="tx1"/>
            </a:solidFill>
            <a:prstDash val="solid"/>
          </a:ln>
        </p:spPr>
      </p:sp>
      <p:sp>
        <p:nvSpPr>
          <p:cNvPr id="5" name="Text 3"/>
          <p:cNvSpPr txBox="1"/>
          <p:nvPr/>
        </p:nvSpPr>
        <p:spPr>
          <a:xfrm>
            <a:off x="685800" y="1554480"/>
            <a:ext cx="2194560" cy="1005840"/>
          </a:xfrm>
          <a:prstGeom prst="rect">
            <a:avLst/>
          </a:prstGeom>
          <a:noFill/>
          <a:ln/>
        </p:spPr>
        <p:txBody>
          <a:bodyPr wrap="square" lIns="0" tIns="0" rIns="0" bIns="0" rtlCol="0" anchor="ctr"/>
          <a:lstStyle/>
          <a:p>
            <a:pPr indent="0" marL="0">
              <a:buNone/>
            </a:pPr>
            <a:r>
              <a:rPr lang="en-US" sz="4600" b="1" dirty="0">
                <a:solidFill>
                  <a:schemeClr val="tx1"/>
                </a:solidFill>
              </a:rPr>
              <a:t>+61%</a:t>
            </a:r>
            <a:endParaRPr lang="en-US" sz="4600" dirty="0"/>
          </a:p>
        </p:txBody>
      </p:sp>
      <p:sp>
        <p:nvSpPr>
          <p:cNvPr id="6" name="Text 4"/>
          <p:cNvSpPr txBox="1"/>
          <p:nvPr/>
        </p:nvSpPr>
        <p:spPr>
          <a:xfrm>
            <a:off x="685800" y="2651760"/>
            <a:ext cx="2194560" cy="548640"/>
          </a:xfrm>
          <a:prstGeom prst="rect">
            <a:avLst/>
          </a:prstGeom>
          <a:noFill/>
          <a:ln/>
        </p:spPr>
        <p:txBody>
          <a:bodyPr wrap="square" lIns="0" tIns="0" rIns="0" bIns="0" rtlCol="0" anchor="t"/>
          <a:lstStyle/>
          <a:p>
            <a:pPr indent="0" marL="0">
              <a:buNone/>
            </a:pPr>
            <a:r>
              <a:rPr lang="en-US" sz="1500" b="1" dirty="0">
                <a:solidFill>
                  <a:schemeClr val="tx1"/>
                </a:solidFill>
              </a:rPr>
              <a:t>faster decoding</a:t>
            </a:r>
            <a:endParaRPr lang="en-US" sz="1500" dirty="0"/>
          </a:p>
        </p:txBody>
      </p:sp>
      <p:sp>
        <p:nvSpPr>
          <p:cNvPr id="7" name="Text 5"/>
          <p:cNvSpPr txBox="1"/>
          <p:nvPr/>
        </p:nvSpPr>
        <p:spPr>
          <a:xfrm>
            <a:off x="685800" y="3337560"/>
            <a:ext cx="2194560" cy="731520"/>
          </a:xfrm>
          <a:prstGeom prst="rect">
            <a:avLst/>
          </a:prstGeom>
          <a:noFill/>
          <a:ln/>
        </p:spPr>
        <p:txBody>
          <a:bodyPr wrap="square" lIns="0" tIns="0" rIns="0" bIns="0" rtlCol="0" anchor="t"/>
          <a:lstStyle/>
          <a:p>
            <a:pPr indent="0" marL="0">
              <a:buNone/>
            </a:pPr>
            <a:r>
              <a:rPr lang="en-US" sz="1200" dirty="0">
                <a:solidFill>
                  <a:schemeClr val="accent2"/>
                </a:solidFill>
              </a:rPr>
              <a:t>Qwen2.5-14B: 12.4 → 19.6 tokens/s</a:t>
            </a:r>
            <a:endParaRPr lang="en-US" sz="1200" dirty="0"/>
          </a:p>
        </p:txBody>
      </p:sp>
      <p:sp>
        <p:nvSpPr>
          <p:cNvPr id="8" name="Shape 6"/>
          <p:cNvSpPr/>
          <p:nvPr/>
        </p:nvSpPr>
        <p:spPr>
          <a:xfrm>
            <a:off x="3246120" y="1280160"/>
            <a:ext cx="2606040" cy="3017520"/>
          </a:xfrm>
          <a:prstGeom prst="rect">
            <a:avLst/>
          </a:prstGeom>
          <a:solidFill>
            <a:schemeClr val="tx1"/>
          </a:solidFill>
          <a:ln w="19050">
            <a:solidFill>
              <a:schemeClr val="tx1"/>
            </a:solidFill>
            <a:prstDash val="solid"/>
          </a:ln>
        </p:spPr>
      </p:sp>
      <p:sp>
        <p:nvSpPr>
          <p:cNvPr id="9" name="Text 7"/>
          <p:cNvSpPr txBox="1"/>
          <p:nvPr/>
        </p:nvSpPr>
        <p:spPr>
          <a:xfrm>
            <a:off x="3474720" y="1554480"/>
            <a:ext cx="2194560" cy="1005840"/>
          </a:xfrm>
          <a:prstGeom prst="rect">
            <a:avLst/>
          </a:prstGeom>
          <a:noFill/>
          <a:ln/>
        </p:spPr>
        <p:txBody>
          <a:bodyPr wrap="square" lIns="0" tIns="0" rIns="0" bIns="0" rtlCol="0" anchor="ctr"/>
          <a:lstStyle/>
          <a:p>
            <a:pPr indent="0" marL="0">
              <a:buNone/>
            </a:pPr>
            <a:r>
              <a:rPr lang="en-US" sz="4600" b="1" dirty="0">
                <a:solidFill>
                  <a:schemeClr val="bg1"/>
                </a:solidFill>
              </a:rPr>
              <a:t>+402%</a:t>
            </a:r>
            <a:endParaRPr lang="en-US" sz="4600" dirty="0"/>
          </a:p>
        </p:txBody>
      </p:sp>
      <p:sp>
        <p:nvSpPr>
          <p:cNvPr id="10" name="Text 8"/>
          <p:cNvSpPr txBox="1"/>
          <p:nvPr/>
        </p:nvSpPr>
        <p:spPr>
          <a:xfrm>
            <a:off x="3474720" y="2651760"/>
            <a:ext cx="2194560" cy="548640"/>
          </a:xfrm>
          <a:prstGeom prst="rect">
            <a:avLst/>
          </a:prstGeom>
          <a:noFill/>
          <a:ln/>
        </p:spPr>
        <p:txBody>
          <a:bodyPr wrap="square" lIns="0" tIns="0" rIns="0" bIns="0" rtlCol="0" anchor="t"/>
          <a:lstStyle/>
          <a:p>
            <a:pPr indent="0" marL="0">
              <a:buNone/>
            </a:pPr>
            <a:r>
              <a:rPr lang="en-US" sz="1500" b="1" dirty="0">
                <a:solidFill>
                  <a:schemeClr val="bg1"/>
                </a:solidFill>
              </a:rPr>
              <a:t>faster decoding</a:t>
            </a:r>
            <a:endParaRPr lang="en-US" sz="1500" dirty="0"/>
          </a:p>
        </p:txBody>
      </p:sp>
      <p:sp>
        <p:nvSpPr>
          <p:cNvPr id="11" name="Text 9"/>
          <p:cNvSpPr txBox="1"/>
          <p:nvPr/>
        </p:nvSpPr>
        <p:spPr>
          <a:xfrm>
            <a:off x="3474720" y="3337560"/>
            <a:ext cx="2194560" cy="731520"/>
          </a:xfrm>
          <a:prstGeom prst="rect">
            <a:avLst/>
          </a:prstGeom>
          <a:noFill/>
          <a:ln/>
        </p:spPr>
        <p:txBody>
          <a:bodyPr wrap="square" lIns="0" tIns="0" rIns="0" bIns="0" rtlCol="0" anchor="t"/>
          <a:lstStyle/>
          <a:p>
            <a:pPr indent="0" marL="0">
              <a:buNone/>
            </a:pPr>
            <a:r>
              <a:rPr lang="en-US" sz="1200" dirty="0">
                <a:solidFill>
                  <a:srgbClr val="BFBFBF"/>
                </a:solidFill>
              </a:rPr>
              <a:t>Qwen3.8-27B: 5.9 → 29.6 tokens/s</a:t>
            </a:r>
            <a:endParaRPr lang="en-US" sz="1200" dirty="0"/>
          </a:p>
        </p:txBody>
      </p:sp>
      <p:sp>
        <p:nvSpPr>
          <p:cNvPr id="12" name="Shape 10"/>
          <p:cNvSpPr/>
          <p:nvPr/>
        </p:nvSpPr>
        <p:spPr>
          <a:xfrm>
            <a:off x="6035040" y="1280160"/>
            <a:ext cx="2606040" cy="3017520"/>
          </a:xfrm>
          <a:prstGeom prst="rect">
            <a:avLst/>
          </a:prstGeom>
          <a:solidFill>
            <a:schemeClr val="bg1"/>
          </a:solidFill>
          <a:ln w="19050">
            <a:solidFill>
              <a:schemeClr val="tx1"/>
            </a:solidFill>
            <a:prstDash val="solid"/>
          </a:ln>
        </p:spPr>
      </p:sp>
      <p:sp>
        <p:nvSpPr>
          <p:cNvPr id="13" name="Text 11"/>
          <p:cNvSpPr txBox="1"/>
          <p:nvPr/>
        </p:nvSpPr>
        <p:spPr>
          <a:xfrm>
            <a:off x="6263640" y="1554480"/>
            <a:ext cx="2194560" cy="1005840"/>
          </a:xfrm>
          <a:prstGeom prst="rect">
            <a:avLst/>
          </a:prstGeom>
          <a:noFill/>
          <a:ln/>
        </p:spPr>
        <p:txBody>
          <a:bodyPr wrap="square" lIns="0" tIns="0" rIns="0" bIns="0" rtlCol="0" anchor="ctr"/>
          <a:lstStyle/>
          <a:p>
            <a:pPr indent="0" marL="0">
              <a:buNone/>
            </a:pPr>
            <a:r>
              <a:rPr lang="en-US" sz="4600" b="1" dirty="0">
                <a:solidFill>
                  <a:schemeClr val="tx1"/>
                </a:solidFill>
              </a:rPr>
              <a:t>38%</a:t>
            </a:r>
            <a:endParaRPr lang="en-US" sz="4600" dirty="0"/>
          </a:p>
        </p:txBody>
      </p:sp>
      <p:sp>
        <p:nvSpPr>
          <p:cNvPr id="14" name="Text 12"/>
          <p:cNvSpPr txBox="1"/>
          <p:nvPr/>
        </p:nvSpPr>
        <p:spPr>
          <a:xfrm>
            <a:off x="6263640" y="2651760"/>
            <a:ext cx="2194560" cy="548640"/>
          </a:xfrm>
          <a:prstGeom prst="rect">
            <a:avLst/>
          </a:prstGeom>
          <a:noFill/>
          <a:ln/>
        </p:spPr>
        <p:txBody>
          <a:bodyPr wrap="square" lIns="0" tIns="0" rIns="0" bIns="0" rtlCol="0" anchor="t"/>
          <a:lstStyle/>
          <a:p>
            <a:pPr indent="0" marL="0">
              <a:buNone/>
            </a:pPr>
            <a:r>
              <a:rPr lang="en-US" sz="1500" b="1" dirty="0">
                <a:solidFill>
                  <a:schemeClr val="tx1"/>
                </a:solidFill>
              </a:rPr>
              <a:t>less time on a real coding task</a:t>
            </a:r>
            <a:endParaRPr lang="en-US" sz="1500" dirty="0"/>
          </a:p>
        </p:txBody>
      </p:sp>
      <p:sp>
        <p:nvSpPr>
          <p:cNvPr id="15" name="Text 13"/>
          <p:cNvSpPr txBox="1"/>
          <p:nvPr/>
        </p:nvSpPr>
        <p:spPr>
          <a:xfrm>
            <a:off x="6263640" y="3337560"/>
            <a:ext cx="2194560" cy="731520"/>
          </a:xfrm>
          <a:prstGeom prst="rect">
            <a:avLst/>
          </a:prstGeom>
          <a:noFill/>
          <a:ln/>
        </p:spPr>
        <p:txBody>
          <a:bodyPr wrap="square" lIns="0" tIns="0" rIns="0" bIns="0" rtlCol="0" anchor="t"/>
          <a:lstStyle/>
          <a:p>
            <a:pPr indent="0" marL="0">
              <a:buNone/>
            </a:pPr>
            <a:r>
              <a:rPr lang="en-US" sz="1200" dirty="0">
                <a:solidFill>
                  <a:schemeClr val="accent2"/>
                </a:solidFill>
              </a:rPr>
              <a:t>89.2 s → 55.4 s, same correct result</a:t>
            </a:r>
            <a:endParaRPr lang="en-US" sz="12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6766560" cy="685800"/>
          </a:xfrm>
          <a:prstGeom prst="rect">
            <a:avLst/>
          </a:prstGeom>
          <a:noFill/>
          <a:ln/>
        </p:spPr>
        <p:txBody>
          <a:bodyPr wrap="square" lIns="0" tIns="0" rIns="0" bIns="0" rtlCol="0" anchor="ctr"/>
          <a:lstStyle/>
          <a:p>
            <a:pPr algn="l" indent="0" marL="0">
              <a:buNone/>
            </a:pPr>
            <a:r>
              <a:rPr lang="en-US" sz="3200" b="1" dirty="0">
                <a:solidFill>
                  <a:schemeClr val="tx1"/>
                </a:solidFill>
              </a:rPr>
              <a:t>Four agents, one GPU</a:t>
            </a:r>
            <a:endParaRPr lang="en-US" sz="3200" dirty="0"/>
          </a:p>
        </p:txBody>
      </p:sp>
      <p:sp>
        <p:nvSpPr>
          <p:cNvPr id="3" name="Text 0"/>
          <p:cNvSpPr/>
          <p:nvPr>
            <p:ph idx="101" type="body" hasCustomPrompt="1"/>
          </p:nvPr>
        </p:nvSpPr>
        <p:spPr>
          <a:xfrm>
            <a:off x="7223760" y="411480"/>
            <a:ext cx="1463040" cy="365760"/>
          </a:xfrm>
          <a:prstGeom prst="rect">
            <a:avLst/>
          </a:prstGeom>
          <a:noFill/>
          <a:ln/>
        </p:spPr>
        <p:txBody>
          <a:bodyPr wrap="square" lIns="0" tIns="0" rIns="0" bIns="0" rtlCol="0" anchor="ctr"/>
          <a:lstStyle/>
          <a:p>
            <a:pPr algn="r" indent="0" marL="0">
              <a:buNone/>
            </a:pPr>
            <a:r>
              <a:rPr lang="en-US" sz="1100" b="1" dirty="0">
                <a:solidFill>
                  <a:schemeClr val="accent3"/>
                </a:solidFill>
              </a:rPr>
              <a:t>05 TEST</a:t>
            </a:r>
            <a:endParaRPr lang="en-US" sz="1100" dirty="0"/>
          </a:p>
        </p:txBody>
      </p:sp>
      <p:graphicFrame>
        <p:nvGraphicFramePr>
          <p:cNvPr id="4" name="Chart 0" descr=""/>
          <p:cNvGraphicFramePr/>
          <p:nvPr/>
        </p:nvGraphicFramePr>
        <p:xfrm>
          <a:off x="365760" y="1143000"/>
          <a:ext cx="5120640" cy="3383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852160" y="1280160"/>
            <a:ext cx="2834640" cy="822960"/>
          </a:xfrm>
          <a:prstGeom prst="rect">
            <a:avLst/>
          </a:prstGeom>
          <a:noFill/>
          <a:ln/>
        </p:spPr>
        <p:txBody>
          <a:bodyPr wrap="square" lIns="0" tIns="0" rIns="0" bIns="0" rtlCol="0" anchor="ctr"/>
          <a:lstStyle/>
          <a:p>
            <a:pPr indent="0" marL="0">
              <a:buNone/>
            </a:pPr>
            <a:r>
              <a:rPr lang="en-US" sz="5400" b="1" dirty="0">
                <a:solidFill>
                  <a:schemeClr val="tx1"/>
                </a:solidFill>
              </a:rPr>
              <a:t>44%</a:t>
            </a:r>
            <a:endParaRPr lang="en-US" sz="5400" dirty="0"/>
          </a:p>
        </p:txBody>
      </p:sp>
      <p:sp>
        <p:nvSpPr>
          <p:cNvPr id="6" name="Text 3"/>
          <p:cNvSpPr txBox="1"/>
          <p:nvPr/>
        </p:nvSpPr>
        <p:spPr>
          <a:xfrm>
            <a:off x="5852160" y="2103120"/>
            <a:ext cx="2834640" cy="548640"/>
          </a:xfrm>
          <a:prstGeom prst="rect">
            <a:avLst/>
          </a:prstGeom>
          <a:noFill/>
          <a:ln/>
        </p:spPr>
        <p:txBody>
          <a:bodyPr wrap="square" lIns="0" tIns="0" rIns="0" bIns="0" rtlCol="0" anchor="t"/>
          <a:lstStyle/>
          <a:p>
            <a:pPr indent="0" marL="0">
              <a:buNone/>
            </a:pPr>
            <a:r>
              <a:rPr lang="en-US" sz="1500" b="1" dirty="0">
                <a:solidFill>
                  <a:schemeClr val="tx1"/>
                </a:solidFill>
              </a:rPr>
              <a:t>less waiting with the Ramer scheduler</a:t>
            </a:r>
            <a:endParaRPr lang="en-US" sz="1500" dirty="0"/>
          </a:p>
        </p:txBody>
      </p:sp>
      <p:sp>
        <p:nvSpPr>
          <p:cNvPr id="7" name="Text 4"/>
          <p:cNvSpPr txBox="1"/>
          <p:nvPr/>
        </p:nvSpPr>
        <p:spPr>
          <a:xfrm>
            <a:off x="5852160" y="2788920"/>
            <a:ext cx="2834640" cy="1188720"/>
          </a:xfrm>
          <a:prstGeom prst="rect">
            <a:avLst/>
          </a:prstGeom>
          <a:noFill/>
          <a:ln/>
        </p:spPr>
        <p:txBody>
          <a:bodyPr wrap="square" lIns="0" tIns="0" rIns="0" bIns="0" rtlCol="0" anchor="t"/>
          <a:lstStyle/>
          <a:p>
            <a:pPr indent="0" marL="0">
              <a:buNone/>
            </a:pPr>
            <a:r>
              <a:rPr lang="en-US" sz="1300" dirty="0">
                <a:solidFill>
                  <a:schemeClr val="tx2"/>
                </a:solidFill>
              </a:rPr>
              <a:t>Keeping the busy model loaded (“sticky”) is what stops the thrashing: model switches fell from 6.6 to 3.6 per run.</a:t>
            </a:r>
            <a:endParaRPr lang="en-US" sz="13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6766560" cy="685800"/>
          </a:xfrm>
          <a:prstGeom prst="rect">
            <a:avLst/>
          </a:prstGeom>
          <a:noFill/>
          <a:ln/>
        </p:spPr>
        <p:txBody>
          <a:bodyPr wrap="square" lIns="0" tIns="0" rIns="0" bIns="0" rtlCol="0" anchor="ctr"/>
          <a:lstStyle/>
          <a:p>
            <a:pPr algn="l" indent="0" marL="0">
              <a:buNone/>
            </a:pPr>
            <a:r>
              <a:rPr lang="en-US" sz="3200" b="1" dirty="0">
                <a:solidFill>
                  <a:schemeClr val="tx1"/>
                </a:solidFill>
              </a:rPr>
              <a:t>What testing taught us</a:t>
            </a:r>
            <a:endParaRPr lang="en-US" sz="3200" dirty="0"/>
          </a:p>
        </p:txBody>
      </p:sp>
      <p:sp>
        <p:nvSpPr>
          <p:cNvPr id="3" name="Text 0"/>
          <p:cNvSpPr/>
          <p:nvPr>
            <p:ph idx="101" type="body" hasCustomPrompt="1"/>
          </p:nvPr>
        </p:nvSpPr>
        <p:spPr>
          <a:xfrm>
            <a:off x="7223760" y="411480"/>
            <a:ext cx="1463040" cy="365760"/>
          </a:xfrm>
          <a:prstGeom prst="rect">
            <a:avLst/>
          </a:prstGeom>
          <a:noFill/>
          <a:ln/>
        </p:spPr>
        <p:txBody>
          <a:bodyPr wrap="square" lIns="0" tIns="0" rIns="0" bIns="0" rtlCol="0" anchor="ctr"/>
          <a:lstStyle/>
          <a:p>
            <a:pPr algn="r" indent="0" marL="0">
              <a:buNone/>
            </a:pPr>
            <a:r>
              <a:rPr lang="en-US" sz="1100" b="1" dirty="0">
                <a:solidFill>
                  <a:schemeClr val="accent3"/>
                </a:solidFill>
              </a:rPr>
              <a:t>05 TEST</a:t>
            </a:r>
            <a:endParaRPr lang="en-US" sz="1100" dirty="0"/>
          </a:p>
        </p:txBody>
      </p:sp>
      <p:sp>
        <p:nvSpPr>
          <p:cNvPr id="4" name="Shape 2"/>
          <p:cNvSpPr/>
          <p:nvPr/>
        </p:nvSpPr>
        <p:spPr>
          <a:xfrm>
            <a:off x="457200" y="1188720"/>
            <a:ext cx="4023360" cy="2743200"/>
          </a:xfrm>
          <a:prstGeom prst="rect">
            <a:avLst/>
          </a:prstGeom>
          <a:solidFill>
            <a:schemeClr val="tx1"/>
          </a:solidFill>
          <a:ln w="19050">
            <a:solidFill>
              <a:schemeClr val="tx1"/>
            </a:solidFill>
            <a:prstDash val="solid"/>
          </a:ln>
        </p:spPr>
      </p:sp>
      <p:sp>
        <p:nvSpPr>
          <p:cNvPr id="5" name="circle-FaCheck"/>
          <p:cNvSpPr/>
          <p:nvPr/>
        </p:nvSpPr>
        <p:spPr>
          <a:xfrm>
            <a:off x="731520" y="1417320"/>
            <a:ext cx="502920" cy="502920"/>
          </a:xfrm>
          <a:prstGeom prst="ellipse">
            <a:avLst/>
          </a:prstGeom>
          <a:solidFill>
            <a:schemeClr val="bg1"/>
          </a:solidFill>
          <a:ln w="12700">
            <a:solidFill>
              <a:schemeClr val="bg1"/>
            </a:solidFill>
            <a:prstDash val="solid"/>
          </a:ln>
        </p:spPr>
      </p:sp>
      <p:pic>
        <p:nvPicPr>
          <p:cNvPr id="6" name="icon-FaCheck" descr="preencoded.png">    </p:cNvPr>
          <p:cNvPicPr>
            <a:picLocks noChangeAspect="1"/>
          </p:cNvPicPr>
          <p:nvPr/>
        </p:nvPicPr>
        <p:blipFill>
          <a:blip r:embed="rId1"/>
          <a:stretch>
            <a:fillRect/>
          </a:stretch>
        </p:blipFill>
        <p:spPr>
          <a:xfrm>
            <a:off x="857250" y="1543050"/>
            <a:ext cx="251460" cy="251460"/>
          </a:xfrm>
          <a:prstGeom prst="rect">
            <a:avLst/>
          </a:prstGeom>
        </p:spPr>
      </p:pic>
      <p:sp>
        <p:nvSpPr>
          <p:cNvPr id="7" name="Text 4"/>
          <p:cNvSpPr txBox="1"/>
          <p:nvPr/>
        </p:nvSpPr>
        <p:spPr>
          <a:xfrm>
            <a:off x="1417320" y="1417320"/>
            <a:ext cx="2834640" cy="502920"/>
          </a:xfrm>
          <a:prstGeom prst="rect">
            <a:avLst/>
          </a:prstGeom>
          <a:noFill/>
          <a:ln/>
        </p:spPr>
        <p:txBody>
          <a:bodyPr wrap="square" lIns="0" tIns="0" rIns="0" bIns="0" rtlCol="0" anchor="ctr"/>
          <a:lstStyle/>
          <a:p>
            <a:pPr indent="0" marL="0">
              <a:buNone/>
            </a:pPr>
            <a:r>
              <a:rPr lang="en-US" sz="2000" b="1" dirty="0">
                <a:solidFill>
                  <a:schemeClr val="bg1"/>
                </a:solidFill>
              </a:rPr>
              <a:t>Where it helps</a:t>
            </a:r>
            <a:endParaRPr lang="en-US" sz="2000" dirty="0"/>
          </a:p>
        </p:txBody>
      </p:sp>
      <p:sp>
        <p:nvSpPr>
          <p:cNvPr id="8" name="Text 5"/>
          <p:cNvSpPr txBox="1"/>
          <p:nvPr/>
        </p:nvSpPr>
        <p:spPr>
          <a:xfrm>
            <a:off x="731520" y="2194560"/>
            <a:ext cx="3520440" cy="201168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bg1"/>
                </a:solidFill>
              </a:rPr>
              <a:t>Decode-heavy work: coding, long answers</a:t>
            </a:r>
            <a:endParaRPr lang="en-US" sz="1400" dirty="0"/>
          </a:p>
          <a:p>
            <a:pPr marL="342900" indent="-342900">
              <a:spcAft>
                <a:spcPts val="1000"/>
              </a:spcAft>
              <a:buSzPct val="100000"/>
              <a:buChar char="•"/>
            </a:pPr>
            <a:r>
              <a:rPr lang="en-US" sz="1400" dirty="0">
                <a:solidFill>
                  <a:schemeClr val="bg1"/>
                </a:solidFill>
              </a:rPr>
              <a:t>Several agents sharing one GPU</a:t>
            </a:r>
            <a:endParaRPr lang="en-US" sz="1400" dirty="0"/>
          </a:p>
          <a:p>
            <a:pPr marL="342900" indent="-342900">
              <a:spcAft>
                <a:spcPts val="1000"/>
              </a:spcAft>
              <a:buSzPct val="100000"/>
              <a:buChar char="•"/>
            </a:pPr>
            <a:r>
              <a:rPr lang="en-US" sz="1400" dirty="0">
                <a:solidFill>
                  <a:schemeClr val="bg1"/>
                </a:solidFill>
              </a:rPr>
              <a:t>Big models squeezed onto small cards</a:t>
            </a:r>
            <a:endParaRPr lang="en-US" sz="1400" dirty="0"/>
          </a:p>
        </p:txBody>
      </p:sp>
      <p:sp>
        <p:nvSpPr>
          <p:cNvPr id="9" name="Shape 6"/>
          <p:cNvSpPr/>
          <p:nvPr/>
        </p:nvSpPr>
        <p:spPr>
          <a:xfrm>
            <a:off x="4663440" y="1188720"/>
            <a:ext cx="4023360" cy="2743200"/>
          </a:xfrm>
          <a:prstGeom prst="rect">
            <a:avLst/>
          </a:prstGeom>
          <a:solidFill>
            <a:schemeClr val="bg1"/>
          </a:solidFill>
          <a:ln w="19050">
            <a:solidFill>
              <a:schemeClr val="tx1"/>
            </a:solidFill>
            <a:prstDash val="solid"/>
          </a:ln>
        </p:spPr>
      </p:sp>
      <p:sp>
        <p:nvSpPr>
          <p:cNvPr id="10" name="circle-FaTimes"/>
          <p:cNvSpPr/>
          <p:nvPr/>
        </p:nvSpPr>
        <p:spPr>
          <a:xfrm>
            <a:off x="4937760" y="1417320"/>
            <a:ext cx="502920" cy="502920"/>
          </a:xfrm>
          <a:prstGeom prst="ellipse">
            <a:avLst/>
          </a:prstGeom>
          <a:solidFill>
            <a:schemeClr val="tx1"/>
          </a:solidFill>
          <a:ln w="12700">
            <a:solidFill>
              <a:schemeClr val="tx1"/>
            </a:solidFill>
            <a:prstDash val="solid"/>
          </a:ln>
        </p:spPr>
      </p:sp>
      <p:pic>
        <p:nvPicPr>
          <p:cNvPr id="11" name="icon-FaTimes" descr="preencoded.png">    </p:cNvPr>
          <p:cNvPicPr>
            <a:picLocks noChangeAspect="1"/>
          </p:cNvPicPr>
          <p:nvPr/>
        </p:nvPicPr>
        <p:blipFill>
          <a:blip r:embed="rId2"/>
          <a:stretch>
            <a:fillRect/>
          </a:stretch>
        </p:blipFill>
        <p:spPr>
          <a:xfrm>
            <a:off x="5063490" y="1543050"/>
            <a:ext cx="251460" cy="251460"/>
          </a:xfrm>
          <a:prstGeom prst="rect">
            <a:avLst/>
          </a:prstGeom>
        </p:spPr>
      </p:pic>
      <p:sp>
        <p:nvSpPr>
          <p:cNvPr id="12" name="Text 8"/>
          <p:cNvSpPr txBox="1"/>
          <p:nvPr/>
        </p:nvSpPr>
        <p:spPr>
          <a:xfrm>
            <a:off x="5623560" y="1417320"/>
            <a:ext cx="2834640" cy="502920"/>
          </a:xfrm>
          <a:prstGeom prst="rect">
            <a:avLst/>
          </a:prstGeom>
          <a:noFill/>
          <a:ln/>
        </p:spPr>
        <p:txBody>
          <a:bodyPr wrap="square" lIns="0" tIns="0" rIns="0" bIns="0" rtlCol="0" anchor="ctr"/>
          <a:lstStyle/>
          <a:p>
            <a:pPr indent="0" marL="0">
              <a:buNone/>
            </a:pPr>
            <a:r>
              <a:rPr lang="en-US" sz="2000" b="1" dirty="0">
                <a:solidFill>
                  <a:schemeClr val="tx1"/>
                </a:solidFill>
              </a:rPr>
              <a:t>Where it doesn't</a:t>
            </a:r>
            <a:endParaRPr lang="en-US" sz="2000" dirty="0"/>
          </a:p>
        </p:txBody>
      </p:sp>
      <p:sp>
        <p:nvSpPr>
          <p:cNvPr id="13" name="Text 9"/>
          <p:cNvSpPr txBox="1"/>
          <p:nvPr/>
        </p:nvSpPr>
        <p:spPr>
          <a:xfrm>
            <a:off x="4937760" y="2194560"/>
            <a:ext cx="3520440" cy="201168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Research tasks waiting on the web: 19.8 s vs 19.9 s</a:t>
            </a:r>
            <a:endParaRPr lang="en-US" sz="1400" dirty="0"/>
          </a:p>
          <a:p>
            <a:pPr marL="342900" indent="-342900">
              <a:spcAft>
                <a:spcPts val="1000"/>
              </a:spcAft>
              <a:buSzPct val="100000"/>
              <a:buChar char="•"/>
            </a:pPr>
            <a:r>
              <a:rPr lang="en-US" sz="1400" dirty="0">
                <a:solidFill>
                  <a:schemeClr val="tx1"/>
                </a:solidFill>
              </a:rPr>
              <a:t>A model too weak for the job: 32B-Q2 failed either way</a:t>
            </a:r>
            <a:endParaRPr lang="en-US" sz="1400" dirty="0"/>
          </a:p>
          <a:p>
            <a:pPr marL="342900" indent="-342900">
              <a:spcAft>
                <a:spcPts val="1000"/>
              </a:spcAft>
              <a:buSzPct val="100000"/>
              <a:buChar char="•"/>
            </a:pPr>
            <a:r>
              <a:rPr lang="en-US" sz="1400" dirty="0">
                <a:solidFill>
                  <a:schemeClr val="tx1"/>
                </a:solidFill>
              </a:rPr>
              <a:t>Apple Silicon Macs: no separate VRAM</a:t>
            </a:r>
            <a:endParaRPr lang="en-US" sz="14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6766560" cy="685800"/>
          </a:xfrm>
          <a:prstGeom prst="rect">
            <a:avLst/>
          </a:prstGeom>
          <a:noFill/>
          <a:ln/>
        </p:spPr>
        <p:txBody>
          <a:bodyPr wrap="square" lIns="0" tIns="0" rIns="0" bIns="0" rtlCol="0" anchor="ctr"/>
          <a:lstStyle/>
          <a:p>
            <a:pPr algn="l" indent="0" marL="0">
              <a:buNone/>
            </a:pPr>
            <a:r>
              <a:rPr lang="en-US" sz="3200" b="1" dirty="0">
                <a:solidFill>
                  <a:schemeClr val="tx1"/>
                </a:solidFill>
              </a:rPr>
              <a:t>Back to the start: iterate</a:t>
            </a:r>
            <a:endParaRPr lang="en-US" sz="3200" dirty="0"/>
          </a:p>
        </p:txBody>
      </p:sp>
      <p:sp>
        <p:nvSpPr>
          <p:cNvPr id="3" name="Text 0"/>
          <p:cNvSpPr/>
          <p:nvPr>
            <p:ph idx="101" type="body" hasCustomPrompt="1"/>
          </p:nvPr>
        </p:nvSpPr>
        <p:spPr>
          <a:xfrm>
            <a:off x="7223760" y="411480"/>
            <a:ext cx="1463040" cy="365760"/>
          </a:xfrm>
          <a:prstGeom prst="rect">
            <a:avLst/>
          </a:prstGeom>
          <a:noFill/>
          <a:ln/>
        </p:spPr>
        <p:txBody>
          <a:bodyPr wrap="square" lIns="0" tIns="0" rIns="0" bIns="0" rtlCol="0" anchor="ctr"/>
          <a:lstStyle/>
          <a:p>
            <a:pPr algn="r" indent="0" marL="0">
              <a:buNone/>
            </a:pPr>
            <a:r>
              <a:rPr lang="en-US" sz="1100" b="1" dirty="0">
                <a:solidFill>
                  <a:schemeClr val="accent3"/>
                </a:solidFill>
              </a:rPr>
              <a:t>THE LOOP</a:t>
            </a:r>
            <a:endParaRPr lang="en-US" sz="1100" dirty="0"/>
          </a:p>
        </p:txBody>
      </p:sp>
      <p:sp>
        <p:nvSpPr>
          <p:cNvPr id="4" name="Shape 2"/>
          <p:cNvSpPr/>
          <p:nvPr/>
        </p:nvSpPr>
        <p:spPr>
          <a:xfrm>
            <a:off x="1005840" y="1463040"/>
            <a:ext cx="2651760" cy="2651760"/>
          </a:xfrm>
          <a:prstGeom prst="ellipse">
            <a:avLst/>
          </a:prstGeom>
          <a:solidFill>
            <a:schemeClr val="bg1">
              <a:alpha val="0"/>
            </a:schemeClr>
          </a:solidFill>
          <a:ln w="19050">
            <a:solidFill>
              <a:schemeClr val="accent4"/>
            </a:solidFill>
            <a:prstDash val="dash"/>
          </a:ln>
        </p:spPr>
      </p:sp>
      <p:sp>
        <p:nvSpPr>
          <p:cNvPr id="5" name="circle-FaHeart"/>
          <p:cNvSpPr/>
          <p:nvPr/>
        </p:nvSpPr>
        <p:spPr>
          <a:xfrm>
            <a:off x="2011680" y="1143000"/>
            <a:ext cx="640080" cy="640080"/>
          </a:xfrm>
          <a:prstGeom prst="ellipse">
            <a:avLst/>
          </a:prstGeom>
          <a:solidFill>
            <a:schemeClr val="tx1"/>
          </a:solidFill>
          <a:ln w="12700">
            <a:solidFill>
              <a:schemeClr val="tx1"/>
            </a:solidFill>
            <a:prstDash val="solid"/>
          </a:ln>
        </p:spPr>
      </p:sp>
      <p:pic>
        <p:nvPicPr>
          <p:cNvPr id="6" name="icon-FaHeart" descr="preencoded.png">    </p:cNvPr>
          <p:cNvPicPr>
            <a:picLocks noChangeAspect="1"/>
          </p:cNvPicPr>
          <p:nvPr/>
        </p:nvPicPr>
        <p:blipFill>
          <a:blip r:embed="rId1"/>
          <a:stretch>
            <a:fillRect/>
          </a:stretch>
        </p:blipFill>
        <p:spPr>
          <a:xfrm>
            <a:off x="2171700" y="1303020"/>
            <a:ext cx="320040" cy="320040"/>
          </a:xfrm>
          <a:prstGeom prst="rect">
            <a:avLst/>
          </a:prstGeom>
        </p:spPr>
      </p:pic>
      <p:sp>
        <p:nvSpPr>
          <p:cNvPr id="7" name="circle-FaBullseye"/>
          <p:cNvSpPr/>
          <p:nvPr/>
        </p:nvSpPr>
        <p:spPr>
          <a:xfrm>
            <a:off x="3272667" y="2059161"/>
            <a:ext cx="640080" cy="640080"/>
          </a:xfrm>
          <a:prstGeom prst="ellipse">
            <a:avLst/>
          </a:prstGeom>
          <a:solidFill>
            <a:schemeClr val="tx1"/>
          </a:solidFill>
          <a:ln w="12700">
            <a:solidFill>
              <a:schemeClr val="tx1"/>
            </a:solidFill>
            <a:prstDash val="solid"/>
          </a:ln>
        </p:spPr>
      </p:sp>
      <p:pic>
        <p:nvPicPr>
          <p:cNvPr id="8" name="icon-FaBullseye" descr="preencoded.png">    </p:cNvPr>
          <p:cNvPicPr>
            <a:picLocks noChangeAspect="1"/>
          </p:cNvPicPr>
          <p:nvPr/>
        </p:nvPicPr>
        <p:blipFill>
          <a:blip r:embed="rId2"/>
          <a:stretch>
            <a:fillRect/>
          </a:stretch>
        </p:blipFill>
        <p:spPr>
          <a:xfrm>
            <a:off x="3432687" y="2219181"/>
            <a:ext cx="320040" cy="320040"/>
          </a:xfrm>
          <a:prstGeom prst="rect">
            <a:avLst/>
          </a:prstGeom>
        </p:spPr>
      </p:pic>
      <p:sp>
        <p:nvSpPr>
          <p:cNvPr id="9" name="circle-FaLightbulb"/>
          <p:cNvSpPr/>
          <p:nvPr/>
        </p:nvSpPr>
        <p:spPr>
          <a:xfrm>
            <a:off x="2791013" y="3541539"/>
            <a:ext cx="640080" cy="640080"/>
          </a:xfrm>
          <a:prstGeom prst="ellipse">
            <a:avLst/>
          </a:prstGeom>
          <a:solidFill>
            <a:schemeClr val="tx1"/>
          </a:solidFill>
          <a:ln w="12700">
            <a:solidFill>
              <a:schemeClr val="tx1"/>
            </a:solidFill>
            <a:prstDash val="solid"/>
          </a:ln>
        </p:spPr>
      </p:sp>
      <p:pic>
        <p:nvPicPr>
          <p:cNvPr id="10" name="icon-FaLightbulb" descr="preencoded.png">    </p:cNvPr>
          <p:cNvPicPr>
            <a:picLocks noChangeAspect="1"/>
          </p:cNvPicPr>
          <p:nvPr/>
        </p:nvPicPr>
        <p:blipFill>
          <a:blip r:embed="rId3"/>
          <a:stretch>
            <a:fillRect/>
          </a:stretch>
        </p:blipFill>
        <p:spPr>
          <a:xfrm>
            <a:off x="2951033" y="3701559"/>
            <a:ext cx="320040" cy="320040"/>
          </a:xfrm>
          <a:prstGeom prst="rect">
            <a:avLst/>
          </a:prstGeom>
        </p:spPr>
      </p:pic>
      <p:sp>
        <p:nvSpPr>
          <p:cNvPr id="11" name="circle-FaTools"/>
          <p:cNvSpPr/>
          <p:nvPr/>
        </p:nvSpPr>
        <p:spPr>
          <a:xfrm>
            <a:off x="1232347" y="3541539"/>
            <a:ext cx="640080" cy="640080"/>
          </a:xfrm>
          <a:prstGeom prst="ellipse">
            <a:avLst/>
          </a:prstGeom>
          <a:solidFill>
            <a:schemeClr val="tx1"/>
          </a:solidFill>
          <a:ln w="12700">
            <a:solidFill>
              <a:schemeClr val="tx1"/>
            </a:solidFill>
            <a:prstDash val="solid"/>
          </a:ln>
        </p:spPr>
      </p:sp>
      <p:pic>
        <p:nvPicPr>
          <p:cNvPr id="12" name="icon-FaTools" descr="preencoded.png">    </p:cNvPr>
          <p:cNvPicPr>
            <a:picLocks noChangeAspect="1"/>
          </p:cNvPicPr>
          <p:nvPr/>
        </p:nvPicPr>
        <p:blipFill>
          <a:blip r:embed="rId4"/>
          <a:stretch>
            <a:fillRect/>
          </a:stretch>
        </p:blipFill>
        <p:spPr>
          <a:xfrm>
            <a:off x="1392367" y="3701559"/>
            <a:ext cx="320040" cy="320040"/>
          </a:xfrm>
          <a:prstGeom prst="rect">
            <a:avLst/>
          </a:prstGeom>
        </p:spPr>
      </p:pic>
      <p:sp>
        <p:nvSpPr>
          <p:cNvPr id="13" name="circle-FaFlask"/>
          <p:cNvSpPr/>
          <p:nvPr/>
        </p:nvSpPr>
        <p:spPr>
          <a:xfrm>
            <a:off x="750693" y="2059161"/>
            <a:ext cx="640080" cy="640080"/>
          </a:xfrm>
          <a:prstGeom prst="ellipse">
            <a:avLst/>
          </a:prstGeom>
          <a:solidFill>
            <a:schemeClr val="tx1"/>
          </a:solidFill>
          <a:ln w="12700">
            <a:solidFill>
              <a:schemeClr val="tx1"/>
            </a:solidFill>
            <a:prstDash val="solid"/>
          </a:ln>
        </p:spPr>
      </p:sp>
      <p:pic>
        <p:nvPicPr>
          <p:cNvPr id="14" name="icon-FaFlask" descr="preencoded.png">    </p:cNvPr>
          <p:cNvPicPr>
            <a:picLocks noChangeAspect="1"/>
          </p:cNvPicPr>
          <p:nvPr/>
        </p:nvPicPr>
        <p:blipFill>
          <a:blip r:embed="rId5"/>
          <a:stretch>
            <a:fillRect/>
          </a:stretch>
        </p:blipFill>
        <p:spPr>
          <a:xfrm>
            <a:off x="910713" y="2219181"/>
            <a:ext cx="320040" cy="320040"/>
          </a:xfrm>
          <a:prstGeom prst="rect">
            <a:avLst/>
          </a:prstGeom>
        </p:spPr>
      </p:pic>
      <p:pic>
        <p:nvPicPr>
          <p:cNvPr id="15" name="Image 5" descr="preencoded.png">    </p:cNvPr>
          <p:cNvPicPr>
            <a:picLocks noChangeAspect="1"/>
          </p:cNvPicPr>
          <p:nvPr/>
        </p:nvPicPr>
        <p:blipFill>
          <a:blip r:embed="rId6"/>
          <a:stretch>
            <a:fillRect/>
          </a:stretch>
        </p:blipFill>
        <p:spPr>
          <a:xfrm>
            <a:off x="2011680" y="2331720"/>
            <a:ext cx="640080" cy="640080"/>
          </a:xfrm>
          <a:prstGeom prst="rect">
            <a:avLst/>
          </a:prstGeom>
        </p:spPr>
      </p:pic>
      <p:sp>
        <p:nvSpPr>
          <p:cNvPr id="16" name="Text 8"/>
          <p:cNvSpPr txBox="1"/>
          <p:nvPr/>
        </p:nvSpPr>
        <p:spPr>
          <a:xfrm>
            <a:off x="1691640" y="3017520"/>
            <a:ext cx="1280160" cy="274320"/>
          </a:xfrm>
          <a:prstGeom prst="rect">
            <a:avLst/>
          </a:prstGeom>
          <a:noFill/>
          <a:ln/>
        </p:spPr>
        <p:txBody>
          <a:bodyPr wrap="square" lIns="0" tIns="0" rIns="0" bIns="0" rtlCol="0" anchor="ctr"/>
          <a:lstStyle/>
          <a:p>
            <a:pPr algn="ctr" indent="0" marL="0">
              <a:buNone/>
            </a:pPr>
            <a:r>
              <a:rPr lang="en-US" sz="1200" b="1" dirty="0">
                <a:solidFill>
                  <a:schemeClr val="accent2"/>
                </a:solidFill>
              </a:rPr>
              <a:t>repeat</a:t>
            </a:r>
            <a:endParaRPr lang="en-US" sz="1200" dirty="0"/>
          </a:p>
        </p:txBody>
      </p:sp>
      <p:sp>
        <p:nvSpPr>
          <p:cNvPr id="17" name="Text 9"/>
          <p:cNvSpPr txBox="1"/>
          <p:nvPr/>
        </p:nvSpPr>
        <p:spPr>
          <a:xfrm>
            <a:off x="4480560" y="1280160"/>
            <a:ext cx="4206240" cy="822960"/>
          </a:xfrm>
          <a:prstGeom prst="rect">
            <a:avLst/>
          </a:prstGeom>
          <a:noFill/>
          <a:ln/>
        </p:spPr>
        <p:txBody>
          <a:bodyPr wrap="square" lIns="0" tIns="0" rIns="0" bIns="0" rtlCol="0" anchor="t"/>
          <a:lstStyle/>
          <a:p>
            <a:pPr indent="0" marL="0">
              <a:buNone/>
            </a:pPr>
            <a:r>
              <a:rPr lang="en-US" sz="1700" b="1" dirty="0">
                <a:solidFill>
                  <a:schemeClr val="tx1"/>
                </a:solidFill>
              </a:rPr>
              <a:t>The build is done. The next step is Empathize again, this time face to face.</a:t>
            </a:r>
            <a:endParaRPr lang="en-US" sz="1700" dirty="0"/>
          </a:p>
        </p:txBody>
      </p:sp>
      <p:sp>
        <p:nvSpPr>
          <p:cNvPr id="18" name="Text 10"/>
          <p:cNvSpPr txBox="1"/>
          <p:nvPr/>
        </p:nvSpPr>
        <p:spPr>
          <a:xfrm>
            <a:off x="4480560" y="2286000"/>
            <a:ext cx="4206240" cy="20116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Interview real users of local AI</a:t>
            </a:r>
            <a:endParaRPr lang="en-US" sz="1500" dirty="0"/>
          </a:p>
          <a:p>
            <a:pPr marL="342900" indent="-342900">
              <a:spcAft>
                <a:spcPts val="1000"/>
              </a:spcAft>
              <a:buSzPct val="100000"/>
              <a:buChar char="•"/>
            </a:pPr>
            <a:r>
              <a:rPr lang="en-US" sz="1500" dirty="0">
                <a:solidFill>
                  <a:schemeClr val="tx2"/>
                </a:solidFill>
              </a:rPr>
              <a:t>Question #1: “What hardware are you running?”</a:t>
            </a:r>
            <a:endParaRPr lang="en-US" sz="1500" dirty="0"/>
          </a:p>
          <a:p>
            <a:pPr marL="342900" indent="-342900">
              <a:spcAft>
                <a:spcPts val="1000"/>
              </a:spcAft>
              <a:buSzPct val="100000"/>
              <a:buChar char="•"/>
            </a:pPr>
            <a:r>
              <a:rPr lang="en-US" sz="1500" dirty="0">
                <a:solidFill>
                  <a:schemeClr val="tx2"/>
                </a:solidFill>
              </a:rPr>
              <a:t>Ask them to try it and tell us the truth</a:t>
            </a:r>
            <a:endParaRPr lang="en-US" sz="1500" dirty="0"/>
          </a:p>
          <a:p>
            <a:pPr marL="342900" indent="-342900">
              <a:spcAft>
                <a:spcPts val="1000"/>
              </a:spcAft>
              <a:buSzPct val="100000"/>
              <a:buChar char="•"/>
            </a:pPr>
            <a:r>
              <a:rPr lang="en-US" sz="1500" dirty="0">
                <a:solidFill>
                  <a:schemeClr val="tx2"/>
                </a:solidFill>
              </a:rPr>
              <a:t>Keep the claim only as big as the evidence</a:t>
            </a:r>
            <a:endParaRPr lang="en-US" sz="15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1371600"/>
            <a:ext cx="8046720" cy="822960"/>
          </a:xfrm>
          <a:prstGeom prst="rect">
            <a:avLst/>
          </a:prstGeom>
          <a:noFill/>
          <a:ln/>
        </p:spPr>
        <p:txBody>
          <a:bodyPr wrap="square" lIns="0" tIns="0" rIns="0" bIns="0" rtlCol="0" anchor="b"/>
          <a:lstStyle/>
          <a:p>
            <a:pPr indent="0" marL="0">
              <a:buNone/>
            </a:pPr>
            <a:r>
              <a:rPr lang="en-US" sz="4400" b="1" dirty="0">
                <a:solidFill>
                  <a:schemeClr val="bg1"/>
                </a:solidFill>
              </a:rPr>
              <a:t>Faster where it matters.</a:t>
            </a:r>
            <a:endParaRPr lang="en-US" sz="4400" dirty="0"/>
          </a:p>
        </p:txBody>
      </p:sp>
      <p:sp>
        <p:nvSpPr>
          <p:cNvPr id="3" name="Text 1"/>
          <p:cNvSpPr txBox="1"/>
          <p:nvPr/>
        </p:nvSpPr>
        <p:spPr>
          <a:xfrm>
            <a:off x="548640" y="2240280"/>
            <a:ext cx="8046720" cy="731520"/>
          </a:xfrm>
          <a:prstGeom prst="rect">
            <a:avLst/>
          </a:prstGeom>
          <a:noFill/>
          <a:ln/>
        </p:spPr>
        <p:txBody>
          <a:bodyPr wrap="square" lIns="0" tIns="0" rIns="0" bIns="0" rtlCol="0" anchor="t"/>
          <a:lstStyle/>
          <a:p>
            <a:pPr indent="0" marL="0">
              <a:buNone/>
            </a:pPr>
            <a:r>
              <a:rPr lang="en-US" sz="4400" b="1" dirty="0">
                <a:solidFill>
                  <a:srgbClr val="8C8C8C"/>
                </a:solidFill>
              </a:rPr>
              <a:t>Honest where it doesn't.</a:t>
            </a:r>
            <a:endParaRPr lang="en-US" sz="4400" dirty="0"/>
          </a:p>
        </p:txBody>
      </p:sp>
      <p:sp>
        <p:nvSpPr>
          <p:cNvPr id="4" name="Text 2"/>
          <p:cNvSpPr txBox="1"/>
          <p:nvPr/>
        </p:nvSpPr>
        <p:spPr>
          <a:xfrm>
            <a:off x="548640" y="4023360"/>
            <a:ext cx="3657600" cy="457200"/>
          </a:xfrm>
          <a:prstGeom prst="rect">
            <a:avLst/>
          </a:prstGeom>
          <a:noFill/>
          <a:ln/>
        </p:spPr>
        <p:txBody>
          <a:bodyPr wrap="square" lIns="0" tIns="0" rIns="0" bIns="0" rtlCol="0" anchor="ctr"/>
          <a:lstStyle/>
          <a:p>
            <a:pPr indent="0" marL="0">
              <a:buNone/>
            </a:pPr>
            <a:r>
              <a:rPr lang="en-US" sz="1800" b="1" dirty="0">
                <a:solidFill>
                  <a:schemeClr val="bg1"/>
                </a:solidFill>
              </a:rPr>
              <a:t>Thank you</a:t>
            </a:r>
            <a:endParaRPr lang="en-US" sz="1800" dirty="0"/>
          </a:p>
        </p:txBody>
      </p:sp>
      <p:sp>
        <p:nvSpPr>
          <p:cNvPr id="6" name="Text 0"/>
          <p:cNvSpPr/>
          <p:nvPr>
            <p:ph idx="100" type="title" hasCustomPrompt="1"/>
          </p:nvPr>
        </p:nvSpPr>
        <p:spPr>
          <a:xfrm>
            <a:off x="548640" y="1188720"/>
            <a:ext cx="8046720" cy="1188720"/>
          </a:xfrm>
          <a:prstGeom prst="rect">
            <a:avLst/>
          </a:prstGeom>
          <a:noFill/>
          <a:ln/>
        </p:spPr>
        <p:txBody>
          <a:bodyPr wrap="square" lIns="0" tIns="0" rIns="0" bIns="0" rtlCol="0" anchor="b"/>
          <a:lstStyle/>
          <a:p>
            <a:pPr algn="l" indent="0" marL="0">
              <a:buNone/>
            </a:pPr>
            <a:endParaRPr lang="en-US" sz="6600" dirty="0"/>
          </a:p>
        </p:txBody>
      </p:sp>
      <p:sp>
        <p:nvSpPr>
          <p:cNvPr id="7" name="Text 0"/>
          <p:cNvSpPr/>
          <p:nvPr>
            <p:ph idx="101" type="body" hasCustomPrompt="1"/>
          </p:nvPr>
        </p:nvSpPr>
        <p:spPr>
          <a:xfrm>
            <a:off x="548640" y="2514600"/>
            <a:ext cx="8046720" cy="731520"/>
          </a:xfrm>
          <a:prstGeom prst="rect">
            <a:avLst/>
          </a:prstGeom>
          <a:noFill/>
          <a:ln/>
        </p:spPr>
        <p:txBody>
          <a:bodyPr wrap="square" lIns="0" tIns="0" rIns="0" bIns="0" rtlCol="0" anchor="t"/>
          <a:lstStyle/>
          <a:p>
            <a:pPr algn="l" indent="0" marL="0">
              <a:buNone/>
            </a:pPr>
            <a:endParaRPr lang="en-US" sz="2200" dirty="0"/>
          </a:p>
        </p:txBody>
      </p:sp>
    </p:spTree>
  </p:cSld>
  <p:clrMapOvr>
    <a:masterClrMapping/>
  </p:clrMapOvr>
</p:sld>
</file>

<file path=ppt/theme/theme1.xml><?xml version="1.0" encoding="utf-8"?>
<a:theme xmlns:a="http://schemas.openxmlformats.org/drawingml/2006/main" name="Ramer Mono">
  <a:themeElements>
    <a:clrScheme name="Ramer Mono">
      <a:dk1>
        <a:srgbClr val="000000"/>
      </a:dk1>
      <a:lt1>
        <a:srgbClr val="FFFFFF"/>
      </a:lt1>
      <a:dk2>
        <a:srgbClr val="404040"/>
      </a:dk2>
      <a:lt2>
        <a:srgbClr val="F2F2F2"/>
      </a:lt2>
      <a:accent1>
        <a:srgbClr val="000000"/>
      </a:accent1>
      <a:accent2>
        <a:srgbClr val="595959"/>
      </a:accent2>
      <a:accent3>
        <a:srgbClr val="8C8C8C"/>
      </a:accent3>
      <a:accent4>
        <a:srgbClr val="BFBFBF"/>
      </a:accent4>
      <a:accent5>
        <a:srgbClr val="D9D9D9"/>
      </a:accent5>
      <a:accent6>
        <a:srgbClr val="262626"/>
      </a:accent6>
      <a:hlink>
        <a:srgbClr val="000000"/>
      </a:hlink>
      <a:folHlink>
        <a:srgbClr val="595959"/>
      </a:folHlink>
    </a:clrScheme>
    <a:fontScheme name="Ramer Mono">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Ramer: A Design Thinking Story</dc:title>
  <dc:subject>PptxGenJS Presentation</dc:subject>
  <dc:creator>Ramer</dc:creator>
  <cp:lastModifiedBy>Ramer</cp:lastModifiedBy>
  <cp:revision>1</cp:revision>
  <dcterms:created xsi:type="dcterms:W3CDTF">2026-10-06T04:13:11Z</dcterms:created>
  <dcterms:modified xsi:type="dcterms:W3CDTF">2026-10-06T04:13:11Z</dcterms:modified>
</cp:coreProperties>
</file>