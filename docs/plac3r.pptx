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plac3r sits between your local AI agent and Ollama and places the model on your GPU and CPU in the best way, then schedules several agents so they stop fighting over the GPU. This deck tells its story through the six steps of design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Empathize: we started from what real people were complaining about, not from a clever technical idea. Our user runs local AI on a mid-range NVIDIA card and feels the GPU is not used well. Apple Silicon Macs were ruled out because shared memory has no separate VRAM to optimize.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statement has the user's constraint built in. They should not have to change how they work. Pain one: Ollama's default GPU/CPU split is cautious, so a 14B model ran at 12.4 tokens per second. Pain two: with four agents at once, models were swapped in and out and the last agent waited 215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Ideate: most ideas were dropped for honest reasons: too expensive, did not hold up in measurement, out of reach technically, or already solved. The two survivors, smart layer placement and a multi-agent scheduler, directly attack the two pains from Define.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plac3r sits between your agent and Ollama. You point the agent at plac3r's port instead of Ollama's. Four rules keep it honest: context-aware placement, headroom-aware choices, self-healing fallback, and a scheduler that keeps the busy model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and Implement: every number was measured on one real machine against Ollama's own default placement. The coding task ran through a real third-party agent and was checked independently. We also report where it does not help: web-bound research, and a model too weak for the job. To implement, install the requirements, start the proxy on port 11435 and point your agent at it. Requirements: Python 3.10 or newer, Ollama and a discrete NVIDIA GPU. Built and tested on Windows; Linux is untested. Honest status: the technical build is done and validated, but customer discovery has not happened yet, so the next step is interviews and feedback, which restarts the loop at Empathize.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914400"/>
            <a:ext cx="8046720" cy="1463040"/>
          </a:xfrm>
          <a:prstGeom prst="rect">
            <a:avLst/>
          </a:prstGeom>
          <a:noFill/>
          <a:ln/>
        </p:spPr>
        <p:txBody>
          <a:bodyPr wrap="square" lIns="0" tIns="0" rIns="0" bIns="0" rtlCol="0" anchor="b"/>
          <a:lstStyle/>
          <a:p>
            <a:pPr indent="0" marL="0">
              <a:buNone/>
            </a:pPr>
            <a:r>
              <a:rPr lang="en-US" sz="8800" b="1" dirty="0">
                <a:solidFill>
                  <a:srgbClr val="FFFFFF"/>
                </a:solidFill>
                <a:latin typeface="Arial" pitchFamily="34" charset="0"/>
                <a:ea typeface="Arial" pitchFamily="34" charset="-122"/>
                <a:cs typeface="Arial" pitchFamily="34" charset="-120"/>
              </a:rPr>
              <a:t>plac3r</a:t>
            </a:r>
            <a:endParaRPr lang="en-US" sz="8800" dirty="0"/>
          </a:p>
        </p:txBody>
      </p:sp>
      <p:sp>
        <p:nvSpPr>
          <p:cNvPr id="4" name="Text 1"/>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400" dirty="0">
                <a:solidFill>
                  <a:srgbClr val="FFFFFF"/>
                </a:solidFill>
                <a:latin typeface="Arial" pitchFamily="34" charset="0"/>
                <a:ea typeface="Arial" pitchFamily="34" charset="-122"/>
                <a:cs typeface="Arial" pitchFamily="34" charset="-120"/>
              </a:rPr>
              <a:t>Getting more out of the GPU you already own</a:t>
            </a:r>
            <a:endParaRPr lang="en-US" sz="2400" dirty="0"/>
          </a:p>
        </p:txBody>
      </p:sp>
      <p:sp>
        <p:nvSpPr>
          <p:cNvPr id="5" name="Text 2"/>
          <p:cNvSpPr txBox="1"/>
          <p:nvPr/>
        </p:nvSpPr>
        <p:spPr>
          <a:xfrm>
            <a:off x="548640" y="3108960"/>
            <a:ext cx="8046720" cy="365760"/>
          </a:xfrm>
          <a:prstGeom prst="rect">
            <a:avLst/>
          </a:prstGeom>
          <a:noFill/>
          <a:ln/>
        </p:spPr>
        <p:txBody>
          <a:bodyPr wrap="square" lIns="0" tIns="0" rIns="0" bIns="0" rtlCol="0" anchor="ctr"/>
          <a:lstStyle/>
          <a:p>
            <a:pPr indent="0" marL="0">
              <a:buNone/>
            </a:pPr>
            <a:r>
              <a:rPr lang="en-US" sz="1600" i="1" dirty="0">
                <a:solidFill>
                  <a:srgbClr val="BFBFBF"/>
                </a:solidFill>
                <a:latin typeface="Arial" pitchFamily="34" charset="0"/>
                <a:ea typeface="Arial" pitchFamily="34" charset="-122"/>
                <a:cs typeface="Arial" pitchFamily="34" charset="-120"/>
              </a:rPr>
              <a:t>A project explained through design thinking</a:t>
            </a:r>
            <a:endParaRPr lang="en-US" sz="1600" dirty="0"/>
          </a:p>
        </p:txBody>
      </p:sp>
      <p:sp>
        <p:nvSpPr>
          <p:cNvPr id="6" name="Text 3"/>
          <p:cNvSpPr txBox="1"/>
          <p:nvPr/>
        </p:nvSpPr>
        <p:spPr>
          <a:xfrm>
            <a:off x="548640" y="4206240"/>
            <a:ext cx="8046720" cy="320040"/>
          </a:xfrm>
          <a:prstGeom prst="rect">
            <a:avLst/>
          </a:prstGeom>
          <a:noFill/>
          <a:ln/>
        </p:spPr>
        <p:txBody>
          <a:bodyPr wrap="square" lIns="0" tIns="0" rIns="0" bIns="0" rtlCol="0" anchor="ctr"/>
          <a:lstStyle/>
          <a:p>
            <a:pPr indent="0" marL="0">
              <a:buNone/>
            </a:pPr>
            <a:r>
              <a:rPr lang="en-US" sz="1200" b="1" spc="100" kern="0" dirty="0">
                <a:solidFill>
                  <a:srgbClr val="8C8C8C"/>
                </a:solidFill>
                <a:latin typeface="Arial" pitchFamily="34" charset="0"/>
                <a:ea typeface="Arial" pitchFamily="34" charset="-122"/>
                <a:cs typeface="Arial" pitchFamily="34" charset="-120"/>
              </a:rPr>
              <a:t>EMPATHIZE  ·  DEFINE  ·  IDEATE  ·  PROTOTYPE  ·  TEST &amp; IMPLEMENT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00000"/>
          </a:solidFill>
          <a:ln w="19050">
            <a:solidFill>
              <a:srgbClr val="000000"/>
            </a:solidFill>
            <a:prstDash val="solid"/>
          </a:ln>
        </p:spPr>
      </p:sp>
      <p:sp>
        <p:nvSpPr>
          <p:cNvPr id="3" name="Text 1"/>
          <p:cNvSpPr txBox="1"/>
          <p:nvPr/>
        </p:nvSpPr>
        <p:spPr>
          <a:xfrm>
            <a:off x="411480" y="365760"/>
            <a:ext cx="2286000" cy="1188720"/>
          </a:xfrm>
          <a:prstGeom prst="rect">
            <a:avLst/>
          </a:prstGeom>
          <a:noFill/>
          <a:ln/>
        </p:spPr>
        <p:txBody>
          <a:bodyPr wrap="square" lIns="0" tIns="0" rIns="0" bIns="0" rtlCol="0" anchor="b"/>
          <a:lstStyle/>
          <a:p>
            <a:pPr indent="0" marL="0">
              <a:buNone/>
            </a:pPr>
            <a:r>
              <a:rPr lang="en-US" sz="8000" b="1" dirty="0">
                <a:solidFill>
                  <a:srgbClr val="FFFFFF"/>
                </a:solidFill>
                <a:latin typeface="Arial" pitchFamily="34" charset="0"/>
                <a:ea typeface="Arial" pitchFamily="34" charset="-122"/>
                <a:cs typeface="Arial" pitchFamily="34" charset="-120"/>
              </a:rPr>
              <a:t>01</a:t>
            </a:r>
            <a:endParaRPr lang="en-US" sz="8000" dirty="0"/>
          </a:p>
        </p:txBody>
      </p:sp>
      <p:sp>
        <p:nvSpPr>
          <p:cNvPr id="4" name="Text 2"/>
          <p:cNvSpPr txBox="1"/>
          <p:nvPr/>
        </p:nvSpPr>
        <p:spPr>
          <a:xfrm>
            <a:off x="411480" y="1645920"/>
            <a:ext cx="237744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Empathize</a:t>
            </a:r>
            <a:endParaRPr lang="en-US" sz="3000" dirty="0"/>
          </a:p>
        </p:txBody>
      </p:sp>
      <p:sp>
        <p:nvSpPr>
          <p:cNvPr id="5" name="Text 3"/>
          <p:cNvSpPr txBox="1"/>
          <p:nvPr/>
        </p:nvSpPr>
        <p:spPr>
          <a:xfrm>
            <a:off x="411480" y="2240280"/>
            <a:ext cx="2286000" cy="731520"/>
          </a:xfrm>
          <a:prstGeom prst="rect">
            <a:avLst/>
          </a:prstGeom>
          <a:noFill/>
          <a:ln/>
        </p:spPr>
        <p:txBody>
          <a:bodyPr wrap="square" lIns="0" tIns="0" rIns="0" bIns="0" rtlCol="0" anchor="t"/>
          <a:lstStyle/>
          <a:p>
            <a:pPr indent="0" marL="0">
              <a:buNone/>
            </a:pPr>
            <a:r>
              <a:rPr lang="en-US" sz="1400" i="1" dirty="0">
                <a:solidFill>
                  <a:srgbClr val="BFBFBF"/>
                </a:solidFill>
                <a:latin typeface="Arial" pitchFamily="34" charset="0"/>
                <a:ea typeface="Arial" pitchFamily="34" charset="-122"/>
                <a:cs typeface="Arial" pitchFamily="34" charset="-120"/>
              </a:rPr>
              <a:t>Who is struggling, and how does it feel?</a:t>
            </a:r>
            <a:endParaRPr lang="en-US" sz="1400" dirty="0"/>
          </a:p>
        </p:txBody>
      </p:sp>
      <p:sp>
        <p:nvSpPr>
          <p:cNvPr id="6" name="Text 4"/>
          <p:cNvSpPr txBox="1"/>
          <p:nvPr/>
        </p:nvSpPr>
        <p:spPr>
          <a:xfrm>
            <a:off x="411480" y="3337560"/>
            <a:ext cx="228600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7" name="Text 5"/>
          <p:cNvSpPr txBox="1"/>
          <p:nvPr/>
        </p:nvSpPr>
        <p:spPr>
          <a:xfrm>
            <a:off x="411480" y="3611880"/>
            <a:ext cx="2286000" cy="10058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Understand the people who have the problem before thinking about any solution.</a:t>
            </a:r>
            <a:endParaRPr lang="en-US" sz="1300" dirty="0"/>
          </a:p>
        </p:txBody>
      </p:sp>
      <p:sp>
        <p:nvSpPr>
          <p:cNvPr id="8" name="Text 6"/>
          <p:cNvSpPr txBox="1"/>
          <p:nvPr/>
        </p:nvSpPr>
        <p:spPr>
          <a:xfrm>
            <a:off x="3246120" y="411480"/>
            <a:ext cx="544068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WE DID</a:t>
            </a:r>
            <a:endParaRPr lang="en-US" sz="1100" dirty="0"/>
          </a:p>
        </p:txBody>
      </p:sp>
      <p:sp>
        <p:nvSpPr>
          <p:cNvPr id="9" name="Text 7"/>
          <p:cNvSpPr txBox="1"/>
          <p:nvPr/>
        </p:nvSpPr>
        <p:spPr>
          <a:xfrm>
            <a:off x="3246120" y="685800"/>
            <a:ext cx="5440680" cy="8229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We read real forum threads, GitHub issues and Reddit posts, and ran local AI on a normal 8 GB GPU ourselves.</a:t>
            </a:r>
            <a:endParaRPr lang="en-US" sz="1700" dirty="0"/>
          </a:p>
        </p:txBody>
      </p:sp>
      <p:sp>
        <p:nvSpPr>
          <p:cNvPr id="11" name="Shape 8"/>
          <p:cNvSpPr/>
          <p:nvPr/>
        </p:nvSpPr>
        <p:spPr>
          <a:xfrm>
            <a:off x="3246120" y="1691640"/>
            <a:ext cx="1691640" cy="1828800"/>
          </a:xfrm>
          <a:prstGeom prst="rect">
            <a:avLst/>
          </a:prstGeom>
          <a:solidFill>
            <a:srgbClr val="FFFFFF"/>
          </a:solidFill>
          <a:ln w="19050">
            <a:solidFill>
              <a:srgbClr val="000000"/>
            </a:solidFill>
            <a:prstDash val="solid"/>
          </a:ln>
        </p:spPr>
      </p:sp>
      <p:sp>
        <p:nvSpPr>
          <p:cNvPr id="12" name="Text 9"/>
          <p:cNvSpPr txBox="1"/>
          <p:nvPr/>
        </p:nvSpPr>
        <p:spPr>
          <a:xfrm>
            <a:off x="3383280" y="1828800"/>
            <a:ext cx="1417320" cy="10972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“Still OOM Memory!”</a:t>
            </a:r>
            <a:endParaRPr lang="en-US" sz="1400" dirty="0"/>
          </a:p>
        </p:txBody>
      </p:sp>
      <p:sp>
        <p:nvSpPr>
          <p:cNvPr id="13" name="Text 10"/>
          <p:cNvSpPr txBox="1"/>
          <p:nvPr/>
        </p:nvSpPr>
        <p:spPr>
          <a:xfrm>
            <a:off x="3383280" y="2926080"/>
            <a:ext cx="1417320" cy="50292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A user after trying every suggested fix</a:t>
            </a:r>
            <a:endParaRPr lang="en-US" sz="1100" dirty="0"/>
          </a:p>
        </p:txBody>
      </p:sp>
      <p:sp>
        <p:nvSpPr>
          <p:cNvPr id="14" name="Shape 11"/>
          <p:cNvSpPr/>
          <p:nvPr/>
        </p:nvSpPr>
        <p:spPr>
          <a:xfrm>
            <a:off x="5120640" y="1691640"/>
            <a:ext cx="1691640" cy="1828800"/>
          </a:xfrm>
          <a:prstGeom prst="rect">
            <a:avLst/>
          </a:prstGeom>
          <a:solidFill>
            <a:srgbClr val="000000"/>
          </a:solidFill>
          <a:ln w="19050">
            <a:solidFill>
              <a:srgbClr val="000000"/>
            </a:solidFill>
            <a:prstDash val="solid"/>
          </a:ln>
        </p:spPr>
      </p:sp>
      <p:sp>
        <p:nvSpPr>
          <p:cNvPr id="15" name="Text 12"/>
          <p:cNvSpPr txBox="1"/>
          <p:nvPr/>
        </p:nvSpPr>
        <p:spPr>
          <a:xfrm>
            <a:off x="5257800" y="1828800"/>
            <a:ext cx="1417320" cy="109728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“Ollama works fine directly, but the agent framework is slow.”</a:t>
            </a:r>
            <a:endParaRPr lang="en-US" sz="1400" dirty="0"/>
          </a:p>
        </p:txBody>
      </p:sp>
      <p:sp>
        <p:nvSpPr>
          <p:cNvPr id="16" name="Text 13"/>
          <p:cNvSpPr txBox="1"/>
          <p:nvPr/>
        </p:nvSpPr>
        <p:spPr>
          <a:xfrm>
            <a:off x="5257800" y="2926080"/>
            <a:ext cx="1417320" cy="502920"/>
          </a:xfrm>
          <a:prstGeom prst="rect">
            <a:avLst/>
          </a:prstGeom>
          <a:noFill/>
          <a:ln/>
        </p:spPr>
        <p:txBody>
          <a:bodyPr wrap="square" lIns="0" tIns="0" rIns="0" bIns="0" rtlCol="0" anchor="t"/>
          <a:lstStyle/>
          <a:p>
            <a:pPr indent="0" marL="0">
              <a:buNone/>
            </a:pPr>
            <a:r>
              <a:rPr lang="en-US" sz="1100" dirty="0">
                <a:solidFill>
                  <a:srgbClr val="BFBFBF"/>
                </a:solidFill>
                <a:latin typeface="Arial" pitchFamily="34" charset="0"/>
                <a:ea typeface="Arial" pitchFamily="34" charset="-122"/>
                <a:cs typeface="Arial" pitchFamily="34" charset="-120"/>
              </a:rPr>
              <a:t>People running several agents at once</a:t>
            </a:r>
            <a:endParaRPr lang="en-US" sz="1100" dirty="0"/>
          </a:p>
        </p:txBody>
      </p:sp>
      <p:sp>
        <p:nvSpPr>
          <p:cNvPr id="17" name="Shape 14"/>
          <p:cNvSpPr/>
          <p:nvPr/>
        </p:nvSpPr>
        <p:spPr>
          <a:xfrm>
            <a:off x="6995160" y="1691640"/>
            <a:ext cx="1691640" cy="1828800"/>
          </a:xfrm>
          <a:prstGeom prst="rect">
            <a:avLst/>
          </a:prstGeom>
          <a:solidFill>
            <a:srgbClr val="FFFFFF"/>
          </a:solidFill>
          <a:ln w="19050">
            <a:solidFill>
              <a:srgbClr val="000000"/>
            </a:solidFill>
            <a:prstDash val="solid"/>
          </a:ln>
        </p:spPr>
      </p:sp>
      <p:sp>
        <p:nvSpPr>
          <p:cNvPr id="18" name="Text 15"/>
          <p:cNvSpPr txBox="1"/>
          <p:nvPr/>
        </p:nvSpPr>
        <p:spPr>
          <a:xfrm>
            <a:off x="7132320" y="1828800"/>
            <a:ext cx="1417320" cy="1097280"/>
          </a:xfrm>
          <a:prstGeom prst="rect">
            <a:avLst/>
          </a:prstGeom>
          <a:noFill/>
          <a:ln/>
        </p:spPr>
        <p:txBody>
          <a:bodyPr wrap="square" lIns="0" tIns="0" rIns="0" bIns="0" rtlCol="0" anchor="t"/>
          <a:lstStyle/>
          <a:p>
            <a:pPr indent="0" marL="0">
              <a:buNone/>
            </a:pPr>
            <a:r>
              <a:rPr lang="en-US" sz="1400" b="1" dirty="0">
                <a:solidFill>
                  <a:srgbClr val="000000"/>
                </a:solidFill>
                <a:latin typeface="Arial" pitchFamily="34" charset="0"/>
                <a:ea typeface="Arial" pitchFamily="34" charset="-122"/>
                <a:cs typeface="Arial" pitchFamily="34" charset="-120"/>
              </a:rPr>
              <a:t>“99% wouldn't know what VRAM is.”</a:t>
            </a:r>
            <a:endParaRPr lang="en-US" sz="1400" dirty="0"/>
          </a:p>
        </p:txBody>
      </p:sp>
      <p:sp>
        <p:nvSpPr>
          <p:cNvPr id="19" name="Text 16"/>
          <p:cNvSpPr txBox="1"/>
          <p:nvPr/>
        </p:nvSpPr>
        <p:spPr>
          <a:xfrm>
            <a:off x="7132320" y="2926080"/>
            <a:ext cx="1417320" cy="50292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A commenter on r/LocalLLaMA</a:t>
            </a:r>
            <a:endParaRPr lang="en-US" sz="1100" dirty="0"/>
          </a:p>
        </p:txBody>
      </p:sp>
      <p:sp>
        <p:nvSpPr>
          <p:cNvPr id="20" name="Shape 17"/>
          <p:cNvSpPr/>
          <p:nvPr/>
        </p:nvSpPr>
        <p:spPr>
          <a:xfrm>
            <a:off x="3246120" y="3703320"/>
            <a:ext cx="5440680" cy="822960"/>
          </a:xfrm>
          <a:prstGeom prst="rect">
            <a:avLst/>
          </a:prstGeom>
          <a:solidFill>
            <a:srgbClr val="F2F2F2"/>
          </a:solidFill>
          <a:ln w="19050">
            <a:solidFill>
              <a:srgbClr val="F2F2F2"/>
            </a:solidFill>
            <a:prstDash val="solid"/>
          </a:ln>
        </p:spPr>
      </p:sp>
      <p:sp>
        <p:nvSpPr>
          <p:cNvPr id="21" name="Text 18"/>
          <p:cNvSpPr txBox="1"/>
          <p:nvPr/>
        </p:nvSpPr>
        <p:spPr>
          <a:xfrm>
            <a:off x="3429000" y="3703320"/>
            <a:ext cx="5074920" cy="82296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Our user: </a:t>
            </a:r>
            <a:pPr indent="0" marL="0">
              <a:buNone/>
            </a:pPr>
            <a:r>
              <a:rPr lang="en-US" sz="1300" dirty="0">
                <a:solidFill>
                  <a:srgbClr val="000000"/>
                </a:solidFill>
                <a:latin typeface="Arial" pitchFamily="34" charset="0"/>
                <a:ea typeface="Arial" pitchFamily="34" charset="-122"/>
                <a:cs typeface="Arial" pitchFamily="34" charset="-120"/>
              </a:rPr>
              <a:t>runs local AI on an 8 to 16 GB gaming GPU and feels it isn't used well. </a:t>
            </a:r>
            <a:pPr indent="0" marL="0">
              <a:buNone/>
            </a:pPr>
            <a:r>
              <a:rPr lang="en-US" sz="1300" b="1" dirty="0">
                <a:solidFill>
                  <a:srgbClr val="000000"/>
                </a:solidFill>
                <a:latin typeface="Arial" pitchFamily="34" charset="0"/>
                <a:ea typeface="Arial" pitchFamily="34" charset="-122"/>
                <a:cs typeface="Arial" pitchFamily="34" charset="-120"/>
              </a:rPr>
              <a:t>Not our user: </a:t>
            </a:r>
            <a:pPr indent="0" marL="0">
              <a:buNone/>
            </a:pPr>
            <a:r>
              <a:rPr lang="en-US" sz="1300" dirty="0">
                <a:solidFill>
                  <a:srgbClr val="000000"/>
                </a:solidFill>
                <a:latin typeface="Arial" pitchFamily="34" charset="0"/>
                <a:ea typeface="Arial" pitchFamily="34" charset="-122"/>
                <a:cs typeface="Arial" pitchFamily="34" charset="-120"/>
              </a:rPr>
              <a:t>Apple Silicon Mac owners (shared memory, nothing to split).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00000"/>
          </a:solidFill>
          <a:ln w="19050">
            <a:solidFill>
              <a:srgbClr val="000000"/>
            </a:solidFill>
            <a:prstDash val="solid"/>
          </a:ln>
        </p:spPr>
      </p:sp>
      <p:sp>
        <p:nvSpPr>
          <p:cNvPr id="3" name="Text 1"/>
          <p:cNvSpPr txBox="1"/>
          <p:nvPr/>
        </p:nvSpPr>
        <p:spPr>
          <a:xfrm>
            <a:off x="411480" y="365760"/>
            <a:ext cx="2286000" cy="1188720"/>
          </a:xfrm>
          <a:prstGeom prst="rect">
            <a:avLst/>
          </a:prstGeom>
          <a:noFill/>
          <a:ln/>
        </p:spPr>
        <p:txBody>
          <a:bodyPr wrap="square" lIns="0" tIns="0" rIns="0" bIns="0" rtlCol="0" anchor="b"/>
          <a:lstStyle/>
          <a:p>
            <a:pPr indent="0" marL="0">
              <a:buNone/>
            </a:pPr>
            <a:r>
              <a:rPr lang="en-US" sz="8000" b="1" dirty="0">
                <a:solidFill>
                  <a:srgbClr val="FFFFFF"/>
                </a:solidFill>
                <a:latin typeface="Arial" pitchFamily="34" charset="0"/>
                <a:ea typeface="Arial" pitchFamily="34" charset="-122"/>
                <a:cs typeface="Arial" pitchFamily="34" charset="-120"/>
              </a:rPr>
              <a:t>02</a:t>
            </a:r>
            <a:endParaRPr lang="en-US" sz="8000" dirty="0"/>
          </a:p>
        </p:txBody>
      </p:sp>
      <p:sp>
        <p:nvSpPr>
          <p:cNvPr id="4" name="Text 2"/>
          <p:cNvSpPr txBox="1"/>
          <p:nvPr/>
        </p:nvSpPr>
        <p:spPr>
          <a:xfrm>
            <a:off x="411480" y="1645920"/>
            <a:ext cx="237744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Define</a:t>
            </a:r>
            <a:endParaRPr lang="en-US" sz="3000" dirty="0"/>
          </a:p>
        </p:txBody>
      </p:sp>
      <p:sp>
        <p:nvSpPr>
          <p:cNvPr id="5" name="Text 3"/>
          <p:cNvSpPr txBox="1"/>
          <p:nvPr/>
        </p:nvSpPr>
        <p:spPr>
          <a:xfrm>
            <a:off x="411480" y="2240280"/>
            <a:ext cx="2286000" cy="731520"/>
          </a:xfrm>
          <a:prstGeom prst="rect">
            <a:avLst/>
          </a:prstGeom>
          <a:noFill/>
          <a:ln/>
        </p:spPr>
        <p:txBody>
          <a:bodyPr wrap="square" lIns="0" tIns="0" rIns="0" bIns="0" rtlCol="0" anchor="t"/>
          <a:lstStyle/>
          <a:p>
            <a:pPr indent="0" marL="0">
              <a:buNone/>
            </a:pPr>
            <a:r>
              <a:rPr lang="en-US" sz="1400" i="1" dirty="0">
                <a:solidFill>
                  <a:srgbClr val="BFBFBF"/>
                </a:solidFill>
                <a:latin typeface="Arial" pitchFamily="34" charset="0"/>
                <a:ea typeface="Arial" pitchFamily="34" charset="-122"/>
                <a:cs typeface="Arial" pitchFamily="34" charset="-120"/>
              </a:rPr>
              <a:t>What is the real problem?</a:t>
            </a:r>
            <a:endParaRPr lang="en-US" sz="1400" dirty="0"/>
          </a:p>
        </p:txBody>
      </p:sp>
      <p:sp>
        <p:nvSpPr>
          <p:cNvPr id="6" name="Text 4"/>
          <p:cNvSpPr txBox="1"/>
          <p:nvPr/>
        </p:nvSpPr>
        <p:spPr>
          <a:xfrm>
            <a:off x="411480" y="3337560"/>
            <a:ext cx="228600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7" name="Text 5"/>
          <p:cNvSpPr txBox="1"/>
          <p:nvPr/>
        </p:nvSpPr>
        <p:spPr>
          <a:xfrm>
            <a:off x="411480" y="3611880"/>
            <a:ext cx="2286000" cy="10058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Turn what you learned into one clear problem statement everyone agrees on.</a:t>
            </a:r>
            <a:endParaRPr lang="en-US" sz="1300" dirty="0"/>
          </a:p>
        </p:txBody>
      </p:sp>
      <p:sp>
        <p:nvSpPr>
          <p:cNvPr id="8" name="Text 6"/>
          <p:cNvSpPr txBox="1"/>
          <p:nvPr/>
        </p:nvSpPr>
        <p:spPr>
          <a:xfrm>
            <a:off x="3246120" y="411480"/>
            <a:ext cx="544068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WE DID</a:t>
            </a:r>
            <a:endParaRPr lang="en-US" sz="1100" dirty="0"/>
          </a:p>
        </p:txBody>
      </p:sp>
      <p:sp>
        <p:nvSpPr>
          <p:cNvPr id="9" name="Text 7"/>
          <p:cNvSpPr txBox="1"/>
          <p:nvPr/>
        </p:nvSpPr>
        <p:spPr>
          <a:xfrm>
            <a:off x="3246120" y="685800"/>
            <a:ext cx="5440680" cy="8229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We boiled the research down to one question and two measurable pains.</a:t>
            </a:r>
            <a:endParaRPr lang="en-US" sz="1700" dirty="0"/>
          </a:p>
        </p:txBody>
      </p:sp>
      <p:sp>
        <p:nvSpPr>
          <p:cNvPr id="11" name="Shape 8"/>
          <p:cNvSpPr/>
          <p:nvPr/>
        </p:nvSpPr>
        <p:spPr>
          <a:xfrm>
            <a:off x="3246120" y="1691640"/>
            <a:ext cx="5440680" cy="1143000"/>
          </a:xfrm>
          <a:prstGeom prst="rect">
            <a:avLst/>
          </a:prstGeom>
          <a:solidFill>
            <a:srgbClr val="000000"/>
          </a:solidFill>
          <a:ln w="19050">
            <a:solidFill>
              <a:srgbClr val="000000"/>
            </a:solidFill>
            <a:prstDash val="solid"/>
          </a:ln>
        </p:spPr>
      </p:sp>
      <p:sp>
        <p:nvSpPr>
          <p:cNvPr id="12" name="Text 9"/>
          <p:cNvSpPr txBox="1"/>
          <p:nvPr/>
        </p:nvSpPr>
        <p:spPr>
          <a:xfrm>
            <a:off x="3520440" y="1691640"/>
            <a:ext cx="4892040" cy="11430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How might we </a:t>
            </a:r>
            <a:pPr indent="0" marL="0">
              <a:buNone/>
            </a:pPr>
            <a:r>
              <a:rPr lang="en-US" sz="1700" dirty="0">
                <a:solidFill>
                  <a:srgbClr val="FFFFFF"/>
                </a:solidFill>
                <a:latin typeface="Arial" pitchFamily="34" charset="0"/>
                <a:ea typeface="Arial" pitchFamily="34" charset="-122"/>
                <a:cs typeface="Arial" pitchFamily="34" charset="-120"/>
              </a:rPr>
              <a:t>help people with ordinary GPUs run local AI agents faster, without changing how they work?</a:t>
            </a:r>
            <a:endParaRPr lang="en-US" sz="1700" dirty="0"/>
          </a:p>
        </p:txBody>
      </p:sp>
      <p:sp>
        <p:nvSpPr>
          <p:cNvPr id="13" name="Shape 10"/>
          <p:cNvSpPr/>
          <p:nvPr/>
        </p:nvSpPr>
        <p:spPr>
          <a:xfrm>
            <a:off x="3246120" y="3017520"/>
            <a:ext cx="2628900" cy="1508760"/>
          </a:xfrm>
          <a:prstGeom prst="rect">
            <a:avLst/>
          </a:prstGeom>
          <a:solidFill>
            <a:srgbClr val="FFFFFF"/>
          </a:solidFill>
          <a:ln w="19050">
            <a:solidFill>
              <a:srgbClr val="000000"/>
            </a:solidFill>
            <a:prstDash val="solid"/>
          </a:ln>
        </p:spPr>
      </p:sp>
      <p:sp>
        <p:nvSpPr>
          <p:cNvPr id="14" name="Text 11"/>
          <p:cNvSpPr txBox="1"/>
          <p:nvPr/>
        </p:nvSpPr>
        <p:spPr>
          <a:xfrm>
            <a:off x="3429000" y="3108960"/>
            <a:ext cx="1371600" cy="594360"/>
          </a:xfrm>
          <a:prstGeom prst="rect">
            <a:avLst/>
          </a:prstGeom>
          <a:noFill/>
          <a:ln/>
        </p:spPr>
        <p:txBody>
          <a:bodyPr wrap="square" lIns="0" tIns="0" rIns="0" bIns="0" rtlCol="0" anchor="ctr"/>
          <a:lstStyle/>
          <a:p>
            <a:pPr indent="0" marL="0">
              <a:buNone/>
            </a:pPr>
            <a:r>
              <a:rPr lang="en-US" sz="3400" b="1" dirty="0">
                <a:solidFill>
                  <a:srgbClr val="000000"/>
                </a:solidFill>
                <a:latin typeface="Arial" pitchFamily="34" charset="0"/>
                <a:ea typeface="Arial" pitchFamily="34" charset="-122"/>
                <a:cs typeface="Arial" pitchFamily="34" charset="-120"/>
              </a:rPr>
              <a:t>12.4</a:t>
            </a:r>
            <a:endParaRPr lang="en-US" sz="3400" dirty="0"/>
          </a:p>
        </p:txBody>
      </p:sp>
      <p:sp>
        <p:nvSpPr>
          <p:cNvPr id="15" name="Text 12"/>
          <p:cNvSpPr txBox="1"/>
          <p:nvPr/>
        </p:nvSpPr>
        <p:spPr>
          <a:xfrm>
            <a:off x="4663440" y="3108960"/>
            <a:ext cx="1097280" cy="594360"/>
          </a:xfrm>
          <a:prstGeom prst="rect">
            <a:avLst/>
          </a:prstGeom>
          <a:noFill/>
          <a:ln/>
        </p:spPr>
        <p:txBody>
          <a:bodyPr wrap="square" lIns="0" tIns="0" rIns="0" bIns="0" rtlCol="0" anchor="ctr"/>
          <a:lstStyle/>
          <a:p>
            <a:pPr indent="0" marL="0">
              <a:buNone/>
            </a:pPr>
            <a:r>
              <a:rPr lang="en-US" sz="1200" b="1" dirty="0">
                <a:solidFill>
                  <a:srgbClr val="595959"/>
                </a:solidFill>
                <a:latin typeface="Arial" pitchFamily="34" charset="0"/>
                <a:ea typeface="Arial" pitchFamily="34" charset="-122"/>
                <a:cs typeface="Arial" pitchFamily="34" charset="-120"/>
              </a:rPr>
              <a:t>tokens per second</a:t>
            </a:r>
            <a:endParaRPr lang="en-US" sz="1200" dirty="0"/>
          </a:p>
        </p:txBody>
      </p:sp>
      <p:sp>
        <p:nvSpPr>
          <p:cNvPr id="16" name="Text 13"/>
          <p:cNvSpPr txBox="1"/>
          <p:nvPr/>
        </p:nvSpPr>
        <p:spPr>
          <a:xfrm>
            <a:off x="3429000" y="3749040"/>
            <a:ext cx="2286000" cy="73152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Pain 1, a wasted GPU: Ollama's default placement on a 14B model is safe, not fast.</a:t>
            </a:r>
            <a:endParaRPr lang="en-US" sz="1200" dirty="0"/>
          </a:p>
        </p:txBody>
      </p:sp>
      <p:sp>
        <p:nvSpPr>
          <p:cNvPr id="17" name="Shape 14"/>
          <p:cNvSpPr/>
          <p:nvPr/>
        </p:nvSpPr>
        <p:spPr>
          <a:xfrm>
            <a:off x="6057900" y="3017520"/>
            <a:ext cx="2628900" cy="1508760"/>
          </a:xfrm>
          <a:prstGeom prst="rect">
            <a:avLst/>
          </a:prstGeom>
          <a:solidFill>
            <a:srgbClr val="FFFFFF"/>
          </a:solidFill>
          <a:ln w="19050">
            <a:solidFill>
              <a:srgbClr val="000000"/>
            </a:solidFill>
            <a:prstDash val="solid"/>
          </a:ln>
        </p:spPr>
      </p:sp>
      <p:sp>
        <p:nvSpPr>
          <p:cNvPr id="18" name="Text 15"/>
          <p:cNvSpPr txBox="1"/>
          <p:nvPr/>
        </p:nvSpPr>
        <p:spPr>
          <a:xfrm>
            <a:off x="6240780" y="3108960"/>
            <a:ext cx="1371600" cy="594360"/>
          </a:xfrm>
          <a:prstGeom prst="rect">
            <a:avLst/>
          </a:prstGeom>
          <a:noFill/>
          <a:ln/>
        </p:spPr>
        <p:txBody>
          <a:bodyPr wrap="square" lIns="0" tIns="0" rIns="0" bIns="0" rtlCol="0" anchor="ctr"/>
          <a:lstStyle/>
          <a:p>
            <a:pPr indent="0" marL="0">
              <a:buNone/>
            </a:pPr>
            <a:r>
              <a:rPr lang="en-US" sz="3400" b="1" dirty="0">
                <a:solidFill>
                  <a:srgbClr val="000000"/>
                </a:solidFill>
                <a:latin typeface="Arial" pitchFamily="34" charset="0"/>
                <a:ea typeface="Arial" pitchFamily="34" charset="-122"/>
                <a:cs typeface="Arial" pitchFamily="34" charset="-120"/>
              </a:rPr>
              <a:t>215 s</a:t>
            </a:r>
            <a:endParaRPr lang="en-US" sz="3400" dirty="0"/>
          </a:p>
        </p:txBody>
      </p:sp>
      <p:sp>
        <p:nvSpPr>
          <p:cNvPr id="19" name="Text 16"/>
          <p:cNvSpPr txBox="1"/>
          <p:nvPr/>
        </p:nvSpPr>
        <p:spPr>
          <a:xfrm>
            <a:off x="7475220" y="3108960"/>
            <a:ext cx="1097280" cy="594360"/>
          </a:xfrm>
          <a:prstGeom prst="rect">
            <a:avLst/>
          </a:prstGeom>
          <a:noFill/>
          <a:ln/>
        </p:spPr>
        <p:txBody>
          <a:bodyPr wrap="square" lIns="0" tIns="0" rIns="0" bIns="0" rtlCol="0" anchor="ctr"/>
          <a:lstStyle/>
          <a:p>
            <a:pPr indent="0" marL="0">
              <a:buNone/>
            </a:pPr>
            <a:r>
              <a:rPr lang="en-US" sz="1200" b="1" dirty="0">
                <a:solidFill>
                  <a:srgbClr val="595959"/>
                </a:solidFill>
                <a:latin typeface="Arial" pitchFamily="34" charset="0"/>
                <a:ea typeface="Arial" pitchFamily="34" charset="-122"/>
                <a:cs typeface="Arial" pitchFamily="34" charset="-120"/>
              </a:rPr>
              <a:t>for the last agent</a:t>
            </a:r>
            <a:endParaRPr lang="en-US" sz="1200" dirty="0"/>
          </a:p>
        </p:txBody>
      </p:sp>
      <p:sp>
        <p:nvSpPr>
          <p:cNvPr id="20" name="Text 17"/>
          <p:cNvSpPr txBox="1"/>
          <p:nvPr/>
        </p:nvSpPr>
        <p:spPr>
          <a:xfrm>
            <a:off x="6240780" y="3749040"/>
            <a:ext cx="2286000" cy="73152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Pain 2, agents fight over it: with 4 agents at once, models are swapped in and out.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00000"/>
          </a:solidFill>
          <a:ln w="19050">
            <a:solidFill>
              <a:srgbClr val="000000"/>
            </a:solidFill>
            <a:prstDash val="solid"/>
          </a:ln>
        </p:spPr>
      </p:sp>
      <p:sp>
        <p:nvSpPr>
          <p:cNvPr id="3" name="Text 1"/>
          <p:cNvSpPr txBox="1"/>
          <p:nvPr/>
        </p:nvSpPr>
        <p:spPr>
          <a:xfrm>
            <a:off x="411480" y="365760"/>
            <a:ext cx="2286000" cy="1188720"/>
          </a:xfrm>
          <a:prstGeom prst="rect">
            <a:avLst/>
          </a:prstGeom>
          <a:noFill/>
          <a:ln/>
        </p:spPr>
        <p:txBody>
          <a:bodyPr wrap="square" lIns="0" tIns="0" rIns="0" bIns="0" rtlCol="0" anchor="b"/>
          <a:lstStyle/>
          <a:p>
            <a:pPr indent="0" marL="0">
              <a:buNone/>
            </a:pPr>
            <a:r>
              <a:rPr lang="en-US" sz="8000" b="1" dirty="0">
                <a:solidFill>
                  <a:srgbClr val="FFFFFF"/>
                </a:solidFill>
                <a:latin typeface="Arial" pitchFamily="34" charset="0"/>
                <a:ea typeface="Arial" pitchFamily="34" charset="-122"/>
                <a:cs typeface="Arial" pitchFamily="34" charset="-120"/>
              </a:rPr>
              <a:t>03</a:t>
            </a:r>
            <a:endParaRPr lang="en-US" sz="8000" dirty="0"/>
          </a:p>
        </p:txBody>
      </p:sp>
      <p:sp>
        <p:nvSpPr>
          <p:cNvPr id="4" name="Text 2"/>
          <p:cNvSpPr txBox="1"/>
          <p:nvPr/>
        </p:nvSpPr>
        <p:spPr>
          <a:xfrm>
            <a:off x="411480" y="1645920"/>
            <a:ext cx="237744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Ideate</a:t>
            </a:r>
            <a:endParaRPr lang="en-US" sz="3000" dirty="0"/>
          </a:p>
        </p:txBody>
      </p:sp>
      <p:sp>
        <p:nvSpPr>
          <p:cNvPr id="5" name="Text 3"/>
          <p:cNvSpPr txBox="1"/>
          <p:nvPr/>
        </p:nvSpPr>
        <p:spPr>
          <a:xfrm>
            <a:off x="411480" y="2240280"/>
            <a:ext cx="2286000" cy="731520"/>
          </a:xfrm>
          <a:prstGeom prst="rect">
            <a:avLst/>
          </a:prstGeom>
          <a:noFill/>
          <a:ln/>
        </p:spPr>
        <p:txBody>
          <a:bodyPr wrap="square" lIns="0" tIns="0" rIns="0" bIns="0" rtlCol="0" anchor="t"/>
          <a:lstStyle/>
          <a:p>
            <a:pPr indent="0" marL="0">
              <a:buNone/>
            </a:pPr>
            <a:r>
              <a:rPr lang="en-US" sz="1400" i="1" dirty="0">
                <a:solidFill>
                  <a:srgbClr val="BFBFBF"/>
                </a:solidFill>
                <a:latin typeface="Arial" pitchFamily="34" charset="0"/>
                <a:ea typeface="Arial" pitchFamily="34" charset="-122"/>
                <a:cs typeface="Arial" pitchFamily="34" charset="-120"/>
              </a:rPr>
              <a:t>What could we do about it?</a:t>
            </a:r>
            <a:endParaRPr lang="en-US" sz="1400" dirty="0"/>
          </a:p>
        </p:txBody>
      </p:sp>
      <p:sp>
        <p:nvSpPr>
          <p:cNvPr id="6" name="Text 4"/>
          <p:cNvSpPr txBox="1"/>
          <p:nvPr/>
        </p:nvSpPr>
        <p:spPr>
          <a:xfrm>
            <a:off x="411480" y="3337560"/>
            <a:ext cx="228600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7" name="Text 5"/>
          <p:cNvSpPr txBox="1"/>
          <p:nvPr/>
        </p:nvSpPr>
        <p:spPr>
          <a:xfrm>
            <a:off x="411480" y="3611880"/>
            <a:ext cx="2286000" cy="10058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Come up with many ideas first, then choose using evidence, not hunches.</a:t>
            </a:r>
            <a:endParaRPr lang="en-US" sz="1300" dirty="0"/>
          </a:p>
        </p:txBody>
      </p:sp>
      <p:sp>
        <p:nvSpPr>
          <p:cNvPr id="8" name="Text 6"/>
          <p:cNvSpPr txBox="1"/>
          <p:nvPr/>
        </p:nvSpPr>
        <p:spPr>
          <a:xfrm>
            <a:off x="3246120" y="411480"/>
            <a:ext cx="544068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WE DID</a:t>
            </a:r>
            <a:endParaRPr lang="en-US" sz="1100" dirty="0"/>
          </a:p>
        </p:txBody>
      </p:sp>
      <p:sp>
        <p:nvSpPr>
          <p:cNvPr id="9" name="Text 7"/>
          <p:cNvSpPr txBox="1"/>
          <p:nvPr/>
        </p:nvSpPr>
        <p:spPr>
          <a:xfrm>
            <a:off x="3246120" y="685800"/>
            <a:ext cx="5440680" cy="8229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We listed six ideas, tested them, and kept the two that were real, unsolved and measurable.</a:t>
            </a:r>
            <a:endParaRPr lang="en-US" sz="1700" dirty="0"/>
          </a:p>
        </p:txBody>
      </p:sp>
      <p:sp>
        <p:nvSpPr>
          <p:cNvPr id="11" name="Shape 8"/>
          <p:cNvSpPr/>
          <p:nvPr/>
        </p:nvSpPr>
        <p:spPr>
          <a:xfrm>
            <a:off x="3246120" y="1691640"/>
            <a:ext cx="1691640" cy="1325880"/>
          </a:xfrm>
          <a:prstGeom prst="rect">
            <a:avLst/>
          </a:prstGeom>
          <a:solidFill>
            <a:srgbClr val="FFFFFF"/>
          </a:solidFill>
          <a:ln w="19050">
            <a:solidFill>
              <a:srgbClr val="BFBFBF"/>
            </a:solidFill>
            <a:prstDash val="solid"/>
          </a:ln>
        </p:spPr>
      </p:sp>
      <p:sp>
        <p:nvSpPr>
          <p:cNvPr id="12" name="Text 9"/>
          <p:cNvSpPr txBox="1"/>
          <p:nvPr/>
        </p:nvSpPr>
        <p:spPr>
          <a:xfrm>
            <a:off x="3383280" y="1801368"/>
            <a:ext cx="1417320" cy="228600"/>
          </a:xfrm>
          <a:prstGeom prst="rect">
            <a:avLst/>
          </a:prstGeom>
          <a:noFill/>
          <a:ln/>
        </p:spPr>
        <p:txBody>
          <a:bodyPr wrap="square" lIns="0" tIns="0" rIns="0" bIns="0" rtlCol="0" anchor="ctr"/>
          <a:lstStyle/>
          <a:p>
            <a:pPr indent="0" marL="0">
              <a:buNone/>
            </a:pPr>
            <a:r>
              <a:rPr lang="en-US" sz="1000" b="1" spc="100" kern="0" dirty="0">
                <a:solidFill>
                  <a:srgbClr val="8C8C8C"/>
                </a:solidFill>
                <a:latin typeface="Arial" pitchFamily="34" charset="0"/>
                <a:ea typeface="Arial" pitchFamily="34" charset="-122"/>
                <a:cs typeface="Arial" pitchFamily="34" charset="-120"/>
              </a:rPr>
              <a:t>DROPPED</a:t>
            </a:r>
            <a:endParaRPr lang="en-US" sz="1000" dirty="0"/>
          </a:p>
        </p:txBody>
      </p:sp>
      <p:sp>
        <p:nvSpPr>
          <p:cNvPr id="13" name="Text 10"/>
          <p:cNvSpPr txBox="1"/>
          <p:nvPr/>
        </p:nvSpPr>
        <p:spPr>
          <a:xfrm>
            <a:off x="3383280" y="2057400"/>
            <a:ext cx="146304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Bigger GPU</a:t>
            </a:r>
            <a:endParaRPr lang="en-US" sz="1400" dirty="0"/>
          </a:p>
        </p:txBody>
      </p:sp>
      <p:sp>
        <p:nvSpPr>
          <p:cNvPr id="14" name="Text 11"/>
          <p:cNvSpPr txBox="1"/>
          <p:nvPr/>
        </p:nvSpPr>
        <p:spPr>
          <a:xfrm>
            <a:off x="3383280" y="2377440"/>
            <a:ext cx="1417320" cy="59436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Costs money; users keep what they own.</a:t>
            </a:r>
            <a:endParaRPr lang="en-US" sz="1100" dirty="0"/>
          </a:p>
        </p:txBody>
      </p:sp>
      <p:sp>
        <p:nvSpPr>
          <p:cNvPr id="15" name="Shape 12"/>
          <p:cNvSpPr/>
          <p:nvPr/>
        </p:nvSpPr>
        <p:spPr>
          <a:xfrm>
            <a:off x="5120640" y="1691640"/>
            <a:ext cx="1691640" cy="1325880"/>
          </a:xfrm>
          <a:prstGeom prst="rect">
            <a:avLst/>
          </a:prstGeom>
          <a:solidFill>
            <a:srgbClr val="FFFFFF"/>
          </a:solidFill>
          <a:ln w="19050">
            <a:solidFill>
              <a:srgbClr val="BFBFBF"/>
            </a:solidFill>
            <a:prstDash val="solid"/>
          </a:ln>
        </p:spPr>
      </p:sp>
      <p:sp>
        <p:nvSpPr>
          <p:cNvPr id="16" name="Text 13"/>
          <p:cNvSpPr txBox="1"/>
          <p:nvPr/>
        </p:nvSpPr>
        <p:spPr>
          <a:xfrm>
            <a:off x="5257800" y="1801368"/>
            <a:ext cx="1417320" cy="228600"/>
          </a:xfrm>
          <a:prstGeom prst="rect">
            <a:avLst/>
          </a:prstGeom>
          <a:noFill/>
          <a:ln/>
        </p:spPr>
        <p:txBody>
          <a:bodyPr wrap="square" lIns="0" tIns="0" rIns="0" bIns="0" rtlCol="0" anchor="ctr"/>
          <a:lstStyle/>
          <a:p>
            <a:pPr indent="0" marL="0">
              <a:buNone/>
            </a:pPr>
            <a:r>
              <a:rPr lang="en-US" sz="1000" b="1" spc="100" kern="0" dirty="0">
                <a:solidFill>
                  <a:srgbClr val="8C8C8C"/>
                </a:solidFill>
                <a:latin typeface="Arial" pitchFamily="34" charset="0"/>
                <a:ea typeface="Arial" pitchFamily="34" charset="-122"/>
                <a:cs typeface="Arial" pitchFamily="34" charset="-120"/>
              </a:rPr>
              <a:t>DROPPED</a:t>
            </a:r>
            <a:endParaRPr lang="en-US" sz="1000" dirty="0"/>
          </a:p>
        </p:txBody>
      </p:sp>
      <p:sp>
        <p:nvSpPr>
          <p:cNvPr id="17" name="Text 14"/>
          <p:cNvSpPr txBox="1"/>
          <p:nvPr/>
        </p:nvSpPr>
        <p:spPr>
          <a:xfrm>
            <a:off x="5257800" y="2057400"/>
            <a:ext cx="146304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Memory tiering</a:t>
            </a:r>
            <a:endParaRPr lang="en-US" sz="1400" dirty="0"/>
          </a:p>
        </p:txBody>
      </p:sp>
      <p:sp>
        <p:nvSpPr>
          <p:cNvPr id="18" name="Text 15"/>
          <p:cNvSpPr txBox="1"/>
          <p:nvPr/>
        </p:nvSpPr>
        <p:spPr>
          <a:xfrm>
            <a:off x="5257800" y="2377440"/>
            <a:ext cx="1417320" cy="59436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10-phase research; gains did not hold up.</a:t>
            </a:r>
            <a:endParaRPr lang="en-US" sz="1100" dirty="0"/>
          </a:p>
        </p:txBody>
      </p:sp>
      <p:sp>
        <p:nvSpPr>
          <p:cNvPr id="19" name="Shape 16"/>
          <p:cNvSpPr/>
          <p:nvPr/>
        </p:nvSpPr>
        <p:spPr>
          <a:xfrm>
            <a:off x="6995160" y="1691640"/>
            <a:ext cx="1691640" cy="1325880"/>
          </a:xfrm>
          <a:prstGeom prst="rect">
            <a:avLst/>
          </a:prstGeom>
          <a:solidFill>
            <a:srgbClr val="FFFFFF"/>
          </a:solidFill>
          <a:ln w="19050">
            <a:solidFill>
              <a:srgbClr val="BFBFBF"/>
            </a:solidFill>
            <a:prstDash val="solid"/>
          </a:ln>
        </p:spPr>
      </p:sp>
      <p:sp>
        <p:nvSpPr>
          <p:cNvPr id="20" name="Text 17"/>
          <p:cNvSpPr txBox="1"/>
          <p:nvPr/>
        </p:nvSpPr>
        <p:spPr>
          <a:xfrm>
            <a:off x="7132320" y="1801368"/>
            <a:ext cx="1417320" cy="228600"/>
          </a:xfrm>
          <a:prstGeom prst="rect">
            <a:avLst/>
          </a:prstGeom>
          <a:noFill/>
          <a:ln/>
        </p:spPr>
        <p:txBody>
          <a:bodyPr wrap="square" lIns="0" tIns="0" rIns="0" bIns="0" rtlCol="0" anchor="ctr"/>
          <a:lstStyle/>
          <a:p>
            <a:pPr indent="0" marL="0">
              <a:buNone/>
            </a:pPr>
            <a:r>
              <a:rPr lang="en-US" sz="1000" b="1" spc="100" kern="0" dirty="0">
                <a:solidFill>
                  <a:srgbClr val="8C8C8C"/>
                </a:solidFill>
                <a:latin typeface="Arial" pitchFamily="34" charset="0"/>
                <a:ea typeface="Arial" pitchFamily="34" charset="-122"/>
                <a:cs typeface="Arial" pitchFamily="34" charset="-120"/>
              </a:rPr>
              <a:t>DROPPED</a:t>
            </a:r>
            <a:endParaRPr lang="en-US" sz="1000" dirty="0"/>
          </a:p>
        </p:txBody>
      </p:sp>
      <p:sp>
        <p:nvSpPr>
          <p:cNvPr id="21" name="Text 18"/>
          <p:cNvSpPr txBox="1"/>
          <p:nvPr/>
        </p:nvSpPr>
        <p:spPr>
          <a:xfrm>
            <a:off x="7132320" y="2057400"/>
            <a:ext cx="146304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MoE placement</a:t>
            </a:r>
            <a:endParaRPr lang="en-US" sz="1400" dirty="0"/>
          </a:p>
        </p:txBody>
      </p:sp>
      <p:sp>
        <p:nvSpPr>
          <p:cNvPr id="22" name="Text 19"/>
          <p:cNvSpPr txBox="1"/>
          <p:nvPr/>
        </p:nvSpPr>
        <p:spPr>
          <a:xfrm>
            <a:off x="7132320" y="2377440"/>
            <a:ext cx="1417320" cy="59436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Ollama's API can't reach it.</a:t>
            </a:r>
            <a:endParaRPr lang="en-US" sz="1100" dirty="0"/>
          </a:p>
        </p:txBody>
      </p:sp>
      <p:sp>
        <p:nvSpPr>
          <p:cNvPr id="23" name="Shape 20"/>
          <p:cNvSpPr/>
          <p:nvPr/>
        </p:nvSpPr>
        <p:spPr>
          <a:xfrm>
            <a:off x="3246120" y="3154680"/>
            <a:ext cx="1691640" cy="1325880"/>
          </a:xfrm>
          <a:prstGeom prst="rect">
            <a:avLst/>
          </a:prstGeom>
          <a:solidFill>
            <a:srgbClr val="FFFFFF"/>
          </a:solidFill>
          <a:ln w="19050">
            <a:solidFill>
              <a:srgbClr val="BFBFBF"/>
            </a:solidFill>
            <a:prstDash val="solid"/>
          </a:ln>
        </p:spPr>
      </p:sp>
      <p:sp>
        <p:nvSpPr>
          <p:cNvPr id="24" name="Text 21"/>
          <p:cNvSpPr txBox="1"/>
          <p:nvPr/>
        </p:nvSpPr>
        <p:spPr>
          <a:xfrm>
            <a:off x="3383280" y="3264408"/>
            <a:ext cx="1417320" cy="228600"/>
          </a:xfrm>
          <a:prstGeom prst="rect">
            <a:avLst/>
          </a:prstGeom>
          <a:noFill/>
          <a:ln/>
        </p:spPr>
        <p:txBody>
          <a:bodyPr wrap="square" lIns="0" tIns="0" rIns="0" bIns="0" rtlCol="0" anchor="ctr"/>
          <a:lstStyle/>
          <a:p>
            <a:pPr indent="0" marL="0">
              <a:buNone/>
            </a:pPr>
            <a:r>
              <a:rPr lang="en-US" sz="1000" b="1" spc="100" kern="0" dirty="0">
                <a:solidFill>
                  <a:srgbClr val="8C8C8C"/>
                </a:solidFill>
                <a:latin typeface="Arial" pitchFamily="34" charset="0"/>
                <a:ea typeface="Arial" pitchFamily="34" charset="-122"/>
                <a:cs typeface="Arial" pitchFamily="34" charset="-120"/>
              </a:rPr>
              <a:t>DROPPED</a:t>
            </a:r>
            <a:endParaRPr lang="en-US" sz="1000" dirty="0"/>
          </a:p>
        </p:txBody>
      </p:sp>
      <p:sp>
        <p:nvSpPr>
          <p:cNvPr id="25" name="Text 22"/>
          <p:cNvSpPr txBox="1"/>
          <p:nvPr/>
        </p:nvSpPr>
        <p:spPr>
          <a:xfrm>
            <a:off x="3383280" y="3520440"/>
            <a:ext cx="146304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Shared memory</a:t>
            </a:r>
            <a:endParaRPr lang="en-US" sz="1400" dirty="0"/>
          </a:p>
        </p:txBody>
      </p:sp>
      <p:sp>
        <p:nvSpPr>
          <p:cNvPr id="26" name="Text 23"/>
          <p:cNvSpPr txBox="1"/>
          <p:nvPr/>
        </p:nvSpPr>
        <p:spPr>
          <a:xfrm>
            <a:off x="3383280" y="3840480"/>
            <a:ext cx="1417320" cy="59436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Ollama already does this well enough.</a:t>
            </a:r>
            <a:endParaRPr lang="en-US" sz="1100" dirty="0"/>
          </a:p>
        </p:txBody>
      </p:sp>
      <p:sp>
        <p:nvSpPr>
          <p:cNvPr id="27" name="Shape 24"/>
          <p:cNvSpPr/>
          <p:nvPr/>
        </p:nvSpPr>
        <p:spPr>
          <a:xfrm>
            <a:off x="5120640" y="3154680"/>
            <a:ext cx="1691640" cy="1325880"/>
          </a:xfrm>
          <a:prstGeom prst="rect">
            <a:avLst/>
          </a:prstGeom>
          <a:solidFill>
            <a:srgbClr val="000000"/>
          </a:solidFill>
          <a:ln w="19050">
            <a:solidFill>
              <a:srgbClr val="000000"/>
            </a:solidFill>
            <a:prstDash val="solid"/>
          </a:ln>
        </p:spPr>
      </p:sp>
      <p:sp>
        <p:nvSpPr>
          <p:cNvPr id="28" name="Text 25"/>
          <p:cNvSpPr txBox="1"/>
          <p:nvPr/>
        </p:nvSpPr>
        <p:spPr>
          <a:xfrm>
            <a:off x="5257800" y="3264408"/>
            <a:ext cx="1417320" cy="228600"/>
          </a:xfrm>
          <a:prstGeom prst="rect">
            <a:avLst/>
          </a:prstGeom>
          <a:noFill/>
          <a:ln/>
        </p:spPr>
        <p:txBody>
          <a:bodyPr wrap="square" lIns="0" tIns="0" rIns="0" bIns="0" rtlCol="0" anchor="ctr"/>
          <a:lstStyle/>
          <a:p>
            <a:pPr indent="0" marL="0">
              <a:buNone/>
            </a:pPr>
            <a:r>
              <a:rPr lang="en-US" sz="1000" b="1" spc="100" kern="0" dirty="0">
                <a:solidFill>
                  <a:srgbClr val="BFBFBF"/>
                </a:solidFill>
                <a:latin typeface="Arial" pitchFamily="34" charset="0"/>
                <a:ea typeface="Arial" pitchFamily="34" charset="-122"/>
                <a:cs typeface="Arial" pitchFamily="34" charset="-120"/>
              </a:rPr>
              <a:t>CHOSEN</a:t>
            </a:r>
            <a:endParaRPr lang="en-US" sz="1000" dirty="0"/>
          </a:p>
        </p:txBody>
      </p:sp>
      <p:sp>
        <p:nvSpPr>
          <p:cNvPr id="29" name="Text 26"/>
          <p:cNvSpPr txBox="1"/>
          <p:nvPr/>
        </p:nvSpPr>
        <p:spPr>
          <a:xfrm>
            <a:off x="5257800" y="3520440"/>
            <a:ext cx="14630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Smart placement</a:t>
            </a:r>
            <a:endParaRPr lang="en-US" sz="1400" dirty="0"/>
          </a:p>
        </p:txBody>
      </p:sp>
      <p:sp>
        <p:nvSpPr>
          <p:cNvPr id="30" name="Text 27"/>
          <p:cNvSpPr txBox="1"/>
          <p:nvPr/>
        </p:nvSpPr>
        <p:spPr>
          <a:xfrm>
            <a:off x="5257800" y="3840480"/>
            <a:ext cx="1417320" cy="594360"/>
          </a:xfrm>
          <a:prstGeom prst="rect">
            <a:avLst/>
          </a:prstGeom>
          <a:noFill/>
          <a:ln/>
        </p:spPr>
        <p:txBody>
          <a:bodyPr wrap="square" lIns="0" tIns="0" rIns="0" bIns="0" rtlCol="0" anchor="t"/>
          <a:lstStyle/>
          <a:p>
            <a:pPr indent="0" marL="0">
              <a:buNone/>
            </a:pPr>
            <a:r>
              <a:rPr lang="en-US" sz="1100" dirty="0">
                <a:solidFill>
                  <a:srgbClr val="D9D9D9"/>
                </a:solidFill>
                <a:latin typeface="Arial" pitchFamily="34" charset="0"/>
                <a:ea typeface="Arial" pitchFamily="34" charset="-122"/>
                <a:cs typeface="Arial" pitchFamily="34" charset="-120"/>
              </a:rPr>
              <a:t>Best GPU/CPU split per model.</a:t>
            </a:r>
            <a:endParaRPr lang="en-US" sz="1100" dirty="0"/>
          </a:p>
        </p:txBody>
      </p:sp>
      <p:sp>
        <p:nvSpPr>
          <p:cNvPr id="31" name="Shape 28"/>
          <p:cNvSpPr/>
          <p:nvPr/>
        </p:nvSpPr>
        <p:spPr>
          <a:xfrm>
            <a:off x="6995160" y="3154680"/>
            <a:ext cx="1691640" cy="1325880"/>
          </a:xfrm>
          <a:prstGeom prst="rect">
            <a:avLst/>
          </a:prstGeom>
          <a:solidFill>
            <a:srgbClr val="000000"/>
          </a:solidFill>
          <a:ln w="19050">
            <a:solidFill>
              <a:srgbClr val="000000"/>
            </a:solidFill>
            <a:prstDash val="solid"/>
          </a:ln>
        </p:spPr>
      </p:sp>
      <p:sp>
        <p:nvSpPr>
          <p:cNvPr id="32" name="Text 29"/>
          <p:cNvSpPr txBox="1"/>
          <p:nvPr/>
        </p:nvSpPr>
        <p:spPr>
          <a:xfrm>
            <a:off x="7132320" y="3264408"/>
            <a:ext cx="1417320" cy="228600"/>
          </a:xfrm>
          <a:prstGeom prst="rect">
            <a:avLst/>
          </a:prstGeom>
          <a:noFill/>
          <a:ln/>
        </p:spPr>
        <p:txBody>
          <a:bodyPr wrap="square" lIns="0" tIns="0" rIns="0" bIns="0" rtlCol="0" anchor="ctr"/>
          <a:lstStyle/>
          <a:p>
            <a:pPr indent="0" marL="0">
              <a:buNone/>
            </a:pPr>
            <a:r>
              <a:rPr lang="en-US" sz="1000" b="1" spc="100" kern="0" dirty="0">
                <a:solidFill>
                  <a:srgbClr val="BFBFBF"/>
                </a:solidFill>
                <a:latin typeface="Arial" pitchFamily="34" charset="0"/>
                <a:ea typeface="Arial" pitchFamily="34" charset="-122"/>
                <a:cs typeface="Arial" pitchFamily="34" charset="-120"/>
              </a:rPr>
              <a:t>CHOSEN</a:t>
            </a:r>
            <a:endParaRPr lang="en-US" sz="1000" dirty="0"/>
          </a:p>
        </p:txBody>
      </p:sp>
      <p:sp>
        <p:nvSpPr>
          <p:cNvPr id="33" name="Text 30"/>
          <p:cNvSpPr txBox="1"/>
          <p:nvPr/>
        </p:nvSpPr>
        <p:spPr>
          <a:xfrm>
            <a:off x="7132320" y="3520440"/>
            <a:ext cx="14630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Agent scheduler</a:t>
            </a:r>
            <a:endParaRPr lang="en-US" sz="1400" dirty="0"/>
          </a:p>
        </p:txBody>
      </p:sp>
      <p:sp>
        <p:nvSpPr>
          <p:cNvPr id="34" name="Text 31"/>
          <p:cNvSpPr txBox="1"/>
          <p:nvPr/>
        </p:nvSpPr>
        <p:spPr>
          <a:xfrm>
            <a:off x="7132320" y="3840480"/>
            <a:ext cx="1417320" cy="594360"/>
          </a:xfrm>
          <a:prstGeom prst="rect">
            <a:avLst/>
          </a:prstGeom>
          <a:noFill/>
          <a:ln/>
        </p:spPr>
        <p:txBody>
          <a:bodyPr wrap="square" lIns="0" tIns="0" rIns="0" bIns="0" rtlCol="0" anchor="t"/>
          <a:lstStyle/>
          <a:p>
            <a:pPr indent="0" marL="0">
              <a:buNone/>
            </a:pPr>
            <a:r>
              <a:rPr lang="en-US" sz="1100" dirty="0">
                <a:solidFill>
                  <a:srgbClr val="D9D9D9"/>
                </a:solidFill>
                <a:latin typeface="Arial" pitchFamily="34" charset="0"/>
                <a:ea typeface="Arial" pitchFamily="34" charset="-122"/>
                <a:cs typeface="Arial" pitchFamily="34" charset="-120"/>
              </a:rPr>
              <a:t>Agents stop evicting each other.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00000"/>
          </a:solidFill>
          <a:ln w="19050">
            <a:solidFill>
              <a:srgbClr val="000000"/>
            </a:solidFill>
            <a:prstDash val="solid"/>
          </a:ln>
        </p:spPr>
      </p:sp>
      <p:sp>
        <p:nvSpPr>
          <p:cNvPr id="3" name="Text 1"/>
          <p:cNvSpPr txBox="1"/>
          <p:nvPr/>
        </p:nvSpPr>
        <p:spPr>
          <a:xfrm>
            <a:off x="411480" y="365760"/>
            <a:ext cx="2286000" cy="1188720"/>
          </a:xfrm>
          <a:prstGeom prst="rect">
            <a:avLst/>
          </a:prstGeom>
          <a:noFill/>
          <a:ln/>
        </p:spPr>
        <p:txBody>
          <a:bodyPr wrap="square" lIns="0" tIns="0" rIns="0" bIns="0" rtlCol="0" anchor="b"/>
          <a:lstStyle/>
          <a:p>
            <a:pPr indent="0" marL="0">
              <a:buNone/>
            </a:pPr>
            <a:r>
              <a:rPr lang="en-US" sz="8000" b="1" dirty="0">
                <a:solidFill>
                  <a:srgbClr val="FFFFFF"/>
                </a:solidFill>
                <a:latin typeface="Arial" pitchFamily="34" charset="0"/>
                <a:ea typeface="Arial" pitchFamily="34" charset="-122"/>
                <a:cs typeface="Arial" pitchFamily="34" charset="-120"/>
              </a:rPr>
              <a:t>04</a:t>
            </a:r>
            <a:endParaRPr lang="en-US" sz="8000" dirty="0"/>
          </a:p>
        </p:txBody>
      </p:sp>
      <p:sp>
        <p:nvSpPr>
          <p:cNvPr id="4" name="Text 2"/>
          <p:cNvSpPr txBox="1"/>
          <p:nvPr/>
        </p:nvSpPr>
        <p:spPr>
          <a:xfrm>
            <a:off x="411480" y="1645920"/>
            <a:ext cx="237744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Prototype</a:t>
            </a:r>
            <a:endParaRPr lang="en-US" sz="3000" dirty="0"/>
          </a:p>
        </p:txBody>
      </p:sp>
      <p:sp>
        <p:nvSpPr>
          <p:cNvPr id="5" name="Text 3"/>
          <p:cNvSpPr txBox="1"/>
          <p:nvPr/>
        </p:nvSpPr>
        <p:spPr>
          <a:xfrm>
            <a:off x="411480" y="2240280"/>
            <a:ext cx="2286000" cy="731520"/>
          </a:xfrm>
          <a:prstGeom prst="rect">
            <a:avLst/>
          </a:prstGeom>
          <a:noFill/>
          <a:ln/>
        </p:spPr>
        <p:txBody>
          <a:bodyPr wrap="square" lIns="0" tIns="0" rIns="0" bIns="0" rtlCol="0" anchor="t"/>
          <a:lstStyle/>
          <a:p>
            <a:pPr indent="0" marL="0">
              <a:buNone/>
            </a:pPr>
            <a:r>
              <a:rPr lang="en-US" sz="1400" i="1" dirty="0">
                <a:solidFill>
                  <a:srgbClr val="BFBFBF"/>
                </a:solidFill>
                <a:latin typeface="Arial" pitchFamily="34" charset="0"/>
                <a:ea typeface="Arial" pitchFamily="34" charset="-122"/>
                <a:cs typeface="Arial" pitchFamily="34" charset="-120"/>
              </a:rPr>
              <a:t>Can we build a working version?</a:t>
            </a:r>
            <a:endParaRPr lang="en-US" sz="1400" dirty="0"/>
          </a:p>
        </p:txBody>
      </p:sp>
      <p:sp>
        <p:nvSpPr>
          <p:cNvPr id="6" name="Text 4"/>
          <p:cNvSpPr txBox="1"/>
          <p:nvPr/>
        </p:nvSpPr>
        <p:spPr>
          <a:xfrm>
            <a:off x="411480" y="3337560"/>
            <a:ext cx="228600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7" name="Text 5"/>
          <p:cNvSpPr txBox="1"/>
          <p:nvPr/>
        </p:nvSpPr>
        <p:spPr>
          <a:xfrm>
            <a:off x="411480" y="3611880"/>
            <a:ext cx="2286000" cy="10058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Build something real, quickly and cheaply, so you can learn from it.</a:t>
            </a:r>
            <a:endParaRPr lang="en-US" sz="1300" dirty="0"/>
          </a:p>
        </p:txBody>
      </p:sp>
      <p:sp>
        <p:nvSpPr>
          <p:cNvPr id="8" name="Text 6"/>
          <p:cNvSpPr txBox="1"/>
          <p:nvPr/>
        </p:nvSpPr>
        <p:spPr>
          <a:xfrm>
            <a:off x="3246120" y="411480"/>
            <a:ext cx="544068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WE DID</a:t>
            </a:r>
            <a:endParaRPr lang="en-US" sz="1100" dirty="0"/>
          </a:p>
        </p:txBody>
      </p:sp>
      <p:sp>
        <p:nvSpPr>
          <p:cNvPr id="9" name="Text 7"/>
          <p:cNvSpPr txBox="1"/>
          <p:nvPr/>
        </p:nvSpPr>
        <p:spPr>
          <a:xfrm>
            <a:off x="3246120" y="685800"/>
            <a:ext cx="5440680" cy="8229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We built a working proxy, a command line tool and a desktop app, then tested it with aider and pi.</a:t>
            </a:r>
            <a:endParaRPr lang="en-US" sz="1700" dirty="0"/>
          </a:p>
        </p:txBody>
      </p:sp>
      <p:sp>
        <p:nvSpPr>
          <p:cNvPr id="11" name="Shape 8"/>
          <p:cNvSpPr/>
          <p:nvPr/>
        </p:nvSpPr>
        <p:spPr>
          <a:xfrm>
            <a:off x="3246120" y="1691640"/>
            <a:ext cx="1143000" cy="731520"/>
          </a:xfrm>
          <a:prstGeom prst="rect">
            <a:avLst/>
          </a:prstGeom>
          <a:solidFill>
            <a:srgbClr val="FFFFFF"/>
          </a:solidFill>
          <a:ln w="19050">
            <a:solidFill>
              <a:srgbClr val="000000"/>
            </a:solidFill>
            <a:prstDash val="solid"/>
          </a:ln>
        </p:spPr>
      </p:sp>
      <p:sp>
        <p:nvSpPr>
          <p:cNvPr id="12" name="Text 9"/>
          <p:cNvSpPr txBox="1"/>
          <p:nvPr/>
        </p:nvSpPr>
        <p:spPr>
          <a:xfrm>
            <a:off x="3246120" y="1691640"/>
            <a:ext cx="1143000" cy="731520"/>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Your agent</a:t>
            </a:r>
            <a:endParaRPr lang="en-US" sz="1400" dirty="0"/>
          </a:p>
        </p:txBody>
      </p:sp>
      <p:sp>
        <p:nvSpPr>
          <p:cNvPr id="13" name="Text 10"/>
          <p:cNvSpPr txBox="1"/>
          <p:nvPr/>
        </p:nvSpPr>
        <p:spPr>
          <a:xfrm>
            <a:off x="4389120" y="1691640"/>
            <a:ext cx="274320" cy="731520"/>
          </a:xfrm>
          <a:prstGeom prst="rect">
            <a:avLst/>
          </a:prstGeom>
          <a:noFill/>
          <a:ln/>
        </p:spPr>
        <p:txBody>
          <a:bodyPr wrap="square" lIns="0" tIns="0" rIns="0" bIns="0" rtlCol="0" anchor="ctr"/>
          <a:lstStyle/>
          <a:p>
            <a:pPr algn="ct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4" name="Shape 11"/>
          <p:cNvSpPr/>
          <p:nvPr/>
        </p:nvSpPr>
        <p:spPr>
          <a:xfrm>
            <a:off x="4663440" y="1691640"/>
            <a:ext cx="1143000" cy="731520"/>
          </a:xfrm>
          <a:prstGeom prst="rect">
            <a:avLst/>
          </a:prstGeom>
          <a:solidFill>
            <a:srgbClr val="000000"/>
          </a:solidFill>
          <a:ln w="19050">
            <a:solidFill>
              <a:srgbClr val="000000"/>
            </a:solidFill>
            <a:prstDash val="solid"/>
          </a:ln>
        </p:spPr>
      </p:sp>
      <p:sp>
        <p:nvSpPr>
          <p:cNvPr id="15" name="Text 12"/>
          <p:cNvSpPr txBox="1"/>
          <p:nvPr/>
        </p:nvSpPr>
        <p:spPr>
          <a:xfrm>
            <a:off x="4663440" y="1691640"/>
            <a:ext cx="114300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plac3r</a:t>
            </a:r>
            <a:endParaRPr lang="en-US" sz="1400" dirty="0"/>
          </a:p>
        </p:txBody>
      </p:sp>
      <p:sp>
        <p:nvSpPr>
          <p:cNvPr id="16" name="Text 13"/>
          <p:cNvSpPr txBox="1"/>
          <p:nvPr/>
        </p:nvSpPr>
        <p:spPr>
          <a:xfrm>
            <a:off x="5806440" y="1691640"/>
            <a:ext cx="274320" cy="731520"/>
          </a:xfrm>
          <a:prstGeom prst="rect">
            <a:avLst/>
          </a:prstGeom>
          <a:noFill/>
          <a:ln/>
        </p:spPr>
        <p:txBody>
          <a:bodyPr wrap="square" lIns="0" tIns="0" rIns="0" bIns="0" rtlCol="0" anchor="ctr"/>
          <a:lstStyle/>
          <a:p>
            <a:pPr algn="ct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17" name="Shape 14"/>
          <p:cNvSpPr/>
          <p:nvPr/>
        </p:nvSpPr>
        <p:spPr>
          <a:xfrm>
            <a:off x="6080760" y="1691640"/>
            <a:ext cx="1143000" cy="731520"/>
          </a:xfrm>
          <a:prstGeom prst="rect">
            <a:avLst/>
          </a:prstGeom>
          <a:solidFill>
            <a:srgbClr val="FFFFFF"/>
          </a:solidFill>
          <a:ln w="19050">
            <a:solidFill>
              <a:srgbClr val="000000"/>
            </a:solidFill>
            <a:prstDash val="solid"/>
          </a:ln>
        </p:spPr>
      </p:sp>
      <p:sp>
        <p:nvSpPr>
          <p:cNvPr id="18" name="Text 15"/>
          <p:cNvSpPr txBox="1"/>
          <p:nvPr/>
        </p:nvSpPr>
        <p:spPr>
          <a:xfrm>
            <a:off x="6080760" y="1691640"/>
            <a:ext cx="1143000" cy="731520"/>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Ollama</a:t>
            </a:r>
            <a:endParaRPr lang="en-US" sz="1400" dirty="0"/>
          </a:p>
        </p:txBody>
      </p:sp>
      <p:sp>
        <p:nvSpPr>
          <p:cNvPr id="19" name="Text 16"/>
          <p:cNvSpPr txBox="1"/>
          <p:nvPr/>
        </p:nvSpPr>
        <p:spPr>
          <a:xfrm>
            <a:off x="7223760" y="1691640"/>
            <a:ext cx="274320" cy="731520"/>
          </a:xfrm>
          <a:prstGeom prst="rect">
            <a:avLst/>
          </a:prstGeom>
          <a:noFill/>
          <a:ln/>
        </p:spPr>
        <p:txBody>
          <a:bodyPr wrap="square" lIns="0" tIns="0" rIns="0" bIns="0" rtlCol="0" anchor="ctr"/>
          <a:lstStyle/>
          <a:p>
            <a:pPr algn="ctr" indent="0" marL="0">
              <a:buNone/>
            </a:pPr>
            <a:r>
              <a:rPr lang="en-US" sz="1800" dirty="0">
                <a:solidFill>
                  <a:srgbClr val="000000"/>
                </a:solidFill>
                <a:latin typeface="Arial" pitchFamily="34" charset="0"/>
                <a:ea typeface="Arial" pitchFamily="34" charset="-122"/>
                <a:cs typeface="Arial" pitchFamily="34" charset="-120"/>
              </a:rPr>
              <a:t>→</a:t>
            </a:r>
            <a:endParaRPr lang="en-US" sz="1800" dirty="0"/>
          </a:p>
        </p:txBody>
      </p:sp>
      <p:sp>
        <p:nvSpPr>
          <p:cNvPr id="20" name="Shape 17"/>
          <p:cNvSpPr/>
          <p:nvPr/>
        </p:nvSpPr>
        <p:spPr>
          <a:xfrm>
            <a:off x="7498080" y="1691640"/>
            <a:ext cx="1143000" cy="731520"/>
          </a:xfrm>
          <a:prstGeom prst="rect">
            <a:avLst/>
          </a:prstGeom>
          <a:solidFill>
            <a:srgbClr val="FFFFFF"/>
          </a:solidFill>
          <a:ln w="19050">
            <a:solidFill>
              <a:srgbClr val="000000"/>
            </a:solidFill>
            <a:prstDash val="solid"/>
          </a:ln>
        </p:spPr>
      </p:sp>
      <p:sp>
        <p:nvSpPr>
          <p:cNvPr id="21" name="Text 18"/>
          <p:cNvSpPr txBox="1"/>
          <p:nvPr/>
        </p:nvSpPr>
        <p:spPr>
          <a:xfrm>
            <a:off x="7498080" y="1691640"/>
            <a:ext cx="1143000" cy="731520"/>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Your GPU</a:t>
            </a:r>
            <a:endParaRPr lang="en-US" sz="1400" dirty="0"/>
          </a:p>
        </p:txBody>
      </p:sp>
      <p:sp>
        <p:nvSpPr>
          <p:cNvPr id="22" name="Shape 19"/>
          <p:cNvSpPr/>
          <p:nvPr/>
        </p:nvSpPr>
        <p:spPr>
          <a:xfrm>
            <a:off x="3246120" y="2697480"/>
            <a:ext cx="2628900" cy="822960"/>
          </a:xfrm>
          <a:prstGeom prst="rect">
            <a:avLst/>
          </a:prstGeom>
          <a:solidFill>
            <a:srgbClr val="F2F2F2"/>
          </a:solidFill>
          <a:ln w="19050">
            <a:solidFill>
              <a:srgbClr val="F2F2F2"/>
            </a:solidFill>
            <a:prstDash val="solid"/>
          </a:ln>
        </p:spPr>
      </p:sp>
      <p:sp>
        <p:nvSpPr>
          <p:cNvPr id="23" name="Text 20"/>
          <p:cNvSpPr txBox="1"/>
          <p:nvPr/>
        </p:nvSpPr>
        <p:spPr>
          <a:xfrm>
            <a:off x="3429000" y="2807208"/>
            <a:ext cx="228600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Context-aware</a:t>
            </a:r>
            <a:endParaRPr lang="en-US" sz="1400" dirty="0"/>
          </a:p>
        </p:txBody>
      </p:sp>
      <p:sp>
        <p:nvSpPr>
          <p:cNvPr id="24" name="Text 21"/>
          <p:cNvSpPr txBox="1"/>
          <p:nvPr/>
        </p:nvSpPr>
        <p:spPr>
          <a:xfrm>
            <a:off x="3429000" y="3108960"/>
            <a:ext cx="2286000" cy="3200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Tuned per context length.</a:t>
            </a:r>
            <a:endParaRPr lang="en-US" sz="1200" dirty="0"/>
          </a:p>
        </p:txBody>
      </p:sp>
      <p:sp>
        <p:nvSpPr>
          <p:cNvPr id="25" name="Shape 22"/>
          <p:cNvSpPr/>
          <p:nvPr/>
        </p:nvSpPr>
        <p:spPr>
          <a:xfrm>
            <a:off x="6057900" y="2697480"/>
            <a:ext cx="2628900" cy="822960"/>
          </a:xfrm>
          <a:prstGeom prst="rect">
            <a:avLst/>
          </a:prstGeom>
          <a:solidFill>
            <a:srgbClr val="F2F2F2"/>
          </a:solidFill>
          <a:ln w="19050">
            <a:solidFill>
              <a:srgbClr val="F2F2F2"/>
            </a:solidFill>
            <a:prstDash val="solid"/>
          </a:ln>
        </p:spPr>
      </p:sp>
      <p:sp>
        <p:nvSpPr>
          <p:cNvPr id="26" name="Text 23"/>
          <p:cNvSpPr txBox="1"/>
          <p:nvPr/>
        </p:nvSpPr>
        <p:spPr>
          <a:xfrm>
            <a:off x="6240780" y="2807208"/>
            <a:ext cx="228600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Headroom-aware</a:t>
            </a:r>
            <a:endParaRPr lang="en-US" sz="1400" dirty="0"/>
          </a:p>
        </p:txBody>
      </p:sp>
      <p:sp>
        <p:nvSpPr>
          <p:cNvPr id="27" name="Text 24"/>
          <p:cNvSpPr txBox="1"/>
          <p:nvPr/>
        </p:nvSpPr>
        <p:spPr>
          <a:xfrm>
            <a:off x="6240780" y="3108960"/>
            <a:ext cx="2286000" cy="3200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On a tie, keep the spare VRAM.</a:t>
            </a:r>
            <a:endParaRPr lang="en-US" sz="1200" dirty="0"/>
          </a:p>
        </p:txBody>
      </p:sp>
      <p:sp>
        <p:nvSpPr>
          <p:cNvPr id="28" name="Shape 25"/>
          <p:cNvSpPr/>
          <p:nvPr/>
        </p:nvSpPr>
        <p:spPr>
          <a:xfrm>
            <a:off x="3246120" y="3657600"/>
            <a:ext cx="2628900" cy="822960"/>
          </a:xfrm>
          <a:prstGeom prst="rect">
            <a:avLst/>
          </a:prstGeom>
          <a:solidFill>
            <a:srgbClr val="F2F2F2"/>
          </a:solidFill>
          <a:ln w="19050">
            <a:solidFill>
              <a:srgbClr val="F2F2F2"/>
            </a:solidFill>
            <a:prstDash val="solid"/>
          </a:ln>
        </p:spPr>
      </p:sp>
      <p:sp>
        <p:nvSpPr>
          <p:cNvPr id="29" name="Text 26"/>
          <p:cNvSpPr txBox="1"/>
          <p:nvPr/>
        </p:nvSpPr>
        <p:spPr>
          <a:xfrm>
            <a:off x="3429000" y="3767328"/>
            <a:ext cx="228600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Self-healing</a:t>
            </a:r>
            <a:endParaRPr lang="en-US" sz="1400" dirty="0"/>
          </a:p>
        </p:txBody>
      </p:sp>
      <p:sp>
        <p:nvSpPr>
          <p:cNvPr id="30" name="Text 27"/>
          <p:cNvSpPr txBox="1"/>
          <p:nvPr/>
        </p:nvSpPr>
        <p:spPr>
          <a:xfrm>
            <a:off x="3429000" y="4069080"/>
            <a:ext cx="2286000" cy="3200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If speed drops, fall back safely.</a:t>
            </a:r>
            <a:endParaRPr lang="en-US" sz="1200" dirty="0"/>
          </a:p>
        </p:txBody>
      </p:sp>
      <p:sp>
        <p:nvSpPr>
          <p:cNvPr id="31" name="Shape 28"/>
          <p:cNvSpPr/>
          <p:nvPr/>
        </p:nvSpPr>
        <p:spPr>
          <a:xfrm>
            <a:off x="6057900" y="3657600"/>
            <a:ext cx="2628900" cy="822960"/>
          </a:xfrm>
          <a:prstGeom prst="rect">
            <a:avLst/>
          </a:prstGeom>
          <a:solidFill>
            <a:srgbClr val="F2F2F2"/>
          </a:solidFill>
          <a:ln w="19050">
            <a:solidFill>
              <a:srgbClr val="F2F2F2"/>
            </a:solidFill>
            <a:prstDash val="solid"/>
          </a:ln>
        </p:spPr>
      </p:sp>
      <p:sp>
        <p:nvSpPr>
          <p:cNvPr id="32" name="Text 29"/>
          <p:cNvSpPr txBox="1"/>
          <p:nvPr/>
        </p:nvSpPr>
        <p:spPr>
          <a:xfrm>
            <a:off x="6240780" y="3767328"/>
            <a:ext cx="228600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Scheduled</a:t>
            </a:r>
            <a:endParaRPr lang="en-US" sz="1400" dirty="0"/>
          </a:p>
        </p:txBody>
      </p:sp>
      <p:sp>
        <p:nvSpPr>
          <p:cNvPr id="33" name="Text 30"/>
          <p:cNvSpPr txBox="1"/>
          <p:nvPr/>
        </p:nvSpPr>
        <p:spPr>
          <a:xfrm>
            <a:off x="6240780" y="4069080"/>
            <a:ext cx="2286000" cy="3200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Keeps the busy model loaded.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00000"/>
          </a:solidFill>
          <a:ln w="19050">
            <a:solidFill>
              <a:srgbClr val="000000"/>
            </a:solidFill>
            <a:prstDash val="solid"/>
          </a:ln>
        </p:spPr>
      </p:sp>
      <p:sp>
        <p:nvSpPr>
          <p:cNvPr id="3" name="Text 1"/>
          <p:cNvSpPr txBox="1"/>
          <p:nvPr/>
        </p:nvSpPr>
        <p:spPr>
          <a:xfrm>
            <a:off x="411480" y="365760"/>
            <a:ext cx="2286000" cy="1188720"/>
          </a:xfrm>
          <a:prstGeom prst="rect">
            <a:avLst/>
          </a:prstGeom>
          <a:noFill/>
          <a:ln/>
        </p:spPr>
        <p:txBody>
          <a:bodyPr wrap="square" lIns="0" tIns="0" rIns="0" bIns="0" rtlCol="0" anchor="b"/>
          <a:lstStyle/>
          <a:p>
            <a:pPr indent="0" marL="0">
              <a:buNone/>
            </a:pPr>
            <a:r>
              <a:rPr lang="en-US" sz="8000" b="1" dirty="0">
                <a:solidFill>
                  <a:srgbClr val="FFFFFF"/>
                </a:solidFill>
                <a:latin typeface="Arial" pitchFamily="34" charset="0"/>
                <a:ea typeface="Arial" pitchFamily="34" charset="-122"/>
                <a:cs typeface="Arial" pitchFamily="34" charset="-120"/>
              </a:rPr>
              <a:t>05</a:t>
            </a:r>
            <a:endParaRPr lang="en-US" sz="8000" dirty="0"/>
          </a:p>
        </p:txBody>
      </p:sp>
      <p:sp>
        <p:nvSpPr>
          <p:cNvPr id="4" name="Text 2"/>
          <p:cNvSpPr txBox="1"/>
          <p:nvPr/>
        </p:nvSpPr>
        <p:spPr>
          <a:xfrm>
            <a:off x="411480" y="1645920"/>
            <a:ext cx="2377440" cy="9144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Test &amp; Implement</a:t>
            </a:r>
            <a:endParaRPr lang="en-US" sz="2600" dirty="0"/>
          </a:p>
        </p:txBody>
      </p:sp>
      <p:sp>
        <p:nvSpPr>
          <p:cNvPr id="5" name="Text 3"/>
          <p:cNvSpPr txBox="1"/>
          <p:nvPr/>
        </p:nvSpPr>
        <p:spPr>
          <a:xfrm>
            <a:off x="411480" y="2606040"/>
            <a:ext cx="2286000" cy="731520"/>
          </a:xfrm>
          <a:prstGeom prst="rect">
            <a:avLst/>
          </a:prstGeom>
          <a:noFill/>
          <a:ln/>
        </p:spPr>
        <p:txBody>
          <a:bodyPr wrap="square" lIns="0" tIns="0" rIns="0" bIns="0" rtlCol="0" anchor="t"/>
          <a:lstStyle/>
          <a:p>
            <a:pPr indent="0" marL="0">
              <a:buNone/>
            </a:pPr>
            <a:r>
              <a:rPr lang="en-US" sz="1400" i="1" dirty="0">
                <a:solidFill>
                  <a:srgbClr val="BFBFBF"/>
                </a:solidFill>
                <a:latin typeface="Arial" pitchFamily="34" charset="0"/>
                <a:ea typeface="Arial" pitchFamily="34" charset="-122"/>
                <a:cs typeface="Arial" pitchFamily="34" charset="-120"/>
              </a:rPr>
              <a:t>Does it work, and how do people start using it?</a:t>
            </a:r>
            <a:endParaRPr lang="en-US" sz="1400" dirty="0"/>
          </a:p>
        </p:txBody>
      </p:sp>
      <p:sp>
        <p:nvSpPr>
          <p:cNvPr id="6" name="Text 4"/>
          <p:cNvSpPr txBox="1"/>
          <p:nvPr/>
        </p:nvSpPr>
        <p:spPr>
          <a:xfrm>
            <a:off x="411480" y="3794760"/>
            <a:ext cx="228600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7" name="Text 5"/>
          <p:cNvSpPr txBox="1"/>
          <p:nvPr/>
        </p:nvSpPr>
        <p:spPr>
          <a:xfrm>
            <a:off x="411480" y="4069080"/>
            <a:ext cx="2286000" cy="100584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Measure honestly, then put it in real hands and make it easy to start.</a:t>
            </a:r>
            <a:endParaRPr lang="en-US" sz="1300" dirty="0"/>
          </a:p>
        </p:txBody>
      </p:sp>
      <p:sp>
        <p:nvSpPr>
          <p:cNvPr id="8" name="Text 6"/>
          <p:cNvSpPr txBox="1"/>
          <p:nvPr/>
        </p:nvSpPr>
        <p:spPr>
          <a:xfrm>
            <a:off x="3246120" y="411480"/>
            <a:ext cx="544068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WE DID</a:t>
            </a:r>
            <a:endParaRPr lang="en-US" sz="1100" dirty="0"/>
          </a:p>
        </p:txBody>
      </p:sp>
      <p:sp>
        <p:nvSpPr>
          <p:cNvPr id="9" name="Text 7"/>
          <p:cNvSpPr txBox="1"/>
          <p:nvPr/>
        </p:nvSpPr>
        <p:spPr>
          <a:xfrm>
            <a:off x="3246120" y="685800"/>
            <a:ext cx="5440680" cy="8229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We measured plac3r against Ollama's default on a real 8 GB RTX 5060, checked results with git diff and pytest, and made setup two commands.</a:t>
            </a:r>
            <a:endParaRPr lang="en-US" sz="1700" dirty="0"/>
          </a:p>
        </p:txBody>
      </p:sp>
      <p:sp>
        <p:nvSpPr>
          <p:cNvPr id="11" name="Shape 8"/>
          <p:cNvSpPr/>
          <p:nvPr/>
        </p:nvSpPr>
        <p:spPr>
          <a:xfrm>
            <a:off x="3246120" y="1691640"/>
            <a:ext cx="1691640" cy="1188720"/>
          </a:xfrm>
          <a:prstGeom prst="rect">
            <a:avLst/>
          </a:prstGeom>
          <a:solidFill>
            <a:srgbClr val="FFFFFF"/>
          </a:solidFill>
          <a:ln w="19050">
            <a:solidFill>
              <a:srgbClr val="000000"/>
            </a:solidFill>
            <a:prstDash val="solid"/>
          </a:ln>
        </p:spPr>
      </p:sp>
      <p:sp>
        <p:nvSpPr>
          <p:cNvPr id="12" name="Text 9"/>
          <p:cNvSpPr txBox="1"/>
          <p:nvPr/>
        </p:nvSpPr>
        <p:spPr>
          <a:xfrm>
            <a:off x="3383280" y="1755648"/>
            <a:ext cx="1463040" cy="548640"/>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+61%</a:t>
            </a:r>
            <a:endParaRPr lang="en-US" sz="2800" dirty="0"/>
          </a:p>
        </p:txBody>
      </p:sp>
      <p:sp>
        <p:nvSpPr>
          <p:cNvPr id="13" name="Text 10"/>
          <p:cNvSpPr txBox="1"/>
          <p:nvPr/>
        </p:nvSpPr>
        <p:spPr>
          <a:xfrm>
            <a:off x="3383280" y="2331720"/>
            <a:ext cx="1463040" cy="50292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Qwen2.5-14B decoding speed</a:t>
            </a:r>
            <a:endParaRPr lang="en-US" sz="1100" dirty="0"/>
          </a:p>
        </p:txBody>
      </p:sp>
      <p:sp>
        <p:nvSpPr>
          <p:cNvPr id="14" name="Shape 11"/>
          <p:cNvSpPr/>
          <p:nvPr/>
        </p:nvSpPr>
        <p:spPr>
          <a:xfrm>
            <a:off x="5120640" y="1691640"/>
            <a:ext cx="1691640" cy="1188720"/>
          </a:xfrm>
          <a:prstGeom prst="rect">
            <a:avLst/>
          </a:prstGeom>
          <a:solidFill>
            <a:srgbClr val="000000"/>
          </a:solidFill>
          <a:ln w="19050">
            <a:solidFill>
              <a:srgbClr val="000000"/>
            </a:solidFill>
            <a:prstDash val="solid"/>
          </a:ln>
        </p:spPr>
      </p:sp>
      <p:sp>
        <p:nvSpPr>
          <p:cNvPr id="15" name="Text 12"/>
          <p:cNvSpPr txBox="1"/>
          <p:nvPr/>
        </p:nvSpPr>
        <p:spPr>
          <a:xfrm>
            <a:off x="5257800" y="1755648"/>
            <a:ext cx="1463040" cy="5486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+402%</a:t>
            </a:r>
            <a:endParaRPr lang="en-US" sz="2800" dirty="0"/>
          </a:p>
        </p:txBody>
      </p:sp>
      <p:sp>
        <p:nvSpPr>
          <p:cNvPr id="16" name="Text 13"/>
          <p:cNvSpPr txBox="1"/>
          <p:nvPr/>
        </p:nvSpPr>
        <p:spPr>
          <a:xfrm>
            <a:off x="5257800" y="2331720"/>
            <a:ext cx="1463040" cy="502920"/>
          </a:xfrm>
          <a:prstGeom prst="rect">
            <a:avLst/>
          </a:prstGeom>
          <a:noFill/>
          <a:ln/>
        </p:spPr>
        <p:txBody>
          <a:bodyPr wrap="square" lIns="0" tIns="0" rIns="0" bIns="0" rtlCol="0" anchor="t"/>
          <a:lstStyle/>
          <a:p>
            <a:pPr indent="0" marL="0">
              <a:buNone/>
            </a:pPr>
            <a:r>
              <a:rPr lang="en-US" sz="1100" dirty="0">
                <a:solidFill>
                  <a:srgbClr val="BFBFBF"/>
                </a:solidFill>
                <a:latin typeface="Arial" pitchFamily="34" charset="0"/>
                <a:ea typeface="Arial" pitchFamily="34" charset="-122"/>
                <a:cs typeface="Arial" pitchFamily="34" charset="-120"/>
              </a:rPr>
              <a:t>Qwen3.8-27B decoding speed</a:t>
            </a:r>
            <a:endParaRPr lang="en-US" sz="1100" dirty="0"/>
          </a:p>
        </p:txBody>
      </p:sp>
      <p:sp>
        <p:nvSpPr>
          <p:cNvPr id="17" name="Shape 14"/>
          <p:cNvSpPr/>
          <p:nvPr/>
        </p:nvSpPr>
        <p:spPr>
          <a:xfrm>
            <a:off x="6995160" y="1691640"/>
            <a:ext cx="1691640" cy="1188720"/>
          </a:xfrm>
          <a:prstGeom prst="rect">
            <a:avLst/>
          </a:prstGeom>
          <a:solidFill>
            <a:srgbClr val="FFFFFF"/>
          </a:solidFill>
          <a:ln w="19050">
            <a:solidFill>
              <a:srgbClr val="000000"/>
            </a:solidFill>
            <a:prstDash val="solid"/>
          </a:ln>
        </p:spPr>
      </p:sp>
      <p:sp>
        <p:nvSpPr>
          <p:cNvPr id="18" name="Text 15"/>
          <p:cNvSpPr txBox="1"/>
          <p:nvPr/>
        </p:nvSpPr>
        <p:spPr>
          <a:xfrm>
            <a:off x="7132320" y="1755648"/>
            <a:ext cx="1463040" cy="548640"/>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44%</a:t>
            </a:r>
            <a:endParaRPr lang="en-US" sz="2800" dirty="0"/>
          </a:p>
        </p:txBody>
      </p:sp>
      <p:sp>
        <p:nvSpPr>
          <p:cNvPr id="19" name="Text 16"/>
          <p:cNvSpPr txBox="1"/>
          <p:nvPr/>
        </p:nvSpPr>
        <p:spPr>
          <a:xfrm>
            <a:off x="7132320" y="2331720"/>
            <a:ext cx="1463040" cy="50292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less waiting with 4 agents sharing a GPU</a:t>
            </a:r>
            <a:endParaRPr lang="en-US" sz="1100" dirty="0"/>
          </a:p>
        </p:txBody>
      </p:sp>
      <p:sp>
        <p:nvSpPr>
          <p:cNvPr id="20" name="Shape 17"/>
          <p:cNvSpPr/>
          <p:nvPr/>
        </p:nvSpPr>
        <p:spPr>
          <a:xfrm>
            <a:off x="3246120" y="3017520"/>
            <a:ext cx="5440680" cy="685800"/>
          </a:xfrm>
          <a:prstGeom prst="rect">
            <a:avLst/>
          </a:prstGeom>
          <a:solidFill>
            <a:srgbClr val="F2F2F2"/>
          </a:solidFill>
          <a:ln w="19050">
            <a:solidFill>
              <a:srgbClr val="F2F2F2"/>
            </a:solidFill>
            <a:prstDash val="solid"/>
          </a:ln>
        </p:spPr>
      </p:sp>
      <p:sp>
        <p:nvSpPr>
          <p:cNvPr id="21" name="Text 18"/>
          <p:cNvSpPr txBox="1"/>
          <p:nvPr/>
        </p:nvSpPr>
        <p:spPr>
          <a:xfrm>
            <a:off x="3429000" y="3017520"/>
            <a:ext cx="5074920" cy="685800"/>
          </a:xfrm>
          <a:prstGeom prst="rect">
            <a:avLst/>
          </a:prstGeom>
          <a:noFill/>
          <a:ln/>
        </p:spPr>
        <p:txBody>
          <a:bodyPr wrap="square" lIns="0" tIns="0" rIns="0" bIns="0" rtlCol="0" anchor="ctr"/>
          <a:lstStyle/>
          <a:p>
            <a:pPr indent="0" marL="0">
              <a:buNone/>
            </a:pPr>
            <a:r>
              <a:rPr lang="en-US" sz="1200" b="1" dirty="0">
                <a:solidFill>
                  <a:srgbClr val="000000"/>
                </a:solidFill>
                <a:latin typeface="Arial" pitchFamily="34" charset="0"/>
                <a:ea typeface="Arial" pitchFamily="34" charset="-122"/>
                <a:cs typeface="Arial" pitchFamily="34" charset="-120"/>
              </a:rPr>
              <a:t>38% faster </a:t>
            </a:r>
            <a:pPr indent="0" marL="0">
              <a:buNone/>
            </a:pPr>
            <a:r>
              <a:rPr lang="en-US" sz="1200" dirty="0">
                <a:solidFill>
                  <a:srgbClr val="000000"/>
                </a:solidFill>
                <a:latin typeface="Arial" pitchFamily="34" charset="0"/>
                <a:ea typeface="Arial" pitchFamily="34" charset="-122"/>
                <a:cs typeface="Arial" pitchFamily="34" charset="-120"/>
              </a:rPr>
              <a:t>on a real coding task (89.2 s to 55.4 s, same correct result). </a:t>
            </a:r>
            <a:pPr indent="0" marL="0">
              <a:buNone/>
            </a:pPr>
            <a:r>
              <a:rPr lang="en-US" sz="1200" b="1" dirty="0">
                <a:solidFill>
                  <a:srgbClr val="000000"/>
                </a:solidFill>
                <a:latin typeface="Arial" pitchFamily="34" charset="0"/>
                <a:ea typeface="Arial" pitchFamily="34" charset="-122"/>
                <a:cs typeface="Arial" pitchFamily="34" charset="-120"/>
              </a:rPr>
              <a:t>No gain </a:t>
            </a:r>
            <a:pPr indent="0" marL="0">
              <a:buNone/>
            </a:pPr>
            <a:r>
              <a:rPr lang="en-US" sz="1200" dirty="0">
                <a:solidFill>
                  <a:srgbClr val="000000"/>
                </a:solidFill>
                <a:latin typeface="Arial" pitchFamily="34" charset="0"/>
                <a:ea typeface="Arial" pitchFamily="34" charset="-122"/>
                <a:cs typeface="Arial" pitchFamily="34" charset="-120"/>
              </a:rPr>
              <a:t>on web-bound research, and a model that is too weak still fails.</a:t>
            </a:r>
            <a:endParaRPr lang="en-US" sz="1200" dirty="0"/>
          </a:p>
        </p:txBody>
      </p:sp>
      <p:sp>
        <p:nvSpPr>
          <p:cNvPr id="22" name="Shape 19"/>
          <p:cNvSpPr/>
          <p:nvPr/>
        </p:nvSpPr>
        <p:spPr>
          <a:xfrm>
            <a:off x="3246120" y="3840480"/>
            <a:ext cx="5440680" cy="731520"/>
          </a:xfrm>
          <a:prstGeom prst="rect">
            <a:avLst/>
          </a:prstGeom>
          <a:solidFill>
            <a:srgbClr val="000000"/>
          </a:solidFill>
          <a:ln w="19050">
            <a:solidFill>
              <a:srgbClr val="000000"/>
            </a:solidFill>
            <a:prstDash val="solid"/>
          </a:ln>
        </p:spPr>
      </p:sp>
      <p:sp>
        <p:nvSpPr>
          <p:cNvPr id="23" name="Text 20"/>
          <p:cNvSpPr txBox="1"/>
          <p:nvPr/>
        </p:nvSpPr>
        <p:spPr>
          <a:xfrm>
            <a:off x="3429000" y="3840480"/>
            <a:ext cx="5074920" cy="7315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Implement: </a:t>
            </a:r>
            <a:pPr indent="0" marL="0">
              <a:buNone/>
            </a:pPr>
            <a:r>
              <a:rPr lang="en-US" sz="1200" dirty="0">
                <a:solidFill>
                  <a:srgbClr val="FFFFFF"/>
                </a:solidFill>
                <a:latin typeface="Arial" pitchFamily="34" charset="0"/>
                <a:ea typeface="Arial" pitchFamily="34" charset="-122"/>
                <a:cs typeface="Arial" pitchFamily="34" charset="-120"/>
              </a:rPr>
              <a:t>pip install -r app/requirements.txt, then python -m app.cli serve --port 11435, then point your agent at that port. </a:t>
            </a:r>
            <a:pPr indent="0" marL="0">
              <a:buNone/>
            </a:pPr>
            <a:r>
              <a:rPr lang="en-US" sz="1200" b="1" dirty="0">
                <a:solidFill>
                  <a:srgbClr val="FFFFFF"/>
                </a:solidFill>
                <a:latin typeface="Arial" pitchFamily="34" charset="0"/>
                <a:ea typeface="Arial" pitchFamily="34" charset="-122"/>
                <a:cs typeface="Arial" pitchFamily="34" charset="-120"/>
              </a:rPr>
              <a:t>Not yet in front of real users.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plac3r</dc:title>
  <dc:subject>PptxGenJS Presentation</dc:subject>
  <dc:creator>plac3r</dc:creator>
  <cp:lastModifiedBy>plac3r</cp:lastModifiedBy>
  <cp:revision>1</cp:revision>
  <dcterms:created xsi:type="dcterms:W3CDTF">2026-10-06T08:52:43Z</dcterms:created>
  <dcterms:modified xsi:type="dcterms:W3CDTF">2026-10-06T08:52:43Z</dcterms:modified>
</cp:coreProperties>
</file>